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TextBox 1"/>
          <p:cNvSpPr txBox="1"/>
          <p:nvPr/>
        </p:nvSpPr>
        <p:spPr>
          <a:xfrm>
            <a:off x="822960" y="1737360"/>
            <a:ext cx="10515600" cy="3108960"/>
          </a:xfrm>
          <a:prstGeom prst="rect">
            <a:avLst/>
          </a:prstGeom>
          <a:noFill/>
        </p:spPr>
        <p:txBody>
          <a:bodyPr wrap="square">
            <a:spAutoFit/>
          </a:bodyPr>
          <a:lstStyle/>
          <a:p>
            <a:pPr>
              <a:spcAft>
                <a:spcPts val="400"/>
              </a:spcAft>
            </a:pPr>
            <a:r>
              <a:rPr sz="6600" b="1">
                <a:solidFill>
                  <a:srgbClr val="E8ECF1"/>
                </a:solidFill>
                <a:latin typeface="Calibri"/>
              </a:rPr>
              <a:t>SWARMOS</a:t>
            </a:r>
          </a:p>
          <a:p>
            <a:pPr>
              <a:spcAft>
                <a:spcPts val="1400"/>
              </a:spcAft>
            </a:pPr>
            <a:r>
              <a:rPr sz="1900" b="0">
                <a:solidFill>
                  <a:srgbClr val="3B9EFF"/>
                </a:solidFill>
                <a:latin typeface="Calibri"/>
              </a:rPr>
              <a:t>Edge-AI Based Distributed Fleet Coordination for Autonomous Mobile Robots in Smart Warehouses</a:t>
            </a:r>
          </a:p>
          <a:p>
            <a:pPr>
              <a:spcAft>
                <a:spcPts val="600"/>
              </a:spcAft>
            </a:pPr>
            <a:r>
              <a:rPr sz="1400" b="0">
                <a:solidFill>
                  <a:srgbClr val="93A1B2"/>
                </a:solidFill>
                <a:latin typeface="Calibri"/>
              </a:rPr>
              <a:t>SIH26123  |  Bharat Electronics Limited  |  Robotics and Drones</a:t>
            </a:r>
          </a:p>
          <a:p>
            <a:pPr>
              <a:spcAft>
                <a:spcPts val="400"/>
              </a:spcAft>
            </a:pPr>
            <a:r>
              <a:rPr sz="1400" b="0">
                <a:solidFill>
                  <a:srgbClr val="93A1B2"/>
                </a:solidFill>
                <a:latin typeface="Calibri"/>
              </a:rPr>
              <a:t>6-Member Team Plan  |  v1 - for team review</a:t>
            </a:r>
          </a:p>
        </p:txBody>
      </p:sp>
      <p:sp>
        <p:nvSpPr>
          <p:cNvPr id="3" name="Rounded Rectangle 2"/>
          <p:cNvSpPr/>
          <p:nvPr/>
        </p:nvSpPr>
        <p:spPr>
          <a:xfrm>
            <a:off x="502920" y="5943600"/>
            <a:ext cx="11155680" cy="566928"/>
          </a:xfrm>
          <a:prstGeom prst="roundRect">
            <a:avLst/>
          </a:prstGeom>
          <a:solidFill>
            <a:srgbClr val="1B212A"/>
          </a:solidFill>
          <a:ln w="15875">
            <a:solidFill>
              <a:srgbClr val="3B9EF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a:lstStyle/>
          <a:p>
            <a:pPr algn="ctr">
              <a:spcAft>
                <a:spcPts val="400"/>
              </a:spcAft>
            </a:pPr>
            <a:r>
              <a:rPr sz="1200" b="1">
                <a:solidFill>
                  <a:srgbClr val="E8ECF1"/>
                </a:solidFill>
                <a:latin typeface="Calibri"/>
              </a:rPr>
              <a:t>Read this, then send me your Section-by-Section status using docs/TEAM_MEMBER_STATUS_PROMPT.md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B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The Problem</a:t>
            </a:r>
          </a:p>
          <a:p>
            <a:pPr>
              <a:spcAft>
                <a:spcPts val="400"/>
              </a:spcAft>
            </a:pPr>
            <a:r>
              <a:rPr sz="1300" b="0">
                <a:solidFill>
                  <a:srgbClr val="93A1B2"/>
                </a:solidFill>
                <a:latin typeface="Calibri"/>
              </a:rPr>
              <a:t>Why today's warehouse fleets are fragile</a:t>
            </a:r>
          </a:p>
        </p:txBody>
      </p:sp>
      <p:sp>
        <p:nvSpPr>
          <p:cNvPr id="4" name="TextBox 3"/>
          <p:cNvSpPr txBox="1"/>
          <p:nvPr/>
        </p:nvSpPr>
        <p:spPr>
          <a:xfrm>
            <a:off x="502920" y="1234440"/>
            <a:ext cx="11155680" cy="5120640"/>
          </a:xfrm>
          <a:prstGeom prst="rect">
            <a:avLst/>
          </a:prstGeom>
          <a:noFill/>
        </p:spPr>
        <p:txBody>
          <a:bodyPr wrap="square">
            <a:spAutoFit/>
          </a:bodyPr>
          <a:lstStyle/>
          <a:p>
            <a:pPr>
              <a:spcAft>
                <a:spcPts val="600"/>
              </a:spcAft>
            </a:pPr>
            <a:r>
              <a:rPr sz="1500" b="0">
                <a:solidFill>
                  <a:srgbClr val="E8ECF1"/>
                </a:solidFill>
                <a:latin typeface="Calibri"/>
              </a:rPr>
              <a:t>Modern warehouses run dozens of Autonomous Mobile Robots in shared aisles</a:t>
            </a:r>
          </a:p>
          <a:p>
            <a:pPr>
              <a:spcAft>
                <a:spcPts val="600"/>
              </a:spcAft>
            </a:pPr>
            <a:r>
              <a:rPr sz="1500" b="0">
                <a:solidFill>
                  <a:srgbClr val="E8ECF1"/>
                </a:solidFill>
                <a:latin typeface="Calibri"/>
              </a:rPr>
              <a:t>The usual approach is cloud-centric central planning. Three failure modes:</a:t>
            </a:r>
          </a:p>
          <a:p>
            <a:pPr lvl="1">
              <a:spcAft>
                <a:spcPts val="600"/>
              </a:spcAft>
            </a:pPr>
            <a:r>
              <a:rPr sz="1400" b="0">
                <a:solidFill>
                  <a:srgbClr val="93A1B2"/>
                </a:solidFill>
                <a:latin typeface="Calibri"/>
              </a:rPr>
              <a:t>Latency - every movement decision makes a network round trip</a:t>
            </a:r>
          </a:p>
          <a:p>
            <a:pPr lvl="1">
              <a:spcAft>
                <a:spcPts val="600"/>
              </a:spcAft>
            </a:pPr>
            <a:r>
              <a:rPr sz="1400" b="0">
                <a:solidFill>
                  <a:srgbClr val="93A1B2"/>
                </a:solidFill>
                <a:latin typeface="Calibri"/>
              </a:rPr>
              <a:t>Wi-Fi dead zones - a robot that cannot reach the server cannot act</a:t>
            </a:r>
          </a:p>
          <a:p>
            <a:pPr lvl="1">
              <a:spcAft>
                <a:spcPts val="600"/>
              </a:spcAft>
            </a:pPr>
            <a:r>
              <a:rPr sz="1400" b="0">
                <a:solidFill>
                  <a:srgbClr val="93A1B2"/>
                </a:solidFill>
                <a:latin typeface="Calibri"/>
              </a:rPr>
              <a:t>Single point of failure - the server dies, the fleet freezes</a:t>
            </a:r>
          </a:p>
          <a:p>
            <a:pPr>
              <a:spcAft>
                <a:spcPts val="600"/>
              </a:spcAft>
            </a:pPr>
          </a:p>
          <a:p>
            <a:pPr>
              <a:spcAft>
                <a:spcPts val="600"/>
              </a:spcAft>
            </a:pPr>
            <a:r>
              <a:rPr sz="1500" b="0">
                <a:solidFill>
                  <a:srgbClr val="E8ECF1"/>
                </a:solidFill>
                <a:latin typeface="Calibri"/>
              </a:rPr>
              <a:t>What the problem statement demands:</a:t>
            </a:r>
          </a:p>
          <a:p>
            <a:pPr lvl="1">
              <a:spcAft>
                <a:spcPts val="600"/>
              </a:spcAft>
            </a:pPr>
            <a:r>
              <a:rPr sz="1400" b="0">
                <a:solidFill>
                  <a:srgbClr val="93A1B2"/>
                </a:solidFill>
                <a:latin typeface="Calibri"/>
              </a:rPr>
              <a:t>At least 3 AMRs, decentralized inter-robot messaging</a:t>
            </a:r>
          </a:p>
          <a:p>
            <a:pPr lvl="1">
              <a:spcAft>
                <a:spcPts val="600"/>
              </a:spcAft>
            </a:pPr>
            <a:r>
              <a:rPr sz="1400" b="0">
                <a:solidFill>
                  <a:srgbClr val="93A1B2"/>
                </a:solidFill>
                <a:latin typeface="Calibri"/>
              </a:rPr>
              <a:t>Dynamic conflict AND deadlock resolution</a:t>
            </a:r>
          </a:p>
          <a:p>
            <a:pPr lvl="1">
              <a:spcAft>
                <a:spcPts val="600"/>
              </a:spcAft>
            </a:pPr>
            <a:r>
              <a:rPr sz="1400" b="0">
                <a:solidFill>
                  <a:srgbClr val="93A1B2"/>
                </a:solidFill>
                <a:latin typeface="Calibri"/>
              </a:rPr>
              <a:t>Task allocation and rerouting, multi-agent path planning</a:t>
            </a:r>
          </a:p>
          <a:p>
            <a:pPr lvl="1">
              <a:spcAft>
                <a:spcPts val="600"/>
              </a:spcAft>
            </a:pPr>
            <a:r>
              <a:rPr sz="1400" b="0">
                <a:solidFill>
                  <a:srgbClr val="93A1B2"/>
                </a:solidFill>
                <a:latin typeface="Calibri"/>
              </a:rPr>
              <a:t>Multi-robot simulation and a fleet dashboard</a:t>
            </a:r>
          </a:p>
        </p:txBody>
      </p:sp>
      <p:sp>
        <p:nvSpPr>
          <p:cNvPr id="5" name="Rounded Rectangle 4"/>
          <p:cNvSpPr/>
          <p:nvPr/>
        </p:nvSpPr>
        <p:spPr>
          <a:xfrm>
            <a:off x="502920" y="5989320"/>
            <a:ext cx="11155680" cy="566928"/>
          </a:xfrm>
          <a:prstGeom prst="roundRect">
            <a:avLst/>
          </a:prstGeom>
          <a:solidFill>
            <a:srgbClr val="1B212A"/>
          </a:solidFill>
          <a:ln w="15875">
            <a:solidFill>
              <a:srgbClr val="F2B137"/>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a:lstStyle/>
          <a:p>
            <a:pPr algn="ctr">
              <a:spcAft>
                <a:spcPts val="400"/>
              </a:spcAft>
            </a:pPr>
            <a:r>
              <a:rPr sz="1200" b="1">
                <a:solidFill>
                  <a:srgbClr val="E8ECF1"/>
                </a:solidFill>
                <a:latin typeface="Calibri"/>
              </a:rPr>
              <a:t>Our answer: decide locally, coordinate peer-to-peer, keep the central server for orchestration and analytics only.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5C7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The Only Two Numbers We Are Judged On</a:t>
            </a:r>
          </a:p>
          <a:p>
            <a:pPr>
              <a:spcAft>
                <a:spcPts val="400"/>
              </a:spcAft>
            </a:pPr>
            <a:r>
              <a:rPr sz="1300" b="0">
                <a:solidFill>
                  <a:srgbClr val="93A1B2"/>
                </a:solidFill>
                <a:latin typeface="Calibri"/>
              </a:rPr>
              <a:t>Every task in this plan maps back to one of these</a:t>
            </a:r>
          </a:p>
        </p:txBody>
      </p:sp>
      <p:sp>
        <p:nvSpPr>
          <p:cNvPr id="4" name="Rounded Rectangle 3"/>
          <p:cNvSpPr/>
          <p:nvPr/>
        </p:nvSpPr>
        <p:spPr>
          <a:xfrm>
            <a:off x="502920" y="1417320"/>
            <a:ext cx="5463540" cy="1737360"/>
          </a:xfrm>
          <a:prstGeom prst="roundRect">
            <a:avLst/>
          </a:prstGeom>
          <a:solidFill>
            <a:srgbClr val="1B212A"/>
          </a:solidFill>
          <a:ln w="15875">
            <a:solidFill>
              <a:srgbClr val="35C78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09728"/>
          <a:lstStyle/>
          <a:p>
            <a:pPr algn="ctr">
              <a:spcAft>
                <a:spcPts val="200"/>
              </a:spcAft>
            </a:pPr>
            <a:r>
              <a:rPr sz="3000" b="1">
                <a:solidFill>
                  <a:srgbClr val="35C78A"/>
                </a:solidFill>
                <a:latin typeface="Calibri"/>
              </a:rPr>
              <a:t>0</a:t>
            </a:r>
          </a:p>
          <a:p>
            <a:pPr>
              <a:spcAft>
                <a:spcPts val="400"/>
              </a:spcAft>
            </a:pPr>
            <a:r>
              <a:rPr sz="1100" b="0">
                <a:solidFill>
                  <a:srgbClr val="93A1B2"/>
                </a:solidFill>
                <a:latin typeface="Calibri"/>
              </a:rPr>
              <a:t>inter-robot collisions in all tested scenarios</a:t>
            </a:r>
          </a:p>
        </p:txBody>
      </p:sp>
      <p:sp>
        <p:nvSpPr>
          <p:cNvPr id="5" name="Rounded Rectangle 4"/>
          <p:cNvSpPr/>
          <p:nvPr/>
        </p:nvSpPr>
        <p:spPr>
          <a:xfrm>
            <a:off x="6195059" y="1417320"/>
            <a:ext cx="5463540" cy="1737360"/>
          </a:xfrm>
          <a:prstGeom prst="roundRect">
            <a:avLst/>
          </a:prstGeom>
          <a:solidFill>
            <a:srgbClr val="1B212A"/>
          </a:solidFill>
          <a:ln w="15875">
            <a:solidFill>
              <a:srgbClr val="3B9EF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09728"/>
          <a:lstStyle/>
          <a:p>
            <a:pPr algn="ctr">
              <a:spcAft>
                <a:spcPts val="200"/>
              </a:spcAft>
            </a:pPr>
            <a:r>
              <a:rPr sz="3000" b="1">
                <a:solidFill>
                  <a:srgbClr val="3B9EFF"/>
                </a:solidFill>
                <a:latin typeface="Calibri"/>
              </a:rPr>
              <a:t>&gt;= 20%</a:t>
            </a:r>
          </a:p>
          <a:p>
            <a:pPr>
              <a:spcAft>
                <a:spcPts val="400"/>
              </a:spcAft>
            </a:pPr>
            <a:r>
              <a:rPr sz="1100" b="0">
                <a:solidFill>
                  <a:srgbClr val="93A1B2"/>
                </a:solidFill>
                <a:latin typeface="Calibri"/>
              </a:rPr>
              <a:t>reduction in total task completion time vs stop-and-wait</a:t>
            </a:r>
          </a:p>
        </p:txBody>
      </p:sp>
      <p:sp>
        <p:nvSpPr>
          <p:cNvPr id="6" name="TextBox 5"/>
          <p:cNvSpPr txBox="1"/>
          <p:nvPr/>
        </p:nvSpPr>
        <p:spPr>
          <a:xfrm>
            <a:off x="502920" y="3474720"/>
            <a:ext cx="11155680" cy="5120640"/>
          </a:xfrm>
          <a:prstGeom prst="rect">
            <a:avLst/>
          </a:prstGeom>
          <a:noFill/>
        </p:spPr>
        <p:txBody>
          <a:bodyPr wrap="square">
            <a:spAutoFit/>
          </a:bodyPr>
          <a:lstStyle/>
          <a:p>
            <a:pPr>
              <a:spcAft>
                <a:spcPts val="600"/>
              </a:spcAft>
            </a:pPr>
            <a:r>
              <a:rPr sz="1400" b="0">
                <a:solidFill>
                  <a:srgbClr val="E8ECF1"/>
                </a:solidFill>
                <a:latin typeface="Calibri"/>
              </a:rPr>
              <a:t>Both must come from the real benchmark engine. Never hard-coded.</a:t>
            </a:r>
          </a:p>
          <a:p>
            <a:pPr>
              <a:spcAft>
                <a:spcPts val="600"/>
              </a:spcAft>
            </a:pPr>
            <a:r>
              <a:rPr sz="1400" b="0">
                <a:solidFill>
                  <a:srgbClr val="E8ECF1"/>
                </a:solidFill>
                <a:latin typeface="Calibri"/>
              </a:rPr>
              <a:t>A measured 14% beats a fabricated 22%, because a fabricated number dies in the Q&amp;A round.</a:t>
            </a:r>
          </a:p>
          <a:p>
            <a:pPr>
              <a:spcAft>
                <a:spcPts val="600"/>
              </a:spcAft>
            </a:pPr>
          </a:p>
          <a:p>
            <a:pPr>
              <a:spcAft>
                <a:spcPts val="600"/>
              </a:spcAft>
            </a:pPr>
            <a:r>
              <a:rPr sz="1400" b="0">
                <a:solidFill>
                  <a:srgbClr val="E8ECF1"/>
                </a:solidFill>
                <a:latin typeface="Calibri"/>
              </a:rPr>
              <a:t>This is why the BENCHMARK HARNESS (M6) is the highest-priority item in the entire project - it is the only thing that can produce the number.</a:t>
            </a:r>
          </a:p>
          <a:p>
            <a:pPr>
              <a:spcAft>
                <a:spcPts val="600"/>
              </a:spcAft>
            </a:pPr>
            <a:r>
              <a:rPr sz="1400" b="0">
                <a:solidFill>
                  <a:srgbClr val="E8ECF1"/>
                </a:solidFill>
                <a:latin typeface="Calibri"/>
              </a:rPr>
              <a:t>And it is why the 3-ROBOT VERTICAL SLICE comes before any novelty work:</a:t>
            </a:r>
          </a:p>
          <a:p>
            <a:pPr lvl="1">
              <a:spcAft>
                <a:spcPts val="600"/>
              </a:spcAft>
            </a:pPr>
            <a:r>
              <a:rPr sz="1300" b="0">
                <a:solidFill>
                  <a:srgbClr val="93A1B2"/>
                </a:solidFill>
                <a:latin typeface="Calibri"/>
              </a:rPr>
              <a:t>nothing can be measured until robots actually move end to end.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B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What SWARMOS Is</a:t>
            </a:r>
          </a:p>
          <a:p>
            <a:pPr>
              <a:spcAft>
                <a:spcPts val="400"/>
              </a:spcAft>
            </a:pPr>
            <a:r>
              <a:rPr sz="1300" b="0">
                <a:solidFill>
                  <a:srgbClr val="93A1B2"/>
                </a:solidFill>
                <a:latin typeface="Calibri"/>
              </a:rPr>
              <a:t>A distributed fleet operating system, not a robot simulator</a:t>
            </a:r>
          </a:p>
        </p:txBody>
      </p:sp>
      <p:sp>
        <p:nvSpPr>
          <p:cNvPr id="4" name="TextBox 3"/>
          <p:cNvSpPr txBox="1"/>
          <p:nvPr/>
        </p:nvSpPr>
        <p:spPr>
          <a:xfrm>
            <a:off x="502920" y="1234440"/>
            <a:ext cx="11155680" cy="5120640"/>
          </a:xfrm>
          <a:prstGeom prst="rect">
            <a:avLst/>
          </a:prstGeom>
          <a:noFill/>
        </p:spPr>
        <p:txBody>
          <a:bodyPr wrap="square">
            <a:spAutoFit/>
          </a:bodyPr>
          <a:lstStyle/>
          <a:p>
            <a:pPr>
              <a:spcAft>
                <a:spcPts val="400"/>
              </a:spcAft>
            </a:pPr>
            <a:r>
              <a:rPr sz="1400" b="0">
                <a:solidFill>
                  <a:srgbClr val="E8ECF1"/>
                </a:solidFill>
                <a:latin typeface="Calibri"/>
              </a:rPr>
              <a:t>The simulation represents the physical world. It is not the product.</a:t>
            </a:r>
          </a:p>
          <a:p>
            <a:pPr>
              <a:spcAft>
                <a:spcPts val="400"/>
              </a:spcAft>
            </a:pPr>
            <a:r>
              <a:rPr sz="1400" b="0">
                <a:solidFill>
                  <a:srgbClr val="E8ECF1"/>
                </a:solidFill>
                <a:latin typeface="Calibri"/>
              </a:rPr>
              <a:t>The coordination intelligence IS the product.</a:t>
            </a:r>
          </a:p>
          <a:p>
            <a:pPr>
              <a:spcAft>
                <a:spcPts val="400"/>
              </a:spcAft>
            </a:pPr>
            <a:r>
              <a:rPr sz="1400" b="0">
                <a:solidFill>
                  <a:srgbClr val="E8ECF1"/>
                </a:solidFill>
                <a:latin typeface="Calibri"/>
              </a:rPr>
              <a:t>The web application is the operational control centre.</a:t>
            </a:r>
          </a:p>
          <a:p>
            <a:pPr>
              <a:spcAft>
                <a:spcPts val="400"/>
              </a:spcAft>
            </a:pPr>
          </a:p>
          <a:p>
            <a:pPr>
              <a:spcAft>
                <a:spcPts val="400"/>
              </a:spcAft>
            </a:pPr>
            <a:r>
              <a:rPr sz="1400" b="0">
                <a:solidFill>
                  <a:srgbClr val="E8ECF1"/>
                </a:solidFill>
                <a:latin typeface="Calibri"/>
              </a:rPr>
              <a:t>Core capabilities:</a:t>
            </a:r>
          </a:p>
          <a:p>
            <a:pPr lvl="1">
              <a:spcAft>
                <a:spcPts val="400"/>
              </a:spcAft>
            </a:pPr>
            <a:r>
              <a:rPr sz="1300" b="0">
                <a:solidFill>
                  <a:srgbClr val="93A1B2"/>
                </a:solidFill>
                <a:latin typeface="Calibri"/>
              </a:rPr>
              <a:t>Decentralized peer coordination and local decision making</a:t>
            </a:r>
          </a:p>
          <a:p>
            <a:pPr lvl="1">
              <a:spcAft>
                <a:spcPts val="400"/>
              </a:spcAft>
            </a:pPr>
            <a:r>
              <a:rPr sz="1300" b="0">
                <a:solidFill>
                  <a:srgbClr val="93A1B2"/>
                </a:solidFill>
                <a:latin typeface="Calibri"/>
              </a:rPr>
              <a:t>Spatio-temporal conflict detection - predict conflicts before overlap</a:t>
            </a:r>
          </a:p>
          <a:p>
            <a:pPr lvl="1">
              <a:spcAft>
                <a:spcPts val="400"/>
              </a:spcAft>
            </a:pPr>
            <a:r>
              <a:rPr sz="1300" b="0">
                <a:solidFill>
                  <a:srgbClr val="93A1B2"/>
                </a:solidFill>
                <a:latin typeface="Calibri"/>
              </a:rPr>
              <a:t>Spatio-temporal corridor reservations - book space AND time</a:t>
            </a:r>
          </a:p>
          <a:p>
            <a:pPr lvl="1">
              <a:spcAft>
                <a:spcPts val="400"/>
              </a:spcAft>
            </a:pPr>
            <a:r>
              <a:rPr sz="1300" b="0">
                <a:solidFill>
                  <a:srgbClr val="93A1B2"/>
                </a:solidFill>
                <a:latin typeface="Calibri"/>
              </a:rPr>
              <a:t>Decentralized auction / negotiation for contested space</a:t>
            </a:r>
          </a:p>
          <a:p>
            <a:pPr lvl="1">
              <a:spcAft>
                <a:spcPts val="400"/>
              </a:spcAft>
            </a:pPr>
            <a:r>
              <a:rPr sz="1300" b="0">
                <a:solidFill>
                  <a:srgbClr val="93A1B2"/>
                </a:solidFill>
                <a:latin typeface="Calibri"/>
              </a:rPr>
              <a:t>Deadlock detection and recovery, heartbeat failure detection</a:t>
            </a:r>
          </a:p>
          <a:p>
            <a:pPr lvl="1">
              <a:spcAft>
                <a:spcPts val="400"/>
              </a:spcAft>
            </a:pPr>
            <a:r>
              <a:rPr sz="1300" b="0">
                <a:solidFill>
                  <a:srgbClr val="93A1B2"/>
                </a:solidFill>
                <a:latin typeface="Calibri"/>
              </a:rPr>
              <a:t>Battery-aware decisions, congestion and blocked-aisle recovery</a:t>
            </a:r>
          </a:p>
          <a:p>
            <a:pPr lvl="1">
              <a:spcAft>
                <a:spcPts val="400"/>
              </a:spcAft>
            </a:pPr>
            <a:r>
              <a:rPr sz="1300" b="0">
                <a:solidFill>
                  <a:srgbClr val="93A1B2"/>
                </a:solidFill>
                <a:latin typeface="Calibri"/>
              </a:rPr>
              <a:t>Decision explainability, replay, analytics and benchmarking</a:t>
            </a:r>
          </a:p>
          <a:p>
            <a:pPr>
              <a:spcAft>
                <a:spcPts val="400"/>
              </a:spcAft>
            </a:pPr>
          </a:p>
          <a:p>
            <a:pPr>
              <a:spcAft>
                <a:spcPts val="400"/>
              </a:spcAft>
            </a:pPr>
            <a:r>
              <a:rPr sz="1400" b="0">
                <a:solidFill>
                  <a:srgbClr val="E8ECF1"/>
                </a:solidFill>
                <a:latin typeface="Calibri"/>
              </a:rPr>
              <a:t>Demo target: 50 AMRs, with 100+ stress testing where practical.</a:t>
            </a:r>
          </a:p>
          <a:p>
            <a:pPr lvl="1">
              <a:spcAft>
                <a:spcPts val="400"/>
              </a:spcAft>
            </a:pPr>
            <a:r>
              <a:rPr sz="1300" b="0">
                <a:solidFill>
                  <a:srgbClr val="93A1B2"/>
                </a:solidFill>
                <a:latin typeface="Calibri"/>
              </a:rPr>
              <a:t>Fleet size alone is not the innovation. Measured scalable behaviour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B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System Architecture</a:t>
            </a:r>
          </a:p>
          <a:p>
            <a:pPr>
              <a:spcAft>
                <a:spcPts val="400"/>
              </a:spcAft>
            </a:pPr>
            <a:r>
              <a:rPr sz="1300" b="0">
                <a:solidFill>
                  <a:srgbClr val="93A1B2"/>
                </a:solidFill>
                <a:latin typeface="Calibri"/>
              </a:rPr>
              <a:t>Hybrid by design - central for orchestration, edge for safety</a:t>
            </a:r>
          </a:p>
        </p:txBody>
      </p:sp>
      <p:sp>
        <p:nvSpPr>
          <p:cNvPr id="4" name="Rounded Rectangle 3"/>
          <p:cNvSpPr/>
          <p:nvPr/>
        </p:nvSpPr>
        <p:spPr>
          <a:xfrm>
            <a:off x="3566160" y="1325880"/>
            <a:ext cx="5029200" cy="777240"/>
          </a:xfrm>
          <a:prstGeom prst="roundRect">
            <a:avLst/>
          </a:prstGeom>
          <a:solidFill>
            <a:srgbClr val="1B212A"/>
          </a:solidFill>
          <a:ln w="15875">
            <a:solidFill>
              <a:srgbClr val="93A1B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1200" b="0">
                <a:solidFill>
                  <a:srgbClr val="93A1B2"/>
                </a:solidFill>
                <a:latin typeface="Calibri"/>
              </a:rPr>
              <a:t>CENTRAL WMS / CLOUD</a:t>
            </a:r>
            <a:br/>
            <a:r>
              <a:rPr sz="1200" b="0">
                <a:solidFill>
                  <a:srgbClr val="93A1B2"/>
                </a:solidFill>
                <a:latin typeface="Calibri"/>
              </a:rPr>
              <a:t>High-level orders, analytics, dashboard</a:t>
            </a:r>
          </a:p>
        </p:txBody>
      </p:sp>
      <p:sp>
        <p:nvSpPr>
          <p:cNvPr id="5" name="Rounded Rectangle 4"/>
          <p:cNvSpPr/>
          <p:nvPr/>
        </p:nvSpPr>
        <p:spPr>
          <a:xfrm>
            <a:off x="2377440" y="2377439"/>
            <a:ext cx="7406640" cy="777240"/>
          </a:xfrm>
          <a:prstGeom prst="roundRect">
            <a:avLst/>
          </a:prstGeom>
          <a:solidFill>
            <a:srgbClr val="1B212A"/>
          </a:solidFill>
          <a:ln w="15875">
            <a:solidFill>
              <a:srgbClr val="3B9E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1200" b="0">
                <a:solidFill>
                  <a:srgbClr val="3B9EFF"/>
                </a:solidFill>
                <a:latin typeface="Calibri"/>
              </a:rPr>
              <a:t>EDGE MESH / COORDINATION NETWORK</a:t>
            </a:r>
            <a:br/>
            <a:r>
              <a:rPr sz="1200" b="0">
                <a:solidFill>
                  <a:srgbClr val="3B9EFF"/>
                </a:solidFill>
                <a:latin typeface="Calibri"/>
              </a:rPr>
              <a:t>peer state, path intent, conflicts, auctions, reservations</a:t>
            </a:r>
          </a:p>
        </p:txBody>
      </p:sp>
      <p:sp>
        <p:nvSpPr>
          <p:cNvPr id="6" name="Rounded Rectangle 5"/>
          <p:cNvSpPr/>
          <p:nvPr/>
        </p:nvSpPr>
        <p:spPr>
          <a:xfrm>
            <a:off x="1051560" y="3429000"/>
            <a:ext cx="1783080" cy="1143000"/>
          </a:xfrm>
          <a:prstGeom prst="roundRect">
            <a:avLst/>
          </a:prstGeom>
          <a:solidFill>
            <a:srgbClr val="1B212A"/>
          </a:solidFill>
          <a:ln w="15875">
            <a:solidFill>
              <a:srgbClr val="35C78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1000" b="0">
                <a:solidFill>
                  <a:srgbClr val="E8ECF1"/>
                </a:solidFill>
                <a:latin typeface="Calibri"/>
              </a:rPr>
              <a:t>AMR 1</a:t>
            </a:r>
            <a:br/>
            <a:r>
              <a:rPr sz="1000" b="0">
                <a:solidFill>
                  <a:srgbClr val="E8ECF1"/>
                </a:solidFill>
                <a:latin typeface="Calibri"/>
              </a:rPr>
              <a:t>local agent</a:t>
            </a:r>
            <a:br/>
            <a:r>
              <a:rPr sz="1000" b="0">
                <a:solidFill>
                  <a:srgbClr val="E8ECF1"/>
                </a:solidFill>
                <a:latin typeface="Calibri"/>
              </a:rPr>
              <a:t>local plan</a:t>
            </a:r>
            <a:br/>
            <a:r>
              <a:rPr sz="1000" b="0">
                <a:solidFill>
                  <a:srgbClr val="E8ECF1"/>
                </a:solidFill>
                <a:latin typeface="Calibri"/>
              </a:rPr>
              <a:t>local coord</a:t>
            </a:r>
          </a:p>
        </p:txBody>
      </p:sp>
      <p:sp>
        <p:nvSpPr>
          <p:cNvPr id="7" name="Rounded Rectangle 6"/>
          <p:cNvSpPr/>
          <p:nvPr/>
        </p:nvSpPr>
        <p:spPr>
          <a:xfrm>
            <a:off x="3108960" y="3429000"/>
            <a:ext cx="1783080" cy="1143000"/>
          </a:xfrm>
          <a:prstGeom prst="roundRect">
            <a:avLst/>
          </a:prstGeom>
          <a:solidFill>
            <a:srgbClr val="1B212A"/>
          </a:solidFill>
          <a:ln w="15875">
            <a:solidFill>
              <a:srgbClr val="35C78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1000" b="0">
                <a:solidFill>
                  <a:srgbClr val="E8ECF1"/>
                </a:solidFill>
                <a:latin typeface="Calibri"/>
              </a:rPr>
              <a:t>AMR 2</a:t>
            </a:r>
            <a:br/>
            <a:r>
              <a:rPr sz="1000" b="0">
                <a:solidFill>
                  <a:srgbClr val="E8ECF1"/>
                </a:solidFill>
                <a:latin typeface="Calibri"/>
              </a:rPr>
              <a:t>local agent</a:t>
            </a:r>
            <a:br/>
            <a:r>
              <a:rPr sz="1000" b="0">
                <a:solidFill>
                  <a:srgbClr val="E8ECF1"/>
                </a:solidFill>
                <a:latin typeface="Calibri"/>
              </a:rPr>
              <a:t>local plan</a:t>
            </a:r>
            <a:br/>
            <a:r>
              <a:rPr sz="1000" b="0">
                <a:solidFill>
                  <a:srgbClr val="E8ECF1"/>
                </a:solidFill>
                <a:latin typeface="Calibri"/>
              </a:rPr>
              <a:t>local coord</a:t>
            </a:r>
          </a:p>
        </p:txBody>
      </p:sp>
      <p:sp>
        <p:nvSpPr>
          <p:cNvPr id="8" name="Rounded Rectangle 7"/>
          <p:cNvSpPr/>
          <p:nvPr/>
        </p:nvSpPr>
        <p:spPr>
          <a:xfrm>
            <a:off x="5166360" y="3429000"/>
            <a:ext cx="1783080" cy="1143000"/>
          </a:xfrm>
          <a:prstGeom prst="roundRect">
            <a:avLst/>
          </a:prstGeom>
          <a:solidFill>
            <a:srgbClr val="1B212A"/>
          </a:solidFill>
          <a:ln w="15875">
            <a:solidFill>
              <a:srgbClr val="35C78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1000" b="0">
                <a:solidFill>
                  <a:srgbClr val="E8ECF1"/>
                </a:solidFill>
                <a:latin typeface="Calibri"/>
              </a:rPr>
              <a:t>AMR 3</a:t>
            </a:r>
            <a:br/>
            <a:r>
              <a:rPr sz="1000" b="0">
                <a:solidFill>
                  <a:srgbClr val="E8ECF1"/>
                </a:solidFill>
                <a:latin typeface="Calibri"/>
              </a:rPr>
              <a:t>local agent</a:t>
            </a:r>
            <a:br/>
            <a:r>
              <a:rPr sz="1000" b="0">
                <a:solidFill>
                  <a:srgbClr val="E8ECF1"/>
                </a:solidFill>
                <a:latin typeface="Calibri"/>
              </a:rPr>
              <a:t>local plan</a:t>
            </a:r>
            <a:br/>
            <a:r>
              <a:rPr sz="1000" b="0">
                <a:solidFill>
                  <a:srgbClr val="E8ECF1"/>
                </a:solidFill>
                <a:latin typeface="Calibri"/>
              </a:rPr>
              <a:t>local coord</a:t>
            </a:r>
          </a:p>
        </p:txBody>
      </p:sp>
      <p:sp>
        <p:nvSpPr>
          <p:cNvPr id="9" name="Rounded Rectangle 8"/>
          <p:cNvSpPr/>
          <p:nvPr/>
        </p:nvSpPr>
        <p:spPr>
          <a:xfrm>
            <a:off x="7223760" y="3429000"/>
            <a:ext cx="1783080" cy="1143000"/>
          </a:xfrm>
          <a:prstGeom prst="roundRect">
            <a:avLst/>
          </a:prstGeom>
          <a:solidFill>
            <a:srgbClr val="1B212A"/>
          </a:solidFill>
          <a:ln w="15875">
            <a:solidFill>
              <a:srgbClr val="35C78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1000" b="0">
                <a:solidFill>
                  <a:srgbClr val="E8ECF1"/>
                </a:solidFill>
                <a:latin typeface="Calibri"/>
              </a:rPr>
              <a:t>AMR 4</a:t>
            </a:r>
            <a:br/>
            <a:r>
              <a:rPr sz="1000" b="0">
                <a:solidFill>
                  <a:srgbClr val="E8ECF1"/>
                </a:solidFill>
                <a:latin typeface="Calibri"/>
              </a:rPr>
              <a:t>local agent</a:t>
            </a:r>
            <a:br/>
            <a:r>
              <a:rPr sz="1000" b="0">
                <a:solidFill>
                  <a:srgbClr val="E8ECF1"/>
                </a:solidFill>
                <a:latin typeface="Calibri"/>
              </a:rPr>
              <a:t>local plan</a:t>
            </a:r>
            <a:br/>
            <a:r>
              <a:rPr sz="1000" b="0">
                <a:solidFill>
                  <a:srgbClr val="E8ECF1"/>
                </a:solidFill>
                <a:latin typeface="Calibri"/>
              </a:rPr>
              <a:t>local coord</a:t>
            </a:r>
          </a:p>
        </p:txBody>
      </p:sp>
      <p:sp>
        <p:nvSpPr>
          <p:cNvPr id="10" name="Rounded Rectangle 9"/>
          <p:cNvSpPr/>
          <p:nvPr/>
        </p:nvSpPr>
        <p:spPr>
          <a:xfrm>
            <a:off x="9281160" y="3429000"/>
            <a:ext cx="1783080" cy="1143000"/>
          </a:xfrm>
          <a:prstGeom prst="roundRect">
            <a:avLst/>
          </a:prstGeom>
          <a:solidFill>
            <a:srgbClr val="1B212A"/>
          </a:solidFill>
          <a:ln w="15875">
            <a:solidFill>
              <a:srgbClr val="35C78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sz="1000" b="0">
                <a:solidFill>
                  <a:srgbClr val="E8ECF1"/>
                </a:solidFill>
                <a:latin typeface="Calibri"/>
              </a:rPr>
              <a:t>AMR N</a:t>
            </a:r>
            <a:br/>
            <a:r>
              <a:rPr sz="1000" b="0">
                <a:solidFill>
                  <a:srgbClr val="E8ECF1"/>
                </a:solidFill>
                <a:latin typeface="Calibri"/>
              </a:rPr>
              <a:t>local agent</a:t>
            </a:r>
            <a:br/>
            <a:r>
              <a:rPr sz="1000" b="0">
                <a:solidFill>
                  <a:srgbClr val="E8ECF1"/>
                </a:solidFill>
                <a:latin typeface="Calibri"/>
              </a:rPr>
              <a:t>local plan</a:t>
            </a:r>
            <a:br/>
            <a:r>
              <a:rPr sz="1000" b="0">
                <a:solidFill>
                  <a:srgbClr val="E8ECF1"/>
                </a:solidFill>
                <a:latin typeface="Calibri"/>
              </a:rPr>
              <a:t>local coord</a:t>
            </a:r>
          </a:p>
        </p:txBody>
      </p:sp>
      <p:sp>
        <p:nvSpPr>
          <p:cNvPr id="11" name="TextBox 10"/>
          <p:cNvSpPr txBox="1"/>
          <p:nvPr/>
        </p:nvSpPr>
        <p:spPr>
          <a:xfrm>
            <a:off x="502920" y="4892040"/>
            <a:ext cx="11155680" cy="5120640"/>
          </a:xfrm>
          <a:prstGeom prst="rect">
            <a:avLst/>
          </a:prstGeom>
          <a:noFill/>
        </p:spPr>
        <p:txBody>
          <a:bodyPr wrap="square">
            <a:spAutoFit/>
          </a:bodyPr>
          <a:lstStyle/>
          <a:p>
            <a:pPr>
              <a:spcAft>
                <a:spcPts val="600"/>
              </a:spcAft>
            </a:pPr>
            <a:r>
              <a:rPr sz="1300" b="0">
                <a:solidFill>
                  <a:srgbClr val="E8ECF1"/>
                </a:solidFill>
                <a:latin typeface="Calibri"/>
              </a:rPr>
              <a:t>Movement decisions do NOT round-trip through the central server.</a:t>
            </a:r>
          </a:p>
          <a:p>
            <a:pPr>
              <a:spcAft>
                <a:spcPts val="600"/>
              </a:spcAft>
            </a:pPr>
            <a:r>
              <a:rPr sz="1300" b="0">
                <a:solidFill>
                  <a:srgbClr val="E8ECF1"/>
                </a:solidFill>
                <a:latin typeface="Calibri"/>
              </a:rPr>
              <a:t>If the central RMS dies: local collision avoidance, conflict resolution, rerouting and failure detection continue. Dashboard and analytics degrade.</a:t>
            </a:r>
          </a:p>
          <a:p>
            <a:pPr>
              <a:spcAft>
                <a:spcPts val="600"/>
              </a:spcAft>
            </a:pPr>
            <a:r>
              <a:rPr sz="1300" b="0">
                <a:solidFill>
                  <a:srgbClr val="E8ECF1"/>
                </a:solidFill>
                <a:latin typeface="Calibri"/>
              </a:rPr>
              <a:t>We will not claim the central server is irrelevant - it matters for orchestration. We claim the fleet does not freeze without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B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The Six Modules</a:t>
            </a:r>
          </a:p>
          <a:p>
            <a:pPr>
              <a:spcAft>
                <a:spcPts val="400"/>
              </a:spcAft>
            </a:pPr>
            <a:r>
              <a:rPr sz="1300" b="0">
                <a:solidFill>
                  <a:srgbClr val="93A1B2"/>
                </a:solidFill>
                <a:latin typeface="Calibri"/>
              </a:rPr>
              <a:t>Who owns what, and where they meet</a:t>
            </a:r>
          </a:p>
        </p:txBody>
      </p:sp>
      <p:graphicFrame>
        <p:nvGraphicFramePr>
          <p:cNvPr id="4" name="Table 3"/>
          <p:cNvGraphicFramePr>
            <a:graphicFrameLocks noGrp="1"/>
          </p:cNvGraphicFramePr>
          <p:nvPr/>
        </p:nvGraphicFramePr>
        <p:xfrm>
          <a:off x="502920" y="1280160"/>
          <a:ext cx="11155680" cy="2048256"/>
        </p:xfrm>
        <a:graphic>
          <a:graphicData uri="http://schemas.openxmlformats.org/drawingml/2006/table">
            <a:tbl>
              <a:tblPr firstRow="1" bandRow="1">
                <a:tableStyleId>{5C22544A-7EE6-4342-B048-85BDC9FD1C3A}</a:tableStyleId>
              </a:tblPr>
              <a:tblGrid>
                <a:gridCol w="457200"/>
                <a:gridCol w="2194560"/>
                <a:gridCol w="4572000"/>
                <a:gridCol w="3931920"/>
              </a:tblGrid>
              <a:tr h="292608">
                <a:tc>
                  <a:txBody>
                    <a:bodyPr/>
                    <a:lstStyle/>
                    <a:p/>
                  </a:txBody>
                  <a:tcPr>
                    <a:solidFill>
                      <a:srgbClr val="1B212A"/>
                    </a:solidFill>
                  </a:tcPr>
                </a:tc>
                <a:tc>
                  <a:txBody>
                    <a:bodyPr/>
                    <a:lstStyle/>
                    <a:p>
                      <a:r>
                        <a:rPr sz="1100" b="1">
                          <a:solidFill>
                            <a:srgbClr val="3B9EFF"/>
                          </a:solidFill>
                        </a:rPr>
                        <a:t>Member</a:t>
                      </a:r>
                    </a:p>
                  </a:txBody>
                  <a:tcPr>
                    <a:solidFill>
                      <a:srgbClr val="1B212A"/>
                    </a:solidFill>
                  </a:tcPr>
                </a:tc>
                <a:tc>
                  <a:txBody>
                    <a:bodyPr/>
                    <a:lstStyle/>
                    <a:p>
                      <a:r>
                        <a:rPr sz="1100" b="1">
                          <a:solidFill>
                            <a:srgbClr val="3B9EFF"/>
                          </a:solidFill>
                        </a:rPr>
                        <a:t>Owns</a:t>
                      </a:r>
                    </a:p>
                  </a:txBody>
                  <a:tcPr>
                    <a:solidFill>
                      <a:srgbClr val="1B212A"/>
                    </a:solidFill>
                  </a:tcPr>
                </a:tc>
                <a:tc>
                  <a:txBody>
                    <a:bodyPr/>
                    <a:lstStyle/>
                    <a:p>
                      <a:r>
                        <a:rPr sz="1100" b="1">
                          <a:solidFill>
                            <a:srgbClr val="3B9EFF"/>
                          </a:solidFill>
                        </a:rPr>
                        <a:t>Key output consumed by others</a:t>
                      </a:r>
                    </a:p>
                  </a:txBody>
                  <a:tcPr>
                    <a:solidFill>
                      <a:srgbClr val="1B212A"/>
                    </a:solidFill>
                  </a:tcPr>
                </a:tc>
              </a:tr>
              <a:tr h="292608">
                <a:tc>
                  <a:txBody>
                    <a:bodyPr/>
                    <a:lstStyle/>
                    <a:p>
                      <a:r>
                        <a:rPr sz="1100">
                          <a:solidFill>
                            <a:srgbClr val="E8ECF1"/>
                          </a:solidFill>
                        </a:rPr>
                        <a:t>M1</a:t>
                      </a:r>
                    </a:p>
                  </a:txBody>
                  <a:tcPr>
                    <a:solidFill>
                      <a:srgbClr val="12161C"/>
                    </a:solidFill>
                  </a:tcPr>
                </a:tc>
                <a:tc>
                  <a:txBody>
                    <a:bodyPr/>
                    <a:lstStyle/>
                    <a:p>
                      <a:r>
                        <a:rPr sz="1100">
                          <a:solidFill>
                            <a:srgbClr val="E8ECF1"/>
                          </a:solidFill>
                        </a:rPr>
                        <a:t>Frontend / UI-UX</a:t>
                      </a:r>
                    </a:p>
                  </a:txBody>
                  <a:tcPr>
                    <a:solidFill>
                      <a:srgbClr val="12161C"/>
                    </a:solidFill>
                  </a:tcPr>
                </a:tc>
                <a:tc>
                  <a:txBody>
                    <a:bodyPr/>
                    <a:lstStyle/>
                    <a:p>
                      <a:r>
                        <a:rPr sz="1100">
                          <a:solidFill>
                            <a:srgbClr val="E8ECF1"/>
                          </a:solidFill>
                        </a:rPr>
                        <a:t>12 screens, canvas map, Decision Inspector</a:t>
                      </a:r>
                    </a:p>
                  </a:txBody>
                  <a:tcPr>
                    <a:solidFill>
                      <a:srgbClr val="12161C"/>
                    </a:solidFill>
                  </a:tcPr>
                </a:tc>
                <a:tc>
                  <a:txBody>
                    <a:bodyPr/>
                    <a:lstStyle/>
                    <a:p>
                      <a:r>
                        <a:rPr sz="1100">
                          <a:solidFill>
                            <a:srgbClr val="E8ECF1"/>
                          </a:solidFill>
                        </a:rPr>
                        <a:t>the demo itself</a:t>
                      </a:r>
                    </a:p>
                  </a:txBody>
                  <a:tcPr>
                    <a:solidFill>
                      <a:srgbClr val="12161C"/>
                    </a:solidFill>
                  </a:tcPr>
                </a:tc>
              </a:tr>
              <a:tr h="292608">
                <a:tc>
                  <a:txBody>
                    <a:bodyPr/>
                    <a:lstStyle/>
                    <a:p>
                      <a:r>
                        <a:rPr sz="1100">
                          <a:solidFill>
                            <a:srgbClr val="E8ECF1"/>
                          </a:solidFill>
                        </a:rPr>
                        <a:t>M2</a:t>
                      </a:r>
                    </a:p>
                  </a:txBody>
                  <a:tcPr>
                    <a:solidFill>
                      <a:srgbClr val="1B212A"/>
                    </a:solidFill>
                  </a:tcPr>
                </a:tc>
                <a:tc>
                  <a:txBody>
                    <a:bodyPr/>
                    <a:lstStyle/>
                    <a:p>
                      <a:r>
                        <a:rPr sz="1100">
                          <a:solidFill>
                            <a:srgbClr val="E8ECF1"/>
                          </a:solidFill>
                        </a:rPr>
                        <a:t>Backend / INTEGRATION</a:t>
                      </a:r>
                    </a:p>
                  </a:txBody>
                  <a:tcPr>
                    <a:solidFill>
                      <a:srgbClr val="1B212A"/>
                    </a:solidFill>
                  </a:tcPr>
                </a:tc>
                <a:tc>
                  <a:txBody>
                    <a:bodyPr/>
                    <a:lstStyle/>
                    <a:p>
                      <a:r>
                        <a:rPr sz="1100">
                          <a:solidFill>
                            <a:srgbClr val="E8ECF1"/>
                          </a:solidFill>
                        </a:rPr>
                        <a:t>FastAPI, WebSocket, docker-compose, contracts</a:t>
                      </a:r>
                    </a:p>
                  </a:txBody>
                  <a:tcPr>
                    <a:solidFill>
                      <a:srgbClr val="1B212A"/>
                    </a:solidFill>
                  </a:tcPr>
                </a:tc>
                <a:tc>
                  <a:txBody>
                    <a:bodyPr/>
                    <a:lstStyle/>
                    <a:p>
                      <a:r>
                        <a:rPr sz="1100">
                          <a:solidFill>
                            <a:srgbClr val="E8ECF1"/>
                          </a:solidFill>
                        </a:rPr>
                        <a:t>fleet snapshot -&gt; M1</a:t>
                      </a:r>
                    </a:p>
                  </a:txBody>
                  <a:tcPr>
                    <a:solidFill>
                      <a:srgbClr val="1B212A"/>
                    </a:solidFill>
                  </a:tcPr>
                </a:tc>
              </a:tr>
              <a:tr h="292608">
                <a:tc>
                  <a:txBody>
                    <a:bodyPr/>
                    <a:lstStyle/>
                    <a:p>
                      <a:r>
                        <a:rPr sz="1100">
                          <a:solidFill>
                            <a:srgbClr val="E8ECF1"/>
                          </a:solidFill>
                        </a:rPr>
                        <a:t>M3</a:t>
                      </a:r>
                    </a:p>
                  </a:txBody>
                  <a:tcPr>
                    <a:solidFill>
                      <a:srgbClr val="12161C"/>
                    </a:solidFill>
                  </a:tcPr>
                </a:tc>
                <a:tc>
                  <a:txBody>
                    <a:bodyPr/>
                    <a:lstStyle/>
                    <a:p>
                      <a:r>
                        <a:rPr sz="1100">
                          <a:solidFill>
                            <a:srgbClr val="E8ECF1"/>
                          </a:solidFill>
                        </a:rPr>
                        <a:t>AI / ML</a:t>
                      </a:r>
                    </a:p>
                  </a:txBody>
                  <a:tcPr>
                    <a:solidFill>
                      <a:srgbClr val="12161C"/>
                    </a:solidFill>
                  </a:tcPr>
                </a:tc>
                <a:tc>
                  <a:txBody>
                    <a:bodyPr/>
                    <a:lstStyle/>
                    <a:p>
                      <a:r>
                        <a:rPr sz="1100">
                          <a:solidFill>
                            <a:srgbClr val="E8ECF1"/>
                          </a:solidFill>
                        </a:rPr>
                        <a:t>dataset, action model, congestion prediction</a:t>
                      </a:r>
                    </a:p>
                  </a:txBody>
                  <a:tcPr>
                    <a:solidFill>
                      <a:srgbClr val="12161C"/>
                    </a:solidFill>
                  </a:tcPr>
                </a:tc>
                <a:tc>
                  <a:txBody>
                    <a:bodyPr/>
                    <a:lstStyle/>
                    <a:p>
                      <a:r>
                        <a:rPr sz="1100">
                          <a:solidFill>
                            <a:srgbClr val="E8ECF1"/>
                          </a:solidFill>
                        </a:rPr>
                        <a:t>MLAdvice -&gt; M4, CongestionField -&gt; M5</a:t>
                      </a:r>
                    </a:p>
                  </a:txBody>
                  <a:tcPr>
                    <a:solidFill>
                      <a:srgbClr val="12161C"/>
                    </a:solidFill>
                  </a:tcPr>
                </a:tc>
              </a:tr>
              <a:tr h="292608">
                <a:tc>
                  <a:txBody>
                    <a:bodyPr/>
                    <a:lstStyle/>
                    <a:p>
                      <a:r>
                        <a:rPr sz="1100">
                          <a:solidFill>
                            <a:srgbClr val="E8ECF1"/>
                          </a:solidFill>
                        </a:rPr>
                        <a:t>M4</a:t>
                      </a:r>
                    </a:p>
                  </a:txBody>
                  <a:tcPr>
                    <a:solidFill>
                      <a:srgbClr val="1B212A"/>
                    </a:solidFill>
                  </a:tcPr>
                </a:tc>
                <a:tc>
                  <a:txBody>
                    <a:bodyPr/>
                    <a:lstStyle/>
                    <a:p>
                      <a:r>
                        <a:rPr sz="1100">
                          <a:solidFill>
                            <a:srgbClr val="E8ECF1"/>
                          </a:solidFill>
                        </a:rPr>
                        <a:t>Robotics / Multi-Agent</a:t>
                      </a:r>
                    </a:p>
                  </a:txBody>
                  <a:tcPr>
                    <a:solidFill>
                      <a:srgbClr val="1B212A"/>
                    </a:solidFill>
                  </a:tcPr>
                </a:tc>
                <a:tc>
                  <a:txBody>
                    <a:bodyPr/>
                    <a:lstStyle/>
                    <a:p>
                      <a:r>
                        <a:rPr sz="1100">
                          <a:solidFill>
                            <a:srgbClr val="E8ECF1"/>
                          </a:solidFill>
                        </a:rPr>
                        <a:t>conflicts, reservations, auctions, deadlock</a:t>
                      </a:r>
                    </a:p>
                  </a:txBody>
                  <a:tcPr>
                    <a:solidFill>
                      <a:srgbClr val="1B212A"/>
                    </a:solidFill>
                  </a:tcPr>
                </a:tc>
                <a:tc>
                  <a:txBody>
                    <a:bodyPr/>
                    <a:lstStyle/>
                    <a:p>
                      <a:r>
                        <a:rPr sz="1100">
                          <a:solidFill>
                            <a:srgbClr val="E8ECF1"/>
                          </a:solidFill>
                        </a:rPr>
                        <a:t>AuctionDecision, directives -&gt; M5</a:t>
                      </a:r>
                    </a:p>
                  </a:txBody>
                  <a:tcPr>
                    <a:solidFill>
                      <a:srgbClr val="1B212A"/>
                    </a:solidFill>
                  </a:tcPr>
                </a:tc>
              </a:tr>
              <a:tr h="292608">
                <a:tc>
                  <a:txBody>
                    <a:bodyPr/>
                    <a:lstStyle/>
                    <a:p>
                      <a:r>
                        <a:rPr sz="1100">
                          <a:solidFill>
                            <a:srgbClr val="E8ECF1"/>
                          </a:solidFill>
                        </a:rPr>
                        <a:t>M5</a:t>
                      </a:r>
                    </a:p>
                  </a:txBody>
                  <a:tcPr>
                    <a:solidFill>
                      <a:srgbClr val="12161C"/>
                    </a:solidFill>
                  </a:tcPr>
                </a:tc>
                <a:tc>
                  <a:txBody>
                    <a:bodyPr/>
                    <a:lstStyle/>
                    <a:p>
                      <a:r>
                        <a:rPr sz="1100">
                          <a:solidFill>
                            <a:srgbClr val="E8ECF1"/>
                          </a:solidFill>
                        </a:rPr>
                        <a:t>Simulation + PLANNING</a:t>
                      </a:r>
                    </a:p>
                  </a:txBody>
                  <a:tcPr>
                    <a:solidFill>
                      <a:srgbClr val="12161C"/>
                    </a:solidFill>
                  </a:tcPr>
                </a:tc>
                <a:tc>
                  <a:txBody>
                    <a:bodyPr/>
                    <a:lstStyle/>
                    <a:p>
                      <a:r>
                        <a:rPr sz="1100">
                          <a:solidFill>
                            <a:srgbClr val="E8ECF1"/>
                          </a:solidFill>
                        </a:rPr>
                        <a:t>warehouse, 50 robots, A*, baseline policy</a:t>
                      </a:r>
                    </a:p>
                  </a:txBody>
                  <a:tcPr>
                    <a:solidFill>
                      <a:srgbClr val="12161C"/>
                    </a:solidFill>
                  </a:tcPr>
                </a:tc>
                <a:tc>
                  <a:txBody>
                    <a:bodyPr/>
                    <a:lstStyle/>
                    <a:p>
                      <a:r>
                        <a:rPr sz="1100">
                          <a:solidFill>
                            <a:srgbClr val="E8ECF1"/>
                          </a:solidFill>
                        </a:rPr>
                        <a:t>AMRState + MovementIntent -&gt; M4</a:t>
                      </a:r>
                    </a:p>
                  </a:txBody>
                  <a:tcPr>
                    <a:solidFill>
                      <a:srgbClr val="12161C"/>
                    </a:solidFill>
                  </a:tcPr>
                </a:tc>
              </a:tr>
              <a:tr h="292608">
                <a:tc>
                  <a:txBody>
                    <a:bodyPr/>
                    <a:lstStyle/>
                    <a:p>
                      <a:r>
                        <a:rPr sz="1100">
                          <a:solidFill>
                            <a:srgbClr val="E8ECF1"/>
                          </a:solidFill>
                        </a:rPr>
                        <a:t>M6</a:t>
                      </a:r>
                    </a:p>
                  </a:txBody>
                  <a:tcPr>
                    <a:solidFill>
                      <a:srgbClr val="1B212A"/>
                    </a:solidFill>
                  </a:tcPr>
                </a:tc>
                <a:tc>
                  <a:txBody>
                    <a:bodyPr/>
                    <a:lstStyle/>
                    <a:p>
                      <a:r>
                        <a:rPr sz="1100">
                          <a:solidFill>
                            <a:srgbClr val="E8ECF1"/>
                          </a:solidFill>
                        </a:rPr>
                        <a:t>Database / Analytics</a:t>
                      </a:r>
                    </a:p>
                  </a:txBody>
                  <a:tcPr>
                    <a:solidFill>
                      <a:srgbClr val="1B212A"/>
                    </a:solidFill>
                  </a:tcPr>
                </a:tc>
                <a:tc>
                  <a:txBody>
                    <a:bodyPr/>
                    <a:lstStyle/>
                    <a:p>
                      <a:r>
                        <a:rPr sz="1100">
                          <a:solidFill>
                            <a:srgbClr val="E8ECF1"/>
                          </a:solidFill>
                        </a:rPr>
                        <a:t>event store, BENCHMARK HARNESS, KPIs</a:t>
                      </a:r>
                    </a:p>
                  </a:txBody>
                  <a:tcPr>
                    <a:solidFill>
                      <a:srgbClr val="1B212A"/>
                    </a:solidFill>
                  </a:tcPr>
                </a:tc>
                <a:tc>
                  <a:txBody>
                    <a:bodyPr/>
                    <a:lstStyle/>
                    <a:p>
                      <a:r>
                        <a:rPr sz="1100">
                          <a:solidFill>
                            <a:srgbClr val="E8ECF1"/>
                          </a:solidFill>
                        </a:rPr>
                        <a:t>the headline 20% number</a:t>
                      </a:r>
                    </a:p>
                  </a:txBody>
                  <a:tcPr>
                    <a:solidFill>
                      <a:srgbClr val="1B212A"/>
                    </a:solidFill>
                  </a:tcPr>
                </a:tc>
              </a:tr>
            </a:tbl>
          </a:graphicData>
        </a:graphic>
      </p:graphicFrame>
      <p:sp>
        <p:nvSpPr>
          <p:cNvPr id="5" name="TextBox 4"/>
          <p:cNvSpPr txBox="1"/>
          <p:nvPr/>
        </p:nvSpPr>
        <p:spPr>
          <a:xfrm>
            <a:off x="502920" y="3977639"/>
            <a:ext cx="11155680" cy="5120640"/>
          </a:xfrm>
          <a:prstGeom prst="rect">
            <a:avLst/>
          </a:prstGeom>
          <a:noFill/>
        </p:spPr>
        <p:txBody>
          <a:bodyPr wrap="square">
            <a:spAutoFit/>
          </a:bodyPr>
          <a:lstStyle/>
          <a:p>
            <a:pPr>
              <a:spcAft>
                <a:spcPts val="600"/>
              </a:spcAft>
            </a:pPr>
            <a:r>
              <a:rPr sz="1300" b="0">
                <a:solidFill>
                  <a:srgbClr val="E8ECF1"/>
                </a:solidFill>
                <a:latin typeface="Calibri"/>
              </a:rPr>
              <a:t>Two changes from the original split, both deliberate:</a:t>
            </a:r>
          </a:p>
          <a:p>
            <a:pPr lvl="1">
              <a:spcAft>
                <a:spcPts val="600"/>
              </a:spcAft>
            </a:pPr>
            <a:r>
              <a:rPr sz="1200" b="0">
                <a:solidFill>
                  <a:srgbClr val="93A1B2"/>
                </a:solidFill>
                <a:latin typeface="Calibri"/>
              </a:rPr>
              <a:t>A* PATH PLANNING moved to M5 - the planner needs the warehouse grid that M5 already owns. Without a planner there are no paths, so no conflicts, so nothing to coordinate.</a:t>
            </a:r>
          </a:p>
          <a:p>
            <a:pPr lvl="1">
              <a:spcAft>
                <a:spcPts val="600"/>
              </a:spcAft>
            </a:pPr>
            <a:r>
              <a:rPr sz="1200" b="0">
                <a:solidFill>
                  <a:srgbClr val="93A1B2"/>
                </a:solidFill>
                <a:latin typeface="Calibri"/>
              </a:rPr>
              <a:t>M2 is also INTEGRATION OWNER - six modules that have never run together is the classic way hackathon teams fail. Someone must own the seam, and the API layer is where everything physically meets.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5C7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Honest Starting Position</a:t>
            </a:r>
          </a:p>
          <a:p>
            <a:pPr>
              <a:spcAft>
                <a:spcPts val="400"/>
              </a:spcAft>
            </a:pPr>
            <a:r>
              <a:rPr sz="1300" b="0">
                <a:solidFill>
                  <a:srgbClr val="93A1B2"/>
                </a:solidFill>
                <a:latin typeface="Calibri"/>
              </a:rPr>
              <a:t>M4 coordination core is already built, audited and tested</a:t>
            </a:r>
          </a:p>
        </p:txBody>
      </p:sp>
      <p:sp>
        <p:nvSpPr>
          <p:cNvPr id="4" name="Rounded Rectangle 3"/>
          <p:cNvSpPr/>
          <p:nvPr/>
        </p:nvSpPr>
        <p:spPr>
          <a:xfrm>
            <a:off x="502920" y="1371600"/>
            <a:ext cx="2617470" cy="1325880"/>
          </a:xfrm>
          <a:prstGeom prst="roundRect">
            <a:avLst/>
          </a:prstGeom>
          <a:solidFill>
            <a:srgbClr val="1B212A"/>
          </a:solidFill>
          <a:ln w="15875">
            <a:solidFill>
              <a:srgbClr val="35C78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09728"/>
          <a:lstStyle/>
          <a:p>
            <a:pPr algn="ctr">
              <a:spcAft>
                <a:spcPts val="200"/>
              </a:spcAft>
            </a:pPr>
            <a:r>
              <a:rPr sz="3000" b="1">
                <a:solidFill>
                  <a:srgbClr val="35C78A"/>
                </a:solidFill>
                <a:latin typeface="Calibri"/>
              </a:rPr>
              <a:t>296</a:t>
            </a:r>
          </a:p>
          <a:p>
            <a:pPr>
              <a:spcAft>
                <a:spcPts val="400"/>
              </a:spcAft>
            </a:pPr>
            <a:r>
              <a:rPr sz="1100" b="0">
                <a:solidFill>
                  <a:srgbClr val="93A1B2"/>
                </a:solidFill>
                <a:latin typeface="Calibri"/>
              </a:rPr>
              <a:t>tests passing, verified 2026-09-20</a:t>
            </a:r>
          </a:p>
        </p:txBody>
      </p:sp>
      <p:sp>
        <p:nvSpPr>
          <p:cNvPr id="5" name="Rounded Rectangle 4"/>
          <p:cNvSpPr/>
          <p:nvPr/>
        </p:nvSpPr>
        <p:spPr>
          <a:xfrm>
            <a:off x="3348989" y="1371600"/>
            <a:ext cx="2617470" cy="1325880"/>
          </a:xfrm>
          <a:prstGeom prst="roundRect">
            <a:avLst/>
          </a:prstGeom>
          <a:solidFill>
            <a:srgbClr val="1B212A"/>
          </a:solidFill>
          <a:ln w="15875">
            <a:solidFill>
              <a:srgbClr val="3B9EF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09728"/>
          <a:lstStyle/>
          <a:p>
            <a:pPr algn="ctr">
              <a:spcAft>
                <a:spcPts val="200"/>
              </a:spcAft>
            </a:pPr>
            <a:r>
              <a:rPr sz="3000" b="1">
                <a:solidFill>
                  <a:srgbClr val="3B9EFF"/>
                </a:solidFill>
                <a:latin typeface="Calibri"/>
              </a:rPr>
              <a:t>~3.1k</a:t>
            </a:r>
          </a:p>
          <a:p>
            <a:pPr>
              <a:spcAft>
                <a:spcPts val="400"/>
              </a:spcAft>
            </a:pPr>
            <a:r>
              <a:rPr sz="1100" b="0">
                <a:solidFill>
                  <a:srgbClr val="93A1B2"/>
                </a:solidFill>
                <a:latin typeface="Calibri"/>
              </a:rPr>
              <a:t>lines of production coordination code</a:t>
            </a:r>
          </a:p>
        </p:txBody>
      </p:sp>
      <p:sp>
        <p:nvSpPr>
          <p:cNvPr id="6" name="Rounded Rectangle 5"/>
          <p:cNvSpPr/>
          <p:nvPr/>
        </p:nvSpPr>
        <p:spPr>
          <a:xfrm>
            <a:off x="6195059" y="1371600"/>
            <a:ext cx="2617470" cy="1325880"/>
          </a:xfrm>
          <a:prstGeom prst="roundRect">
            <a:avLst/>
          </a:prstGeom>
          <a:solidFill>
            <a:srgbClr val="1B212A"/>
          </a:solidFill>
          <a:ln w="15875">
            <a:solidFill>
              <a:srgbClr val="A97BF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09728"/>
          <a:lstStyle/>
          <a:p>
            <a:pPr algn="ctr">
              <a:spcAft>
                <a:spcPts val="200"/>
              </a:spcAft>
            </a:pPr>
            <a:r>
              <a:rPr sz="3000" b="1">
                <a:solidFill>
                  <a:srgbClr val="A97BFF"/>
                </a:solidFill>
                <a:latin typeface="Calibri"/>
              </a:rPr>
              <a:t>4A</a:t>
            </a:r>
          </a:p>
          <a:p>
            <a:pPr>
              <a:spcAft>
                <a:spcPts val="400"/>
              </a:spcAft>
            </a:pPr>
            <a:r>
              <a:rPr sz="1100" b="0">
                <a:solidFill>
                  <a:srgbClr val="93A1B2"/>
                </a:solidFill>
                <a:latin typeface="Calibri"/>
              </a:rPr>
              <a:t>phases complete (1, 2, 3, 4A)</a:t>
            </a:r>
          </a:p>
        </p:txBody>
      </p:sp>
      <p:sp>
        <p:nvSpPr>
          <p:cNvPr id="7" name="Rounded Rectangle 6"/>
          <p:cNvSpPr/>
          <p:nvPr/>
        </p:nvSpPr>
        <p:spPr>
          <a:xfrm>
            <a:off x="9041130" y="1371600"/>
            <a:ext cx="2617470" cy="1325880"/>
          </a:xfrm>
          <a:prstGeom prst="roundRect">
            <a:avLst/>
          </a:prstGeom>
          <a:solidFill>
            <a:srgbClr val="1B212A"/>
          </a:solidFill>
          <a:ln w="15875">
            <a:solidFill>
              <a:srgbClr val="35C78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09728"/>
          <a:lstStyle/>
          <a:p>
            <a:pPr algn="ctr">
              <a:spcAft>
                <a:spcPts val="200"/>
              </a:spcAft>
            </a:pPr>
            <a:r>
              <a:rPr sz="3000" b="1">
                <a:solidFill>
                  <a:srgbClr val="35C78A"/>
                </a:solidFill>
                <a:latin typeface="Calibri"/>
              </a:rPr>
              <a:t>0</a:t>
            </a:r>
          </a:p>
          <a:p>
            <a:pPr>
              <a:spcAft>
                <a:spcPts val="400"/>
              </a:spcAft>
            </a:pPr>
            <a:r>
              <a:rPr sz="1100" b="0">
                <a:solidFill>
                  <a:srgbClr val="93A1B2"/>
                </a:solidFill>
                <a:latin typeface="Calibri"/>
              </a:rPr>
              <a:t>critical or high audit findings</a:t>
            </a:r>
          </a:p>
        </p:txBody>
      </p:sp>
      <p:graphicFrame>
        <p:nvGraphicFramePr>
          <p:cNvPr id="8" name="Table 7"/>
          <p:cNvGraphicFramePr>
            <a:graphicFrameLocks noGrp="1"/>
          </p:cNvGraphicFramePr>
          <p:nvPr/>
        </p:nvGraphicFramePr>
        <p:xfrm>
          <a:off x="502920" y="3017520"/>
          <a:ext cx="11155677" cy="2340864"/>
        </p:xfrm>
        <a:graphic>
          <a:graphicData uri="http://schemas.openxmlformats.org/drawingml/2006/table">
            <a:tbl>
              <a:tblPr firstRow="1" bandRow="1">
                <a:tableStyleId>{5C22544A-7EE6-4342-B048-85BDC9FD1C3A}</a:tableStyleId>
              </a:tblPr>
              <a:tblGrid>
                <a:gridCol w="5852159"/>
                <a:gridCol w="1463039"/>
                <a:gridCol w="3840479"/>
              </a:tblGrid>
              <a:tr h="292608">
                <a:tc>
                  <a:txBody>
                    <a:bodyPr/>
                    <a:lstStyle/>
                    <a:p>
                      <a:r>
                        <a:rPr sz="1100" b="1">
                          <a:solidFill>
                            <a:srgbClr val="3B9EFF"/>
                          </a:solidFill>
                        </a:rPr>
                        <a:t>Module</a:t>
                      </a:r>
                    </a:p>
                  </a:txBody>
                  <a:tcPr>
                    <a:solidFill>
                      <a:srgbClr val="1B212A"/>
                    </a:solidFill>
                  </a:tcPr>
                </a:tc>
                <a:tc>
                  <a:txBody>
                    <a:bodyPr/>
                    <a:lstStyle/>
                    <a:p>
                      <a:r>
                        <a:rPr sz="1100" b="1">
                          <a:solidFill>
                            <a:srgbClr val="3B9EFF"/>
                          </a:solidFill>
                        </a:rPr>
                        <a:t>Lines</a:t>
                      </a:r>
                    </a:p>
                  </a:txBody>
                  <a:tcPr>
                    <a:solidFill>
                      <a:srgbClr val="1B212A"/>
                    </a:solidFill>
                  </a:tcPr>
                </a:tc>
                <a:tc>
                  <a:txBody>
                    <a:bodyPr/>
                    <a:lstStyle/>
                    <a:p>
                      <a:r>
                        <a:rPr sz="1100" b="1">
                          <a:solidFill>
                            <a:srgbClr val="3B9EFF"/>
                          </a:solidFill>
                        </a:rPr>
                        <a:t>Status</a:t>
                      </a:r>
                    </a:p>
                  </a:txBody>
                  <a:tcPr>
                    <a:solidFill>
                      <a:srgbClr val="1B212A"/>
                    </a:solidFill>
                  </a:tcPr>
                </a:tc>
              </a:tr>
              <a:tr h="292608">
                <a:tc>
                  <a:txBody>
                    <a:bodyPr/>
                    <a:lstStyle/>
                    <a:p>
                      <a:r>
                        <a:rPr sz="1100">
                          <a:solidFill>
                            <a:srgbClr val="E8ECF1"/>
                          </a:solidFill>
                        </a:rPr>
                        <a:t>auction.py - decentralized auction core</a:t>
                      </a:r>
                    </a:p>
                  </a:txBody>
                  <a:tcPr>
                    <a:solidFill>
                      <a:srgbClr val="12161C"/>
                    </a:solidFill>
                  </a:tcPr>
                </a:tc>
                <a:tc>
                  <a:txBody>
                    <a:bodyPr/>
                    <a:lstStyle/>
                    <a:p>
                      <a:r>
                        <a:rPr sz="1100">
                          <a:solidFill>
                            <a:srgbClr val="E8ECF1"/>
                          </a:solidFill>
                        </a:rPr>
                        <a:t>1003</a:t>
                      </a:r>
                    </a:p>
                  </a:txBody>
                  <a:tcPr>
                    <a:solidFill>
                      <a:srgbClr val="12161C"/>
                    </a:solidFill>
                  </a:tcPr>
                </a:tc>
                <a:tc>
                  <a:txBody>
                    <a:bodyPr/>
                    <a:lstStyle/>
                    <a:p>
                      <a:r>
                        <a:rPr sz="1100">
                          <a:solidFill>
                            <a:srgbClr val="E8ECF1"/>
                          </a:solidFill>
                        </a:rPr>
                        <a:t>COMPLETE + AUDITED</a:t>
                      </a:r>
                    </a:p>
                  </a:txBody>
                  <a:tcPr>
                    <a:solidFill>
                      <a:srgbClr val="12161C"/>
                    </a:solidFill>
                  </a:tcPr>
                </a:tc>
              </a:tr>
              <a:tr h="292608">
                <a:tc>
                  <a:txBody>
                    <a:bodyPr/>
                    <a:lstStyle/>
                    <a:p>
                      <a:r>
                        <a:rPr sz="1100">
                          <a:solidFill>
                            <a:srgbClr val="E8ECF1"/>
                          </a:solidFill>
                        </a:rPr>
                        <a:t>reservation.py - spatio-temporal reservations</a:t>
                      </a:r>
                    </a:p>
                  </a:txBody>
                  <a:tcPr>
                    <a:solidFill>
                      <a:srgbClr val="1B212A"/>
                    </a:solidFill>
                  </a:tcPr>
                </a:tc>
                <a:tc>
                  <a:txBody>
                    <a:bodyPr/>
                    <a:lstStyle/>
                    <a:p>
                      <a:r>
                        <a:rPr sz="1100">
                          <a:solidFill>
                            <a:srgbClr val="E8ECF1"/>
                          </a:solidFill>
                        </a:rPr>
                        <a:t>949</a:t>
                      </a:r>
                    </a:p>
                  </a:txBody>
                  <a:tcPr>
                    <a:solidFill>
                      <a:srgbClr val="1B212A"/>
                    </a:solidFill>
                  </a:tcPr>
                </a:tc>
                <a:tc>
                  <a:txBody>
                    <a:bodyPr/>
                    <a:lstStyle/>
                    <a:p>
                      <a:r>
                        <a:rPr sz="1100">
                          <a:solidFill>
                            <a:srgbClr val="E8ECF1"/>
                          </a:solidFill>
                        </a:rPr>
                        <a:t>COMPLETE</a:t>
                      </a:r>
                    </a:p>
                  </a:txBody>
                  <a:tcPr>
                    <a:solidFill>
                      <a:srgbClr val="1B212A"/>
                    </a:solidFill>
                  </a:tcPr>
                </a:tc>
              </a:tr>
              <a:tr h="292608">
                <a:tc>
                  <a:txBody>
                    <a:bodyPr/>
                    <a:lstStyle/>
                    <a:p>
                      <a:r>
                        <a:rPr sz="1100">
                          <a:solidFill>
                            <a:srgbClr val="E8ECF1"/>
                          </a:solidFill>
                        </a:rPr>
                        <a:t>conflict.py - spatio-temporal conflict detection</a:t>
                      </a:r>
                    </a:p>
                  </a:txBody>
                  <a:tcPr>
                    <a:solidFill>
                      <a:srgbClr val="12161C"/>
                    </a:solidFill>
                  </a:tcPr>
                </a:tc>
                <a:tc>
                  <a:txBody>
                    <a:bodyPr/>
                    <a:lstStyle/>
                    <a:p>
                      <a:r>
                        <a:rPr sz="1100">
                          <a:solidFill>
                            <a:srgbClr val="E8ECF1"/>
                          </a:solidFill>
                        </a:rPr>
                        <a:t>436</a:t>
                      </a:r>
                    </a:p>
                  </a:txBody>
                  <a:tcPr>
                    <a:solidFill>
                      <a:srgbClr val="12161C"/>
                    </a:solidFill>
                  </a:tcPr>
                </a:tc>
                <a:tc>
                  <a:txBody>
                    <a:bodyPr/>
                    <a:lstStyle/>
                    <a:p>
                      <a:r>
                        <a:rPr sz="1100">
                          <a:solidFill>
                            <a:srgbClr val="E8ECF1"/>
                          </a:solidFill>
                        </a:rPr>
                        <a:t>COMPLETE</a:t>
                      </a:r>
                    </a:p>
                  </a:txBody>
                  <a:tcPr>
                    <a:solidFill>
                      <a:srgbClr val="12161C"/>
                    </a:solidFill>
                  </a:tcPr>
                </a:tc>
              </a:tr>
              <a:tr h="292608">
                <a:tc>
                  <a:txBody>
                    <a:bodyPr/>
                    <a:lstStyle/>
                    <a:p>
                      <a:r>
                        <a:rPr sz="1100">
                          <a:solidFill>
                            <a:srgbClr val="E8ECF1"/>
                          </a:solidFill>
                        </a:rPr>
                        <a:t>models.py / messages.py - contracts</a:t>
                      </a:r>
                    </a:p>
                  </a:txBody>
                  <a:tcPr>
                    <a:solidFill>
                      <a:srgbClr val="1B212A"/>
                    </a:solidFill>
                  </a:tcPr>
                </a:tc>
                <a:tc>
                  <a:txBody>
                    <a:bodyPr/>
                    <a:lstStyle/>
                    <a:p>
                      <a:r>
                        <a:rPr sz="1100">
                          <a:solidFill>
                            <a:srgbClr val="E8ECF1"/>
                          </a:solidFill>
                        </a:rPr>
                        <a:t>396</a:t>
                      </a:r>
                    </a:p>
                  </a:txBody>
                  <a:tcPr>
                    <a:solidFill>
                      <a:srgbClr val="1B212A"/>
                    </a:solidFill>
                  </a:tcPr>
                </a:tc>
                <a:tc>
                  <a:txBody>
                    <a:bodyPr/>
                    <a:lstStyle/>
                    <a:p>
                      <a:r>
                        <a:rPr sz="1100">
                          <a:solidFill>
                            <a:srgbClr val="E8ECF1"/>
                          </a:solidFill>
                        </a:rPr>
                        <a:t>COMPLETE</a:t>
                      </a:r>
                    </a:p>
                  </a:txBody>
                  <a:tcPr>
                    <a:solidFill>
                      <a:srgbClr val="1B212A"/>
                    </a:solidFill>
                  </a:tcPr>
                </a:tc>
              </a:tr>
              <a:tr h="292608">
                <a:tc>
                  <a:txBody>
                    <a:bodyPr/>
                    <a:lstStyle/>
                    <a:p>
                      <a:r>
                        <a:rPr sz="1100">
                          <a:solidFill>
                            <a:srgbClr val="E8ECF1"/>
                          </a:solidFill>
                        </a:rPr>
                        <a:t>peer_registry.py / intent_registry.py</a:t>
                      </a:r>
                    </a:p>
                  </a:txBody>
                  <a:tcPr>
                    <a:solidFill>
                      <a:srgbClr val="12161C"/>
                    </a:solidFill>
                  </a:tcPr>
                </a:tc>
                <a:tc>
                  <a:txBody>
                    <a:bodyPr/>
                    <a:lstStyle/>
                    <a:p>
                      <a:r>
                        <a:rPr sz="1100">
                          <a:solidFill>
                            <a:srgbClr val="E8ECF1"/>
                          </a:solidFill>
                        </a:rPr>
                        <a:t>286</a:t>
                      </a:r>
                    </a:p>
                  </a:txBody>
                  <a:tcPr>
                    <a:solidFill>
                      <a:srgbClr val="12161C"/>
                    </a:solidFill>
                  </a:tcPr>
                </a:tc>
                <a:tc>
                  <a:txBody>
                    <a:bodyPr/>
                    <a:lstStyle/>
                    <a:p>
                      <a:r>
                        <a:rPr sz="1100">
                          <a:solidFill>
                            <a:srgbClr val="E8ECF1"/>
                          </a:solidFill>
                        </a:rPr>
                        <a:t>COMPLETE</a:t>
                      </a:r>
                    </a:p>
                  </a:txBody>
                  <a:tcPr>
                    <a:solidFill>
                      <a:srgbClr val="12161C"/>
                    </a:solidFill>
                  </a:tcPr>
                </a:tc>
              </a:tr>
              <a:tr h="292608">
                <a:tc>
                  <a:txBody>
                    <a:bodyPr/>
                    <a:lstStyle/>
                    <a:p>
                      <a:r>
                        <a:rPr sz="1100">
                          <a:solidFill>
                            <a:srgbClr val="E8ECF1"/>
                          </a:solidFill>
                        </a:rPr>
                        <a:t>transport.py - Protocol only, no implementation</a:t>
                      </a:r>
                    </a:p>
                  </a:txBody>
                  <a:tcPr>
                    <a:solidFill>
                      <a:srgbClr val="1B212A"/>
                    </a:solidFill>
                  </a:tcPr>
                </a:tc>
                <a:tc>
                  <a:txBody>
                    <a:bodyPr/>
                    <a:lstStyle/>
                    <a:p>
                      <a:r>
                        <a:rPr sz="1100">
                          <a:solidFill>
                            <a:srgbClr val="E8ECF1"/>
                          </a:solidFill>
                        </a:rPr>
                        <a:t>81</a:t>
                      </a:r>
                    </a:p>
                  </a:txBody>
                  <a:tcPr>
                    <a:solidFill>
                      <a:srgbClr val="1B212A"/>
                    </a:solidFill>
                  </a:tcPr>
                </a:tc>
                <a:tc>
                  <a:txBody>
                    <a:bodyPr/>
                    <a:lstStyle/>
                    <a:p>
                      <a:r>
                        <a:rPr sz="1100">
                          <a:solidFill>
                            <a:srgbClr val="E8ECF1"/>
                          </a:solidFill>
                        </a:rPr>
                        <a:t>STEP 4B</a:t>
                      </a:r>
                    </a:p>
                  </a:txBody>
                  <a:tcPr>
                    <a:solidFill>
                      <a:srgbClr val="1B212A"/>
                    </a:solidFill>
                  </a:tcPr>
                </a:tc>
              </a:tr>
              <a:tr h="292608">
                <a:tc>
                  <a:txBody>
                    <a:bodyPr/>
                    <a:lstStyle/>
                    <a:p>
                      <a:r>
                        <a:rPr sz="1100">
                          <a:solidFill>
                            <a:srgbClr val="E8ECF1"/>
                          </a:solidFill>
                        </a:rPr>
                        <a:t>distributed runtime, deadlock, heartbeat, benchmark</a:t>
                      </a:r>
                    </a:p>
                  </a:txBody>
                  <a:tcPr>
                    <a:solidFill>
                      <a:srgbClr val="12161C"/>
                    </a:solidFill>
                  </a:tcPr>
                </a:tc>
                <a:tc>
                  <a:txBody>
                    <a:bodyPr/>
                    <a:lstStyle/>
                    <a:p>
                      <a:r>
                        <a:rPr sz="1100">
                          <a:solidFill>
                            <a:srgbClr val="E8ECF1"/>
                          </a:solidFill>
                        </a:rPr>
                        <a:t>-</a:t>
                      </a:r>
                    </a:p>
                  </a:txBody>
                  <a:tcPr>
                    <a:solidFill>
                      <a:srgbClr val="12161C"/>
                    </a:solidFill>
                  </a:tcPr>
                </a:tc>
                <a:tc>
                  <a:txBody>
                    <a:bodyPr/>
                    <a:lstStyle/>
                    <a:p>
                      <a:r>
                        <a:rPr sz="1100">
                          <a:solidFill>
                            <a:srgbClr val="E8ECF1"/>
                          </a:solidFill>
                        </a:rPr>
                        <a:t>NOT STARTED</a:t>
                      </a:r>
                    </a:p>
                  </a:txBody>
                  <a:tcPr>
                    <a:solidFill>
                      <a:srgbClr val="12161C"/>
                    </a:solidFill>
                  </a:tcPr>
                </a:tc>
              </a:tr>
            </a:tbl>
          </a:graphicData>
        </a:graphic>
      </p:graphicFrame>
      <p:sp>
        <p:nvSpPr>
          <p:cNvPr id="9" name="Rounded Rectangle 8"/>
          <p:cNvSpPr/>
          <p:nvPr/>
        </p:nvSpPr>
        <p:spPr>
          <a:xfrm>
            <a:off x="502920" y="5989320"/>
            <a:ext cx="11155680" cy="566928"/>
          </a:xfrm>
          <a:prstGeom prst="roundRect">
            <a:avLst/>
          </a:prstGeom>
          <a:solidFill>
            <a:srgbClr val="1B212A"/>
          </a:solidFill>
          <a:ln w="15875">
            <a:solidFill>
              <a:srgbClr val="F2B137"/>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a:lstStyle/>
          <a:p>
            <a:pPr algn="ctr">
              <a:spcAft>
                <a:spcPts val="400"/>
              </a:spcAft>
            </a:pPr>
            <a:r>
              <a:rPr sz="1200" b="1">
                <a:solidFill>
                  <a:srgbClr val="E8ECF1"/>
                </a:solidFill>
                <a:latin typeface="Calibri"/>
              </a:rPr>
              <a:t>This is the real baseline. Everything marked NOT STARTED is genuinely not started - no invented progress.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B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Four Phases</a:t>
            </a:r>
          </a:p>
          <a:p>
            <a:pPr>
              <a:spcAft>
                <a:spcPts val="400"/>
              </a:spcAft>
            </a:pPr>
            <a:r>
              <a:rPr sz="1300" b="0">
                <a:solidFill>
                  <a:srgbClr val="93A1B2"/>
                </a:solidFill>
                <a:latin typeface="Calibri"/>
              </a:rPr>
              <a:t>Ordered to kill risk early, not late</a:t>
            </a:r>
          </a:p>
        </p:txBody>
      </p:sp>
      <p:graphicFrame>
        <p:nvGraphicFramePr>
          <p:cNvPr id="4" name="Table 3"/>
          <p:cNvGraphicFramePr>
            <a:graphicFrameLocks noGrp="1"/>
          </p:cNvGraphicFramePr>
          <p:nvPr/>
        </p:nvGraphicFramePr>
        <p:xfrm>
          <a:off x="502920" y="1325880"/>
          <a:ext cx="11155680" cy="1463040"/>
        </p:xfrm>
        <a:graphic>
          <a:graphicData uri="http://schemas.openxmlformats.org/drawingml/2006/table">
            <a:tbl>
              <a:tblPr firstRow="1" bandRow="1">
                <a:tableStyleId>{5C22544A-7EE6-4342-B048-85BDC9FD1C3A}</a:tableStyleId>
              </a:tblPr>
              <a:tblGrid>
                <a:gridCol w="640080"/>
                <a:gridCol w="2103120"/>
                <a:gridCol w="4754880"/>
                <a:gridCol w="3657600"/>
              </a:tblGrid>
              <a:tr h="292608">
                <a:tc>
                  <a:txBody>
                    <a:bodyPr/>
                    <a:lstStyle/>
                    <a:p>
                      <a:r>
                        <a:rPr sz="1100" b="1">
                          <a:solidFill>
                            <a:srgbClr val="3B9EFF"/>
                          </a:solidFill>
                        </a:rPr>
                        <a:t>Phase</a:t>
                      </a:r>
                    </a:p>
                  </a:txBody>
                  <a:tcPr>
                    <a:solidFill>
                      <a:srgbClr val="1B212A"/>
                    </a:solidFill>
                  </a:tcPr>
                </a:tc>
                <a:tc>
                  <a:txBody>
                    <a:bodyPr/>
                    <a:lstStyle/>
                    <a:p>
                      <a:r>
                        <a:rPr sz="1100" b="1">
                          <a:solidFill>
                            <a:srgbClr val="3B9EFF"/>
                          </a:solidFill>
                        </a:rPr>
                        <a:t>Goal</a:t>
                      </a:r>
                    </a:p>
                  </a:txBody>
                  <a:tcPr>
                    <a:solidFill>
                      <a:srgbClr val="1B212A"/>
                    </a:solidFill>
                  </a:tcPr>
                </a:tc>
                <a:tc>
                  <a:txBody>
                    <a:bodyPr/>
                    <a:lstStyle/>
                    <a:p>
                      <a:r>
                        <a:rPr sz="1100" b="1">
                          <a:solidFill>
                            <a:srgbClr val="3B9EFF"/>
                          </a:solidFill>
                        </a:rPr>
                        <a:t>Definition of done</a:t>
                      </a:r>
                    </a:p>
                  </a:txBody>
                  <a:tcPr>
                    <a:solidFill>
                      <a:srgbClr val="1B212A"/>
                    </a:solidFill>
                  </a:tcPr>
                </a:tc>
                <a:tc>
                  <a:txBody>
                    <a:bodyPr/>
                    <a:lstStyle/>
                    <a:p>
                      <a:r>
                        <a:rPr sz="1100" b="1">
                          <a:solidFill>
                            <a:srgbClr val="3B9EFF"/>
                          </a:solidFill>
                        </a:rPr>
                        <a:t>Why this order</a:t>
                      </a:r>
                    </a:p>
                  </a:txBody>
                  <a:tcPr>
                    <a:solidFill>
                      <a:srgbClr val="1B212A"/>
                    </a:solidFill>
                  </a:tcPr>
                </a:tc>
              </a:tr>
              <a:tr h="292608">
                <a:tc>
                  <a:txBody>
                    <a:bodyPr/>
                    <a:lstStyle/>
                    <a:p>
                      <a:r>
                        <a:rPr sz="1100">
                          <a:solidFill>
                            <a:srgbClr val="E8ECF1"/>
                          </a:solidFill>
                        </a:rPr>
                        <a:t>1</a:t>
                      </a:r>
                    </a:p>
                  </a:txBody>
                  <a:tcPr>
                    <a:solidFill>
                      <a:srgbClr val="12161C"/>
                    </a:solidFill>
                  </a:tcPr>
                </a:tc>
                <a:tc>
                  <a:txBody>
                    <a:bodyPr/>
                    <a:lstStyle/>
                    <a:p>
                      <a:r>
                        <a:rPr sz="1100">
                          <a:solidFill>
                            <a:srgbClr val="E8ECF1"/>
                          </a:solidFill>
                        </a:rPr>
                        <a:t>Skeleton that MOVES</a:t>
                      </a:r>
                    </a:p>
                  </a:txBody>
                  <a:tcPr>
                    <a:solidFill>
                      <a:srgbClr val="12161C"/>
                    </a:solidFill>
                  </a:tcPr>
                </a:tc>
                <a:tc>
                  <a:txBody>
                    <a:bodyPr/>
                    <a:lstStyle/>
                    <a:p>
                      <a:r>
                        <a:rPr sz="1100">
                          <a:solidFill>
                            <a:srgbClr val="E8ECF1"/>
                          </a:solidFill>
                        </a:rPr>
                        <a:t>3 robots, real A*, real conflicts, real auctions, ugly UI, one command boots it</a:t>
                      </a:r>
                    </a:p>
                  </a:txBody>
                  <a:tcPr>
                    <a:solidFill>
                      <a:srgbClr val="12161C"/>
                    </a:solidFill>
                  </a:tcPr>
                </a:tc>
                <a:tc>
                  <a:txBody>
                    <a:bodyPr/>
                    <a:lstStyle/>
                    <a:p>
                      <a:r>
                        <a:rPr sz="1100">
                          <a:solidFill>
                            <a:srgbClr val="E8ECF1"/>
                          </a:solidFill>
                        </a:rPr>
                        <a:t>Integration risk dies on day 1, not day 30</a:t>
                      </a:r>
                    </a:p>
                  </a:txBody>
                  <a:tcPr>
                    <a:solidFill>
                      <a:srgbClr val="12161C"/>
                    </a:solidFill>
                  </a:tcPr>
                </a:tc>
              </a:tr>
              <a:tr h="292608">
                <a:tc>
                  <a:txBody>
                    <a:bodyPr/>
                    <a:lstStyle/>
                    <a:p>
                      <a:r>
                        <a:rPr sz="1100">
                          <a:solidFill>
                            <a:srgbClr val="E8ECF1"/>
                          </a:solidFill>
                        </a:rPr>
                        <a:t>2</a:t>
                      </a:r>
                    </a:p>
                  </a:txBody>
                  <a:tcPr>
                    <a:solidFill>
                      <a:srgbClr val="1B212A"/>
                    </a:solidFill>
                  </a:tcPr>
                </a:tc>
                <a:tc>
                  <a:txBody>
                    <a:bodyPr/>
                    <a:lstStyle/>
                    <a:p>
                      <a:r>
                        <a:rPr sz="1100">
                          <a:solidFill>
                            <a:srgbClr val="E8ECF1"/>
                          </a:solidFill>
                        </a:rPr>
                        <a:t>MEASUREMENT</a:t>
                      </a:r>
                    </a:p>
                  </a:txBody>
                  <a:tcPr>
                    <a:solidFill>
                      <a:srgbClr val="1B212A"/>
                    </a:solidFill>
                  </a:tcPr>
                </a:tc>
                <a:tc>
                  <a:txBody>
                    <a:bodyPr/>
                    <a:lstStyle/>
                    <a:p>
                      <a:r>
                        <a:rPr sz="1100">
                          <a:solidFill>
                            <a:srgbClr val="E8ECF1"/>
                          </a:solidFill>
                        </a:rPr>
                        <a:t>Benchmark harness + stop-and-wait baseline + event store = a REAL number</a:t>
                      </a:r>
                    </a:p>
                  </a:txBody>
                  <a:tcPr>
                    <a:solidFill>
                      <a:srgbClr val="1B212A"/>
                    </a:solidFill>
                  </a:tcPr>
                </a:tc>
                <a:tc>
                  <a:txBody>
                    <a:bodyPr/>
                    <a:lstStyle/>
                    <a:p>
                      <a:r>
                        <a:rPr sz="1100">
                          <a:solidFill>
                            <a:srgbClr val="E8ECF1"/>
                          </a:solidFill>
                        </a:rPr>
                        <a:t>Both SIH success criteria need this. No number, no score</a:t>
                      </a:r>
                    </a:p>
                  </a:txBody>
                  <a:tcPr>
                    <a:solidFill>
                      <a:srgbClr val="1B212A"/>
                    </a:solidFill>
                  </a:tcPr>
                </a:tc>
              </a:tr>
              <a:tr h="292608">
                <a:tc>
                  <a:txBody>
                    <a:bodyPr/>
                    <a:lstStyle/>
                    <a:p>
                      <a:r>
                        <a:rPr sz="1100">
                          <a:solidFill>
                            <a:srgbClr val="E8ECF1"/>
                          </a:solidFill>
                        </a:rPr>
                        <a:t>3</a:t>
                      </a:r>
                    </a:p>
                  </a:txBody>
                  <a:tcPr>
                    <a:solidFill>
                      <a:srgbClr val="12161C"/>
                    </a:solidFill>
                  </a:tcPr>
                </a:tc>
                <a:tc>
                  <a:txBody>
                    <a:bodyPr/>
                    <a:lstStyle/>
                    <a:p>
                      <a:r>
                        <a:rPr sz="1100">
                          <a:solidFill>
                            <a:srgbClr val="E8ECF1"/>
                          </a:solidFill>
                        </a:rPr>
                        <a:t>Scale + intelligence</a:t>
                      </a:r>
                    </a:p>
                  </a:txBody>
                  <a:tcPr>
                    <a:solidFill>
                      <a:srgbClr val="12161C"/>
                    </a:solidFill>
                  </a:tcPr>
                </a:tc>
                <a:tc>
                  <a:txBody>
                    <a:bodyPr/>
                    <a:lstStyle/>
                    <a:p>
                      <a:r>
                        <a:rPr sz="1100">
                          <a:solidFill>
                            <a:srgbClr val="E8ECF1"/>
                          </a:solidFill>
                        </a:rPr>
                        <a:t>50 robots, spatial broad phase, ML model, deadlock detection, failure recovery</a:t>
                      </a:r>
                    </a:p>
                  </a:txBody>
                  <a:tcPr>
                    <a:solidFill>
                      <a:srgbClr val="12161C"/>
                    </a:solidFill>
                  </a:tcPr>
                </a:tc>
                <a:tc>
                  <a:txBody>
                    <a:bodyPr/>
                    <a:lstStyle/>
                    <a:p>
                      <a:r>
                        <a:rPr sz="1100">
                          <a:solidFill>
                            <a:srgbClr val="E8ECF1"/>
                          </a:solidFill>
                        </a:rPr>
                        <a:t>Now improvements can be measured against Phase 2</a:t>
                      </a:r>
                    </a:p>
                  </a:txBody>
                  <a:tcPr>
                    <a:solidFill>
                      <a:srgbClr val="12161C"/>
                    </a:solidFill>
                  </a:tcPr>
                </a:tc>
              </a:tr>
              <a:tr h="292608">
                <a:tc>
                  <a:txBody>
                    <a:bodyPr/>
                    <a:lstStyle/>
                    <a:p>
                      <a:r>
                        <a:rPr sz="1100">
                          <a:solidFill>
                            <a:srgbClr val="E8ECF1"/>
                          </a:solidFill>
                        </a:rPr>
                        <a:t>4</a:t>
                      </a:r>
                    </a:p>
                  </a:txBody>
                  <a:tcPr>
                    <a:solidFill>
                      <a:srgbClr val="1B212A"/>
                    </a:solidFill>
                  </a:tcPr>
                </a:tc>
                <a:tc>
                  <a:txBody>
                    <a:bodyPr/>
                    <a:lstStyle/>
                    <a:p>
                      <a:r>
                        <a:rPr sz="1100">
                          <a:solidFill>
                            <a:srgbClr val="E8ECF1"/>
                          </a:solidFill>
                        </a:rPr>
                        <a:t>Novelty + polish</a:t>
                      </a:r>
                    </a:p>
                  </a:txBody>
                  <a:tcPr>
                    <a:solidFill>
                      <a:srgbClr val="1B212A"/>
                    </a:solidFill>
                  </a:tcPr>
                </a:tc>
                <a:tc>
                  <a:txBody>
                    <a:bodyPr/>
                    <a:lstStyle/>
                    <a:p>
                      <a:r>
                        <a:rPr sz="1100">
                          <a:solidFill>
                            <a:srgbClr val="E8ECF1"/>
                          </a:solidFill>
                        </a:rPr>
                        <a:t>N1/N2/N3, fault injection, beautiful dashboard, demo rehearsal, Q&amp;A drills</a:t>
                      </a:r>
                    </a:p>
                  </a:txBody>
                  <a:tcPr>
                    <a:solidFill>
                      <a:srgbClr val="1B212A"/>
                    </a:solidFill>
                  </a:tcPr>
                </a:tc>
                <a:tc>
                  <a:txBody>
                    <a:bodyPr/>
                    <a:lstStyle/>
                    <a:p>
                      <a:r>
                        <a:rPr sz="1100">
                          <a:solidFill>
                            <a:srgbClr val="E8ECF1"/>
                          </a:solidFill>
                        </a:rPr>
                        <a:t>Novelty on a measured system wins. On an unmeasured one it loses</a:t>
                      </a:r>
                    </a:p>
                  </a:txBody>
                  <a:tcPr>
                    <a:solidFill>
                      <a:srgbClr val="1B212A"/>
                    </a:solidFill>
                  </a:tcPr>
                </a:tc>
              </a:tr>
            </a:tbl>
          </a:graphicData>
        </a:graphic>
      </p:graphicFrame>
      <p:sp>
        <p:nvSpPr>
          <p:cNvPr id="5" name="Rounded Rectangle 4"/>
          <p:cNvSpPr/>
          <p:nvPr/>
        </p:nvSpPr>
        <p:spPr>
          <a:xfrm>
            <a:off x="502920" y="5120640"/>
            <a:ext cx="11155680" cy="566928"/>
          </a:xfrm>
          <a:prstGeom prst="roundRect">
            <a:avLst/>
          </a:prstGeom>
          <a:solidFill>
            <a:srgbClr val="1B212A"/>
          </a:solidFill>
          <a:ln w="15875">
            <a:solidFill>
              <a:srgbClr val="E55B5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a:lstStyle/>
          <a:p>
            <a:pPr algn="ctr">
              <a:spcAft>
                <a:spcPts val="400"/>
              </a:spcAft>
            </a:pPr>
            <a:r>
              <a:rPr sz="1200" b="1">
                <a:solidFill>
                  <a:srgbClr val="E8ECF1"/>
                </a:solidFill>
                <a:latin typeface="Calibri"/>
              </a:rPr>
              <a:t>HARD RULE: no novelty features until Phase 2 produces a real measured number. This is the single most important scheduling decision in the plan.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B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M1 - Frontend / UI-UX</a:t>
            </a:r>
          </a:p>
          <a:p>
            <a:pPr>
              <a:spcAft>
                <a:spcPts val="400"/>
              </a:spcAft>
            </a:pPr>
            <a:r>
              <a:rPr sz="1300" b="0">
                <a:solidFill>
                  <a:srgbClr val="93A1B2"/>
                </a:solidFill>
                <a:latin typeface="Calibri"/>
              </a:rPr>
              <a:t>Your mission and the features you own</a:t>
            </a:r>
          </a:p>
        </p:txBody>
      </p:sp>
      <p:sp>
        <p:nvSpPr>
          <p:cNvPr id="4" name="Rounded Rectangle 3"/>
          <p:cNvSpPr/>
          <p:nvPr/>
        </p:nvSpPr>
        <p:spPr>
          <a:xfrm>
            <a:off x="502920" y="1188720"/>
            <a:ext cx="11155680" cy="731520"/>
          </a:xfrm>
          <a:prstGeom prst="roundRect">
            <a:avLst/>
          </a:prstGeom>
          <a:solidFill>
            <a:srgbClr val="1B212A"/>
          </a:solidFill>
          <a:ln w="15875">
            <a:solidFill>
              <a:srgbClr val="3B9EF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91440"/>
          <a:lstStyle/>
          <a:p>
            <a:pPr algn="ctr">
              <a:spcAft>
                <a:spcPts val="400"/>
              </a:spcAft>
            </a:pPr>
            <a:r>
              <a:rPr sz="1400" b="1">
                <a:solidFill>
                  <a:srgbClr val="E8ECF1"/>
                </a:solidFill>
                <a:latin typeface="Calibri"/>
              </a:rPr>
              <a:t>Build the operational control centre: the screens that make invisible coordination visible and demo-ready.</a:t>
            </a:r>
          </a:p>
        </p:txBody>
      </p:sp>
      <p:sp>
        <p:nvSpPr>
          <p:cNvPr id="5" name="TextBox 4"/>
          <p:cNvSpPr txBox="1"/>
          <p:nvPr/>
        </p:nvSpPr>
        <p:spPr>
          <a:xfrm>
            <a:off x="502920" y="2148840"/>
            <a:ext cx="11155680" cy="5120640"/>
          </a:xfrm>
          <a:prstGeom prst="rect">
            <a:avLst/>
          </a:prstGeom>
          <a:noFill/>
        </p:spPr>
        <p:txBody>
          <a:bodyPr wrap="square">
            <a:spAutoFit/>
          </a:bodyPr>
          <a:lstStyle/>
          <a:p>
            <a:pPr>
              <a:spcAft>
                <a:spcPts val="500"/>
              </a:spcAft>
            </a:pPr>
            <a:r>
              <a:rPr sz="1400" b="0">
                <a:solidFill>
                  <a:srgbClr val="E8ECF1"/>
                </a:solidFill>
                <a:latin typeface="Calibri"/>
              </a:rPr>
              <a:t>Live Warehouse Command Center - map-first view, 50+ robots at 30 fps</a:t>
            </a:r>
          </a:p>
          <a:p>
            <a:pPr>
              <a:spcAft>
                <a:spcPts val="500"/>
              </a:spcAft>
            </a:pPr>
            <a:r>
              <a:rPr sz="1400" b="0">
                <a:solidFill>
                  <a:srgbClr val="E8ECF1"/>
                </a:solidFill>
                <a:latin typeface="Calibri"/>
              </a:rPr>
              <a:t>Fleet Overview - health, active robots, tasks, failures, KPIs</a:t>
            </a:r>
          </a:p>
          <a:p>
            <a:pPr>
              <a:spcAft>
                <a:spcPts val="500"/>
              </a:spcAft>
            </a:pPr>
            <a:r>
              <a:rPr sz="1400" b="0">
                <a:solidFill>
                  <a:srgbClr val="E8ECF1"/>
                </a:solidFill>
                <a:latin typeface="Calibri"/>
              </a:rPr>
              <a:t>Robot Detail - state, task, battery, path, decisions, peer context</a:t>
            </a:r>
          </a:p>
          <a:p>
            <a:pPr>
              <a:spcAft>
                <a:spcPts val="500"/>
              </a:spcAft>
            </a:pPr>
            <a:r>
              <a:rPr sz="1400" b="0">
                <a:solidFill>
                  <a:srgbClr val="E8ECF1"/>
                </a:solidFill>
                <a:latin typeface="Calibri"/>
              </a:rPr>
              <a:t>Decision Inspector - WHY a robot proceeded / waited / rerouted</a:t>
            </a:r>
          </a:p>
          <a:p>
            <a:pPr lvl="1">
              <a:spcAft>
                <a:spcPts val="500"/>
              </a:spcAft>
            </a:pPr>
            <a:r>
              <a:rPr sz="1300" b="0">
                <a:solidFill>
                  <a:srgbClr val="93A1B2"/>
                </a:solidFill>
                <a:latin typeface="Calibri"/>
              </a:rPr>
              <a:t>  including the counterfactual panel (N2): 'R12 would have won if...'</a:t>
            </a:r>
          </a:p>
          <a:p>
            <a:pPr>
              <a:spcAft>
                <a:spcPts val="500"/>
              </a:spcAft>
            </a:pPr>
            <a:r>
              <a:rPr sz="1400" b="0">
                <a:solidFill>
                  <a:srgbClr val="E8ECF1"/>
                </a:solidFill>
                <a:latin typeface="Calibri"/>
              </a:rPr>
              <a:t>Incident Center - conflicts, deadlocks, failures, blocked aisles</a:t>
            </a:r>
          </a:p>
          <a:p>
            <a:pPr>
              <a:spcAft>
                <a:spcPts val="500"/>
              </a:spcAft>
            </a:pPr>
            <a:r>
              <a:rPr sz="1400" b="0">
                <a:solidFill>
                  <a:srgbClr val="E8ECF1"/>
                </a:solidFill>
                <a:latin typeface="Calibri"/>
              </a:rPr>
              <a:t>Benchmark Center - baseline vs SWARMOS side by side</a:t>
            </a:r>
          </a:p>
          <a:p>
            <a:pPr>
              <a:spcAft>
                <a:spcPts val="500"/>
              </a:spcAft>
            </a:pPr>
            <a:r>
              <a:rPr sz="1400" b="0">
                <a:solidFill>
                  <a:srgbClr val="E8ECF1"/>
                </a:solidFill>
                <a:latin typeface="Calibri"/>
              </a:rPr>
              <a:t>Replay - scrub the timeline of an entire run</a:t>
            </a:r>
          </a:p>
          <a:p>
            <a:pPr>
              <a:spcAft>
                <a:spcPts val="500"/>
              </a:spcAft>
            </a:pPr>
            <a:r>
              <a:rPr sz="1400" b="0">
                <a:solidFill>
                  <a:srgbClr val="E8ECF1"/>
                </a:solidFill>
                <a:latin typeface="Calibri"/>
              </a:rPr>
              <a:t>Simulation Lab - scenario / robot count / fault injection controls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B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M1 - Files and Interfaces</a:t>
            </a:r>
          </a:p>
          <a:p>
            <a:pPr>
              <a:spcAft>
                <a:spcPts val="400"/>
              </a:spcAft>
            </a:pPr>
            <a:r>
              <a:rPr sz="1300" b="0">
                <a:solidFill>
                  <a:srgbClr val="93A1B2"/>
                </a:solidFill>
                <a:latin typeface="Calibri"/>
              </a:rPr>
              <a:t>What you own on disk, and who you depend on</a:t>
            </a:r>
          </a:p>
        </p:txBody>
      </p:sp>
      <p:sp>
        <p:nvSpPr>
          <p:cNvPr id="4" name="TextBox 3"/>
          <p:cNvSpPr txBox="1"/>
          <p:nvPr/>
        </p:nvSpPr>
        <p:spPr>
          <a:xfrm>
            <a:off x="502920" y="1188720"/>
            <a:ext cx="11155680" cy="2286000"/>
          </a:xfrm>
          <a:prstGeom prst="rect">
            <a:avLst/>
          </a:prstGeom>
          <a:noFill/>
        </p:spPr>
        <p:txBody>
          <a:bodyPr wrap="square">
            <a:spAutoFit/>
          </a:bodyPr>
          <a:lstStyle/>
          <a:p>
            <a:pPr>
              <a:spcAft>
                <a:spcPts val="400"/>
              </a:spcAft>
            </a:pPr>
            <a:r>
              <a:rPr sz="1300" b="1">
                <a:solidFill>
                  <a:srgbClr val="3B9EFF"/>
                </a:solidFill>
                <a:latin typeface="Calibri"/>
              </a:rPr>
              <a:t>FILES YOU OWN</a:t>
            </a:r>
          </a:p>
          <a:p>
            <a:pPr>
              <a:spcAft>
                <a:spcPts val="200"/>
              </a:spcAft>
            </a:pPr>
            <a:r>
              <a:rPr sz="1100" b="0">
                <a:solidFill>
                  <a:srgbClr val="E8ECF1"/>
                </a:solidFill>
                <a:latin typeface="Consolas"/>
              </a:rPr>
              <a:t>frontend/src/screens/*            (one file per screen)</a:t>
            </a:r>
          </a:p>
          <a:p>
            <a:pPr>
              <a:spcAft>
                <a:spcPts val="200"/>
              </a:spcAft>
            </a:pPr>
            <a:r>
              <a:rPr sz="1100" b="0">
                <a:solidFill>
                  <a:srgbClr val="E8ECF1"/>
                </a:solidFill>
                <a:latin typeface="Consolas"/>
              </a:rPr>
              <a:t>frontend/src/map/WarehouseCanvas.tsx   (canvas/WebGL renderer)</a:t>
            </a:r>
          </a:p>
          <a:p>
            <a:pPr>
              <a:spcAft>
                <a:spcPts val="200"/>
              </a:spcAft>
            </a:pPr>
            <a:r>
              <a:rPr sz="1100" b="0">
                <a:solidFill>
                  <a:srgbClr val="E8ECF1"/>
                </a:solidFill>
                <a:latin typeface="Consolas"/>
              </a:rPr>
              <a:t>frontend/src/api/client.ts        (REST client, generated types)</a:t>
            </a:r>
          </a:p>
          <a:p>
            <a:pPr>
              <a:spcAft>
                <a:spcPts val="200"/>
              </a:spcAft>
            </a:pPr>
            <a:r>
              <a:rPr sz="1100" b="0">
                <a:solidFill>
                  <a:srgbClr val="E8ECF1"/>
                </a:solidFill>
                <a:latin typeface="Consolas"/>
              </a:rPr>
              <a:t>frontend/src/api/socket.ts        (WebSocket fleet stream)</a:t>
            </a:r>
          </a:p>
          <a:p>
            <a:pPr>
              <a:spcAft>
                <a:spcPts val="200"/>
              </a:spcAft>
            </a:pPr>
            <a:r>
              <a:rPr sz="1100" b="0">
                <a:solidFill>
                  <a:srgbClr val="E8ECF1"/>
                </a:solidFill>
                <a:latin typeface="Consolas"/>
              </a:rPr>
              <a:t>frontend/src/components/*         (shared UI primitives)</a:t>
            </a:r>
          </a:p>
        </p:txBody>
      </p:sp>
      <p:sp>
        <p:nvSpPr>
          <p:cNvPr id="5" name="TextBox 4"/>
          <p:cNvSpPr txBox="1"/>
          <p:nvPr/>
        </p:nvSpPr>
        <p:spPr>
          <a:xfrm>
            <a:off x="502920" y="3657600"/>
            <a:ext cx="11155680" cy="5120640"/>
          </a:xfrm>
          <a:prstGeom prst="rect">
            <a:avLst/>
          </a:prstGeom>
          <a:noFill/>
        </p:spPr>
        <p:txBody>
          <a:bodyPr wrap="square">
            <a:spAutoFit/>
          </a:bodyPr>
          <a:lstStyle/>
          <a:p>
            <a:pPr>
              <a:spcAft>
                <a:spcPts val="400"/>
              </a:spcAft>
            </a:pPr>
            <a:r>
              <a:rPr sz="1300" b="0">
                <a:solidFill>
                  <a:srgbClr val="E8ECF1"/>
                </a:solidFill>
                <a:latin typeface="Calibri"/>
              </a:rPr>
              <a:t>YOU CONSUME (inputs from others)</a:t>
            </a:r>
          </a:p>
          <a:p>
            <a:pPr lvl="1">
              <a:spcAft>
                <a:spcPts val="400"/>
              </a:spcAft>
            </a:pPr>
            <a:r>
              <a:rPr sz="1200" b="0">
                <a:solidFill>
                  <a:srgbClr val="93A1B2"/>
                </a:solidFill>
                <a:latin typeface="Calibri"/>
              </a:rPr>
              <a:t>Fleet snapshot over WebSocket from M2 (~10 Hz); REST for tasks/scenarios/benchmarks; AuctionDecision.utility_breakdown for the Decision Inspector.</a:t>
            </a:r>
          </a:p>
          <a:p>
            <a:pPr>
              <a:spcAft>
                <a:spcPts val="400"/>
              </a:spcAft>
            </a:pPr>
          </a:p>
          <a:p>
            <a:pPr>
              <a:spcAft>
                <a:spcPts val="400"/>
              </a:spcAft>
            </a:pPr>
            <a:r>
              <a:rPr sz="1300" b="0">
                <a:solidFill>
                  <a:srgbClr val="E8ECF1"/>
                </a:solidFill>
                <a:latin typeface="Calibri"/>
              </a:rPr>
              <a:t>YOU PRODUCE (outputs others depend on)</a:t>
            </a:r>
          </a:p>
          <a:p>
            <a:pPr lvl="1">
              <a:spcAft>
                <a:spcPts val="400"/>
              </a:spcAft>
            </a:pPr>
            <a:r>
              <a:rPr sz="1200" b="0">
                <a:solidFill>
                  <a:srgbClr val="93A1B2"/>
                </a:solidFill>
                <a:latin typeface="Calibri"/>
              </a:rPr>
              <a:t>User actions: create task, start/stop scenario, inject fault, run benchmark, load replay.</a:t>
            </a:r>
          </a:p>
          <a:p>
            <a:pPr>
              <a:spcAft>
                <a:spcPts val="400"/>
              </a:spcAft>
            </a:pPr>
          </a:p>
          <a:p>
            <a:pPr>
              <a:spcAft>
                <a:spcPts val="400"/>
              </a:spcAft>
            </a:pPr>
            <a:r>
              <a:rPr sz="1300" b="1">
                <a:solidFill>
                  <a:srgbClr val="E8ECF1"/>
                </a:solidFill>
                <a:latin typeface="Calibri"/>
              </a:rPr>
              <a:t>STACK</a:t>
            </a:r>
          </a:p>
          <a:p>
            <a:pPr lvl="1">
              <a:spcAft>
                <a:spcPts val="400"/>
              </a:spcAft>
            </a:pPr>
            <a:r>
              <a:rPr sz="1200" b="0">
                <a:solidFill>
                  <a:srgbClr val="93A1B2"/>
                </a:solidFill>
                <a:latin typeface="Calibri"/>
              </a:rPr>
              <a:t>React 18 + TypeScript + Vite + Tailwind + PixiJS or Konva (map) + Recharts (charts)</a:t>
            </a:r>
          </a:p>
        </p:txBody>
      </p:sp>
      <p:sp>
        <p:nvSpPr>
          <p:cNvPr id="6" name="Rounded Rectangle 5"/>
          <p:cNvSpPr/>
          <p:nvPr/>
        </p:nvSpPr>
        <p:spPr>
          <a:xfrm>
            <a:off x="502920" y="6035040"/>
            <a:ext cx="11155680" cy="566928"/>
          </a:xfrm>
          <a:prstGeom prst="roundRect">
            <a:avLst/>
          </a:prstGeom>
          <a:solidFill>
            <a:srgbClr val="1B212A"/>
          </a:solidFill>
          <a:ln w="15875">
            <a:solidFill>
              <a:srgbClr val="3B9EF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a:lstStyle/>
          <a:p>
            <a:pPr algn="ctr">
              <a:spcAft>
                <a:spcPts val="400"/>
              </a:spcAft>
            </a:pPr>
            <a:r>
              <a:rPr sz="1200" b="1">
                <a:solidFill>
                  <a:srgbClr val="E8ECF1"/>
                </a:solidFill>
                <a:latin typeface="Calibri"/>
              </a:rPr>
              <a:t>All contracts are defined in docs/INTEGRATION_CONTRACTS.md. Change that file first, then your code.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B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M1 - Week by Week</a:t>
            </a:r>
          </a:p>
          <a:p>
            <a:pPr>
              <a:spcAft>
                <a:spcPts val="400"/>
              </a:spcAft>
            </a:pPr>
            <a:r>
              <a:rPr sz="1300" b="0">
                <a:solidFill>
                  <a:srgbClr val="93A1B2"/>
                </a:solidFill>
                <a:latin typeface="Calibri"/>
              </a:rPr>
              <a:t>Every week ends with something demo-visible</a:t>
            </a:r>
          </a:p>
        </p:txBody>
      </p:sp>
      <p:graphicFrame>
        <p:nvGraphicFramePr>
          <p:cNvPr id="4" name="Table 3"/>
          <p:cNvGraphicFramePr>
            <a:graphicFrameLocks noGrp="1"/>
          </p:cNvGraphicFramePr>
          <p:nvPr/>
        </p:nvGraphicFramePr>
        <p:xfrm>
          <a:off x="502920" y="1371600"/>
          <a:ext cx="11155680" cy="1755648"/>
        </p:xfrm>
        <a:graphic>
          <a:graphicData uri="http://schemas.openxmlformats.org/drawingml/2006/table">
            <a:tbl>
              <a:tblPr firstRow="1" bandRow="1">
                <a:tableStyleId>{5C22544A-7EE6-4342-B048-85BDC9FD1C3A}</a:tableStyleId>
              </a:tblPr>
              <a:tblGrid>
                <a:gridCol w="914400"/>
                <a:gridCol w="10241280"/>
              </a:tblGrid>
              <a:tr h="292608">
                <a:tc>
                  <a:txBody>
                    <a:bodyPr/>
                    <a:lstStyle/>
                    <a:p>
                      <a:r>
                        <a:rPr sz="1300" b="1">
                          <a:solidFill>
                            <a:srgbClr val="3B9EFF"/>
                          </a:solidFill>
                        </a:rPr>
                        <a:t>Week</a:t>
                      </a:r>
                    </a:p>
                  </a:txBody>
                  <a:tcPr>
                    <a:solidFill>
                      <a:srgbClr val="1B212A"/>
                    </a:solidFill>
                  </a:tcPr>
                </a:tc>
                <a:tc>
                  <a:txBody>
                    <a:bodyPr/>
                    <a:lstStyle/>
                    <a:p>
                      <a:r>
                        <a:rPr sz="1300" b="1">
                          <a:solidFill>
                            <a:srgbClr val="3B9EFF"/>
                          </a:solidFill>
                        </a:rPr>
                        <a:t>Deliverable</a:t>
                      </a:r>
                    </a:p>
                  </a:txBody>
                  <a:tcPr>
                    <a:solidFill>
                      <a:srgbClr val="1B212A"/>
                    </a:solidFill>
                  </a:tcPr>
                </a:tc>
              </a:tr>
              <a:tr h="292608">
                <a:tc>
                  <a:txBody>
                    <a:bodyPr/>
                    <a:lstStyle/>
                    <a:p>
                      <a:r>
                        <a:rPr sz="1300">
                          <a:solidFill>
                            <a:srgbClr val="E8ECF1"/>
                          </a:solidFill>
                        </a:rPr>
                        <a:t>W1</a:t>
                      </a:r>
                    </a:p>
                  </a:txBody>
                  <a:tcPr>
                    <a:solidFill>
                      <a:srgbClr val="12161C"/>
                    </a:solidFill>
                  </a:tcPr>
                </a:tc>
                <a:tc>
                  <a:txBody>
                    <a:bodyPr/>
                    <a:lstStyle/>
                    <a:p>
                      <a:r>
                        <a:rPr sz="1300">
                          <a:solidFill>
                            <a:srgbClr val="E8ECF1"/>
                          </a:solidFill>
                        </a:rPr>
                        <a:t>Static shell, routing, theme, mock-data map with 5 robots</a:t>
                      </a:r>
                    </a:p>
                  </a:txBody>
                  <a:tcPr>
                    <a:solidFill>
                      <a:srgbClr val="12161C"/>
                    </a:solidFill>
                  </a:tcPr>
                </a:tc>
              </a:tr>
              <a:tr h="292608">
                <a:tc>
                  <a:txBody>
                    <a:bodyPr/>
                    <a:lstStyle/>
                    <a:p>
                      <a:r>
                        <a:rPr sz="1300">
                          <a:solidFill>
                            <a:srgbClr val="E8ECF1"/>
                          </a:solidFill>
                        </a:rPr>
                        <a:t>W2</a:t>
                      </a:r>
                    </a:p>
                  </a:txBody>
                  <a:tcPr>
                    <a:solidFill>
                      <a:srgbClr val="1B212A"/>
                    </a:solidFill>
                  </a:tcPr>
                </a:tc>
                <a:tc>
                  <a:txBody>
                    <a:bodyPr/>
                    <a:lstStyle/>
                    <a:p>
                      <a:r>
                        <a:rPr sz="1300">
                          <a:solidFill>
                            <a:srgbClr val="E8ECF1"/>
                          </a:solidFill>
                        </a:rPr>
                        <a:t>Live WebSocket wiring, real robot movement on canvas, Fleet Overview</a:t>
                      </a:r>
                    </a:p>
                  </a:txBody>
                  <a:tcPr>
                    <a:solidFill>
                      <a:srgbClr val="1B212A"/>
                    </a:solidFill>
                  </a:tcPr>
                </a:tc>
              </a:tr>
              <a:tr h="292608">
                <a:tc>
                  <a:txBody>
                    <a:bodyPr/>
                    <a:lstStyle/>
                    <a:p>
                      <a:r>
                        <a:rPr sz="1300">
                          <a:solidFill>
                            <a:srgbClr val="E8ECF1"/>
                          </a:solidFill>
                        </a:rPr>
                        <a:t>W3</a:t>
                      </a:r>
                    </a:p>
                  </a:txBody>
                  <a:tcPr>
                    <a:solidFill>
                      <a:srgbClr val="12161C"/>
                    </a:solidFill>
                  </a:tcPr>
                </a:tc>
                <a:tc>
                  <a:txBody>
                    <a:bodyPr/>
                    <a:lstStyle/>
                    <a:p>
                      <a:r>
                        <a:rPr sz="1300">
                          <a:solidFill>
                            <a:srgbClr val="E8ECF1"/>
                          </a:solidFill>
                        </a:rPr>
                        <a:t>Decision Inspector + Incident Center on real coordination data</a:t>
                      </a:r>
                    </a:p>
                  </a:txBody>
                  <a:tcPr>
                    <a:solidFill>
                      <a:srgbClr val="12161C"/>
                    </a:solidFill>
                  </a:tcPr>
                </a:tc>
              </a:tr>
              <a:tr h="292608">
                <a:tc>
                  <a:txBody>
                    <a:bodyPr/>
                    <a:lstStyle/>
                    <a:p>
                      <a:r>
                        <a:rPr sz="1300">
                          <a:solidFill>
                            <a:srgbClr val="E8ECF1"/>
                          </a:solidFill>
                        </a:rPr>
                        <a:t>W4</a:t>
                      </a:r>
                    </a:p>
                  </a:txBody>
                  <a:tcPr>
                    <a:solidFill>
                      <a:srgbClr val="1B212A"/>
                    </a:solidFill>
                  </a:tcPr>
                </a:tc>
                <a:tc>
                  <a:txBody>
                    <a:bodyPr/>
                    <a:lstStyle/>
                    <a:p>
                      <a:r>
                        <a:rPr sz="1300">
                          <a:solidFill>
                            <a:srgbClr val="E8ECF1"/>
                          </a:solidFill>
                        </a:rPr>
                        <a:t>Benchmark Center + Replay scrubber</a:t>
                      </a:r>
                    </a:p>
                  </a:txBody>
                  <a:tcPr>
                    <a:solidFill>
                      <a:srgbClr val="1B212A"/>
                    </a:solidFill>
                  </a:tcPr>
                </a:tc>
              </a:tr>
              <a:tr h="292608">
                <a:tc>
                  <a:txBody>
                    <a:bodyPr/>
                    <a:lstStyle/>
                    <a:p>
                      <a:r>
                        <a:rPr sz="1300">
                          <a:solidFill>
                            <a:srgbClr val="E8ECF1"/>
                          </a:solidFill>
                        </a:rPr>
                        <a:t>W5</a:t>
                      </a:r>
                    </a:p>
                  </a:txBody>
                  <a:tcPr>
                    <a:solidFill>
                      <a:srgbClr val="12161C"/>
                    </a:solidFill>
                  </a:tcPr>
                </a:tc>
                <a:tc>
                  <a:txBody>
                    <a:bodyPr/>
                    <a:lstStyle/>
                    <a:p>
                      <a:r>
                        <a:rPr sz="1300">
                          <a:solidFill>
                            <a:srgbClr val="E8ECF1"/>
                          </a:solidFill>
                        </a:rPr>
                        <a:t>50-robot performance pass, polish, demo rehearsal</a:t>
                      </a:r>
                    </a:p>
                  </a:txBody>
                  <a:tcPr>
                    <a:solidFill>
                      <a:srgbClr val="12161C"/>
                    </a:solidFill>
                  </a:tcPr>
                </a:tc>
              </a:tr>
            </a:tbl>
          </a:graphicData>
        </a:graphic>
      </p:graphicFrame>
      <p:sp>
        <p:nvSpPr>
          <p:cNvPr id="5" name="TextBox 4"/>
          <p:cNvSpPr txBox="1"/>
          <p:nvPr/>
        </p:nvSpPr>
        <p:spPr>
          <a:xfrm>
            <a:off x="502920" y="3931920"/>
            <a:ext cx="11155680" cy="5120640"/>
          </a:xfrm>
          <a:prstGeom prst="rect">
            <a:avLst/>
          </a:prstGeom>
          <a:noFill/>
        </p:spPr>
        <p:txBody>
          <a:bodyPr wrap="square">
            <a:spAutoFit/>
          </a:bodyPr>
          <a:lstStyle/>
          <a:p>
            <a:pPr>
              <a:spcAft>
                <a:spcPts val="600"/>
              </a:spcAft>
            </a:pPr>
            <a:r>
              <a:rPr sz="1300" b="0">
                <a:solidFill>
                  <a:srgbClr val="E8ECF1"/>
                </a:solidFill>
                <a:latin typeface="Calibri"/>
              </a:rPr>
              <a:t>Rules that apply to everyone:</a:t>
            </a:r>
          </a:p>
          <a:p>
            <a:pPr lvl="1">
              <a:spcAft>
                <a:spcPts val="600"/>
              </a:spcAft>
            </a:pPr>
            <a:r>
              <a:rPr sz="1200" b="0">
                <a:solidFill>
                  <a:srgbClr val="93A1B2"/>
                </a:solidFill>
                <a:latin typeface="Calibri"/>
              </a:rPr>
              <a:t>Nothing is 'done' until it runs in the integrated demo.</a:t>
            </a:r>
          </a:p>
          <a:p>
            <a:pPr lvl="1">
              <a:spcAft>
                <a:spcPts val="600"/>
              </a:spcAft>
            </a:pPr>
            <a:r>
              <a:rPr sz="1200" b="0">
                <a:solidFill>
                  <a:srgbClr val="93A1B2"/>
                </a:solidFill>
                <a:latin typeface="Calibri"/>
              </a:rPr>
              <a:t>Commit small and often. Never break main.</a:t>
            </a:r>
          </a:p>
          <a:p>
            <a:pPr lvl="1">
              <a:spcAft>
                <a:spcPts val="600"/>
              </a:spcAft>
            </a:pPr>
            <a:r>
              <a:rPr sz="1200" b="0">
                <a:solidFill>
                  <a:srgbClr val="93A1B2"/>
                </a:solidFill>
                <a:latin typeface="Calibri"/>
              </a:rPr>
              <a:t>If you are blocked for more than half a day, say so immediately.</a:t>
            </a:r>
          </a:p>
          <a:p>
            <a:pPr lvl="1">
              <a:spcAft>
                <a:spcPts val="600"/>
              </a:spcAft>
            </a:pPr>
            <a:r>
              <a:rPr sz="1200" b="0">
                <a:solidFill>
                  <a:srgbClr val="93A1B2"/>
                </a:solidFill>
                <a:latin typeface="Calibri"/>
              </a:rPr>
              <a:t>No secrets in code, docs, commits or screenshots. Ever.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B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M1 - Your Q&amp;A Defence</a:t>
            </a:r>
          </a:p>
          <a:p>
            <a:pPr>
              <a:spcAft>
                <a:spcPts val="400"/>
              </a:spcAft>
            </a:pPr>
            <a:r>
              <a:rPr sz="1300" b="0">
                <a:solidFill>
                  <a:srgbClr val="93A1B2"/>
                </a:solidFill>
                <a:latin typeface="Calibri"/>
              </a:rPr>
              <a:t>SIH judges question members individually. Know these cold.</a:t>
            </a:r>
          </a:p>
        </p:txBody>
      </p:sp>
      <p:sp>
        <p:nvSpPr>
          <p:cNvPr id="4" name="TextBox 3"/>
          <p:cNvSpPr txBox="1"/>
          <p:nvPr/>
        </p:nvSpPr>
        <p:spPr>
          <a:xfrm>
            <a:off x="502920" y="1188720"/>
            <a:ext cx="11155680" cy="5394960"/>
          </a:xfrm>
          <a:prstGeom prst="rect">
            <a:avLst/>
          </a:prstGeom>
          <a:noFill/>
        </p:spPr>
        <p:txBody>
          <a:bodyPr wrap="square">
            <a:spAutoFit/>
          </a:bodyPr>
          <a:lstStyle/>
          <a:p>
            <a:pPr>
              <a:spcAft>
                <a:spcPts val="700"/>
              </a:spcAft>
            </a:pPr>
            <a:r>
              <a:rPr sz="1200" b="0">
                <a:solidFill>
                  <a:srgbClr val="3B9EFF"/>
                </a:solidFill>
                <a:latin typeface="Calibri"/>
              </a:rPr>
              <a:t>Q: How do you render 50+ robots at 30 fps without React re-rendering everything?</a:t>
            </a:r>
          </a:p>
          <a:p>
            <a:pPr lvl="1">
              <a:spcAft>
                <a:spcPts val="700"/>
              </a:spcAft>
            </a:pPr>
            <a:r>
              <a:rPr sz="1100" b="0">
                <a:solidFill>
                  <a:srgbClr val="93A1B2"/>
                </a:solidFill>
                <a:latin typeface="Calibri"/>
              </a:rPr>
              <a:t>A: High-frequency map state never enters React state. The socket writes into a mutable ref and the canvas renders from a requestAnimationFrame loop. Only low-frequency aggregates (KPIs, incident counts) are React state.</a:t>
            </a:r>
          </a:p>
          <a:p>
            <a:pPr>
              <a:spcAft>
                <a:spcPts val="700"/>
              </a:spcAft>
            </a:pPr>
            <a:r>
              <a:rPr sz="1200" b="0">
                <a:solidFill>
                  <a:srgbClr val="3B9EFF"/>
                </a:solidFill>
                <a:latin typeface="Calibri"/>
              </a:rPr>
              <a:t>Q: Is the Decision Inspector generated text?</a:t>
            </a:r>
          </a:p>
          <a:p>
            <a:pPr lvl="1">
              <a:spcAft>
                <a:spcPts val="700"/>
              </a:spcAft>
            </a:pPr>
            <a:r>
              <a:rPr sz="1100" b="0">
                <a:solidFill>
                  <a:srgbClr val="93A1B2"/>
                </a:solidFill>
                <a:latin typeface="Calibri"/>
              </a:rPr>
              <a:t>A: No. It renders the actual UtilityBreakdown numbers computed by the coordination engine - six weighted components and their sum. No LLM, no prose generation.</a:t>
            </a:r>
          </a:p>
          <a:p>
            <a:pPr>
              <a:spcAft>
                <a:spcPts val="700"/>
              </a:spcAft>
            </a:pPr>
            <a:r>
              <a:rPr sz="1200" b="0">
                <a:solidFill>
                  <a:srgbClr val="3B9EFF"/>
                </a:solidFill>
                <a:latin typeface="Calibri"/>
              </a:rPr>
              <a:t>Q: What happens to the UI if the backend dies mid-demo?</a:t>
            </a:r>
          </a:p>
          <a:p>
            <a:pPr lvl="1">
              <a:spcAft>
                <a:spcPts val="700"/>
              </a:spcAft>
            </a:pPr>
            <a:r>
              <a:rPr sz="1100" b="0">
                <a:solidFill>
                  <a:srgbClr val="93A1B2"/>
                </a:solidFill>
                <a:latin typeface="Calibri"/>
              </a:rPr>
              <a:t>A: The socket layer detects disconnect, the UI switches to a DEGRADED banner and keeps showing last-known state instead of blanking. This mirrors the system's own degraded-mode story.</a:t>
            </a:r>
          </a:p>
          <a:p>
            <a:pPr>
              <a:spcAft>
                <a:spcPts val="700"/>
              </a:spcAft>
            </a:pPr>
            <a:r>
              <a:rPr sz="1200" b="0">
                <a:solidFill>
                  <a:srgbClr val="3B9EFF"/>
                </a:solidFill>
                <a:latin typeface="Calibri"/>
              </a:rPr>
              <a:t>Q: Why dark theme?</a:t>
            </a:r>
          </a:p>
          <a:p>
            <a:pPr lvl="1">
              <a:spcAft>
                <a:spcPts val="700"/>
              </a:spcAft>
            </a:pPr>
            <a:r>
              <a:rPr sz="1100" b="0">
                <a:solidFill>
                  <a:srgbClr val="93A1B2"/>
                </a:solidFill>
                <a:latin typeface="Calibri"/>
              </a:rPr>
              <a:t>A: It is an industrial command-centre convention - reduces eye strain in control rooms and makes semantic state colours (green/amber/red) read clearly. It is a functional choice, not decoration.</a:t>
            </a:r>
          </a:p>
          <a:p>
            <a:pPr>
              <a:spcAft>
                <a:spcPts val="700"/>
              </a:spcAft>
            </a:pPr>
            <a:r>
              <a:rPr sz="1200" b="0">
                <a:solidFill>
                  <a:srgbClr val="3B9EFF"/>
                </a:solidFill>
                <a:latin typeface="Calibri"/>
              </a:rPr>
              <a:t>Q: How does a judge verify zero collisions?</a:t>
            </a:r>
          </a:p>
          <a:p>
            <a:pPr lvl="1">
              <a:spcAft>
                <a:spcPts val="700"/>
              </a:spcAft>
            </a:pPr>
            <a:r>
              <a:rPr sz="1100" b="0">
                <a:solidFill>
                  <a:srgbClr val="93A1B2"/>
                </a:solidFill>
                <a:latin typeface="Calibri"/>
              </a:rPr>
              <a:t>A: The Fleet Overview carries a live collision counter fed from the simulator's own collision check, and the Replay screen lets you re-examine any moment of the run.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5C7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M2 - Backend / Integration Owner</a:t>
            </a:r>
          </a:p>
          <a:p>
            <a:pPr>
              <a:spcAft>
                <a:spcPts val="400"/>
              </a:spcAft>
            </a:pPr>
            <a:r>
              <a:rPr sz="1300" b="0">
                <a:solidFill>
                  <a:srgbClr val="93A1B2"/>
                </a:solidFill>
                <a:latin typeface="Calibri"/>
              </a:rPr>
              <a:t>Your mission and the features you own</a:t>
            </a:r>
          </a:p>
        </p:txBody>
      </p:sp>
      <p:sp>
        <p:nvSpPr>
          <p:cNvPr id="4" name="Rounded Rectangle 3"/>
          <p:cNvSpPr/>
          <p:nvPr/>
        </p:nvSpPr>
        <p:spPr>
          <a:xfrm>
            <a:off x="502920" y="1188720"/>
            <a:ext cx="11155680" cy="731520"/>
          </a:xfrm>
          <a:prstGeom prst="roundRect">
            <a:avLst/>
          </a:prstGeom>
          <a:solidFill>
            <a:srgbClr val="1B212A"/>
          </a:solidFill>
          <a:ln w="15875">
            <a:solidFill>
              <a:srgbClr val="35C78A"/>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91440"/>
          <a:lstStyle/>
          <a:p>
            <a:pPr algn="ctr">
              <a:spcAft>
                <a:spcPts val="400"/>
              </a:spcAft>
            </a:pPr>
            <a:r>
              <a:rPr sz="1400" b="1">
                <a:solidFill>
                  <a:srgbClr val="E8ECF1"/>
                </a:solidFill>
                <a:latin typeface="Calibri"/>
              </a:rPr>
              <a:t>Own the FastAPI service AND the integration seam: one command must boot the entire demo.</a:t>
            </a:r>
          </a:p>
        </p:txBody>
      </p:sp>
      <p:sp>
        <p:nvSpPr>
          <p:cNvPr id="5" name="TextBox 4"/>
          <p:cNvSpPr txBox="1"/>
          <p:nvPr/>
        </p:nvSpPr>
        <p:spPr>
          <a:xfrm>
            <a:off x="502920" y="2148840"/>
            <a:ext cx="11155680" cy="5120640"/>
          </a:xfrm>
          <a:prstGeom prst="rect">
            <a:avLst/>
          </a:prstGeom>
          <a:noFill/>
        </p:spPr>
        <p:txBody>
          <a:bodyPr wrap="square">
            <a:spAutoFit/>
          </a:bodyPr>
          <a:lstStyle/>
          <a:p>
            <a:pPr>
              <a:spcAft>
                <a:spcPts val="500"/>
              </a:spcAft>
            </a:pPr>
            <a:r>
              <a:rPr sz="1400" b="0">
                <a:solidFill>
                  <a:srgbClr val="E8ECF1"/>
                </a:solidFill>
                <a:latin typeface="Calibri"/>
              </a:rPr>
              <a:t>FastAPI service: REST + WebSocket, OpenAPI schema as the contract</a:t>
            </a:r>
          </a:p>
          <a:p>
            <a:pPr>
              <a:spcAft>
                <a:spcPts val="500"/>
              </a:spcAft>
            </a:pPr>
            <a:r>
              <a:rPr sz="1400" b="0">
                <a:solidFill>
                  <a:srgbClr val="E8ECF1"/>
                </a:solidFill>
                <a:latin typeface="Calibri"/>
              </a:rPr>
              <a:t>WebSocket fleet telemetry fan-out at ~10 Hz</a:t>
            </a:r>
          </a:p>
          <a:p>
            <a:pPr>
              <a:spcAft>
                <a:spcPts val="500"/>
              </a:spcAft>
            </a:pPr>
            <a:r>
              <a:rPr sz="1400" b="0">
                <a:solidFill>
                  <a:srgbClr val="E8ECF1"/>
                </a:solidFill>
                <a:latin typeface="Calibri"/>
              </a:rPr>
              <a:t>Task / fleet management API (create, assign, track, complete)</a:t>
            </a:r>
          </a:p>
          <a:p>
            <a:pPr>
              <a:spcAft>
                <a:spcPts val="500"/>
              </a:spcAft>
            </a:pPr>
            <a:r>
              <a:rPr sz="1400" b="0">
                <a:solidFill>
                  <a:srgbClr val="E8ECF1"/>
                </a:solidFill>
                <a:latin typeface="Calibri"/>
              </a:rPr>
              <a:t>Simulation control API: start / pause / step / seed / scenario</a:t>
            </a:r>
          </a:p>
          <a:p>
            <a:pPr>
              <a:spcAft>
                <a:spcPts val="500"/>
              </a:spcAft>
            </a:pPr>
            <a:r>
              <a:rPr sz="1400" b="0">
                <a:solidFill>
                  <a:srgbClr val="E8ECF1"/>
                </a:solidFill>
                <a:latin typeface="Calibri"/>
              </a:rPr>
              <a:t>Fault injection API: kill robot, block aisle, drop packets, kill RMS</a:t>
            </a:r>
          </a:p>
          <a:p>
            <a:pPr>
              <a:spcAft>
                <a:spcPts val="500"/>
              </a:spcAft>
            </a:pPr>
            <a:r>
              <a:rPr sz="1400" b="0">
                <a:solidFill>
                  <a:srgbClr val="E8ECF1"/>
                </a:solidFill>
                <a:latin typeface="Calibri"/>
              </a:rPr>
              <a:t>Benchmark orchestration: run baseline + SWARMOS, return comparison</a:t>
            </a:r>
          </a:p>
          <a:p>
            <a:pPr>
              <a:spcAft>
                <a:spcPts val="500"/>
              </a:spcAft>
            </a:pPr>
            <a:r>
              <a:rPr sz="1400" b="0">
                <a:solidFill>
                  <a:srgbClr val="E8ECF1"/>
                </a:solidFill>
                <a:latin typeface="Calibri"/>
              </a:rPr>
              <a:t>INTEGRATION OWNER: docker-compose, single-command boot, smoke test</a:t>
            </a:r>
          </a:p>
          <a:p>
            <a:pPr>
              <a:spcAft>
                <a:spcPts val="500"/>
              </a:spcAft>
            </a:pPr>
            <a:r>
              <a:rPr sz="1400" b="0">
                <a:solidFill>
                  <a:srgbClr val="E8ECF1"/>
                </a:solidFill>
                <a:latin typeface="Calibri"/>
              </a:rPr>
              <a:t>OWNER of docs/INTEGRATION_CONTRACTS.md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5C7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M2 - Files and Interfaces</a:t>
            </a:r>
          </a:p>
          <a:p>
            <a:pPr>
              <a:spcAft>
                <a:spcPts val="400"/>
              </a:spcAft>
            </a:pPr>
            <a:r>
              <a:rPr sz="1300" b="0">
                <a:solidFill>
                  <a:srgbClr val="93A1B2"/>
                </a:solidFill>
                <a:latin typeface="Calibri"/>
              </a:rPr>
              <a:t>What you own on disk, and who you depend on</a:t>
            </a:r>
          </a:p>
        </p:txBody>
      </p:sp>
      <p:sp>
        <p:nvSpPr>
          <p:cNvPr id="4" name="TextBox 3"/>
          <p:cNvSpPr txBox="1"/>
          <p:nvPr/>
        </p:nvSpPr>
        <p:spPr>
          <a:xfrm>
            <a:off x="502920" y="1188720"/>
            <a:ext cx="11155680" cy="2286000"/>
          </a:xfrm>
          <a:prstGeom prst="rect">
            <a:avLst/>
          </a:prstGeom>
          <a:noFill/>
        </p:spPr>
        <p:txBody>
          <a:bodyPr wrap="square">
            <a:spAutoFit/>
          </a:bodyPr>
          <a:lstStyle/>
          <a:p>
            <a:pPr>
              <a:spcAft>
                <a:spcPts val="400"/>
              </a:spcAft>
            </a:pPr>
            <a:r>
              <a:rPr sz="1300" b="1">
                <a:solidFill>
                  <a:srgbClr val="35C78A"/>
                </a:solidFill>
                <a:latin typeface="Calibri"/>
              </a:rPr>
              <a:t>FILES YOU OWN</a:t>
            </a:r>
          </a:p>
          <a:p>
            <a:pPr>
              <a:spcAft>
                <a:spcPts val="200"/>
              </a:spcAft>
            </a:pPr>
            <a:r>
              <a:rPr sz="1100" b="0">
                <a:solidFill>
                  <a:srgbClr val="E8ECF1"/>
                </a:solidFill>
                <a:latin typeface="Consolas"/>
              </a:rPr>
              <a:t>app/api/main.py              (FastAPI app factory)</a:t>
            </a:r>
          </a:p>
          <a:p>
            <a:pPr>
              <a:spcAft>
                <a:spcPts val="200"/>
              </a:spcAft>
            </a:pPr>
            <a:r>
              <a:rPr sz="1100" b="0">
                <a:solidFill>
                  <a:srgbClr val="E8ECF1"/>
                </a:solidFill>
                <a:latin typeface="Consolas"/>
              </a:rPr>
              <a:t>app/api/routes/*.py          (robots, tasks, sim, benchmark, replay)</a:t>
            </a:r>
          </a:p>
          <a:p>
            <a:pPr>
              <a:spcAft>
                <a:spcPts val="200"/>
              </a:spcAft>
            </a:pPr>
            <a:r>
              <a:rPr sz="1100" b="0">
                <a:solidFill>
                  <a:srgbClr val="E8ECF1"/>
                </a:solidFill>
                <a:latin typeface="Consolas"/>
              </a:rPr>
              <a:t>app/api/ws.py                (fleet snapshot broadcaster)</a:t>
            </a:r>
          </a:p>
          <a:p>
            <a:pPr>
              <a:spcAft>
                <a:spcPts val="200"/>
              </a:spcAft>
            </a:pPr>
            <a:r>
              <a:rPr sz="1100" b="0">
                <a:solidFill>
                  <a:srgbClr val="E8ECF1"/>
                </a:solidFill>
                <a:latin typeface="Consolas"/>
              </a:rPr>
              <a:t>app/api/schemas.py           (pydantic request/response models)</a:t>
            </a:r>
          </a:p>
          <a:p>
            <a:pPr>
              <a:spcAft>
                <a:spcPts val="200"/>
              </a:spcAft>
            </a:pPr>
            <a:r>
              <a:rPr sz="1100" b="0">
                <a:solidFill>
                  <a:srgbClr val="E8ECF1"/>
                </a:solidFill>
                <a:latin typeface="Consolas"/>
              </a:rPr>
              <a:t>app/orchestrator.py          (drives sim + coordination + persistence)</a:t>
            </a:r>
          </a:p>
          <a:p>
            <a:pPr>
              <a:spcAft>
                <a:spcPts val="200"/>
              </a:spcAft>
            </a:pPr>
            <a:r>
              <a:rPr sz="1100" b="0">
                <a:solidFill>
                  <a:srgbClr val="E8ECF1"/>
                </a:solidFill>
                <a:latin typeface="Consolas"/>
              </a:rPr>
              <a:t>docker-compose.yml, Makefile, scripts/smoke_test.sh</a:t>
            </a:r>
          </a:p>
        </p:txBody>
      </p:sp>
      <p:sp>
        <p:nvSpPr>
          <p:cNvPr id="5" name="TextBox 4"/>
          <p:cNvSpPr txBox="1"/>
          <p:nvPr/>
        </p:nvSpPr>
        <p:spPr>
          <a:xfrm>
            <a:off x="502920" y="3657600"/>
            <a:ext cx="11155680" cy="5120640"/>
          </a:xfrm>
          <a:prstGeom prst="rect">
            <a:avLst/>
          </a:prstGeom>
          <a:noFill/>
        </p:spPr>
        <p:txBody>
          <a:bodyPr wrap="square">
            <a:spAutoFit/>
          </a:bodyPr>
          <a:lstStyle/>
          <a:p>
            <a:pPr>
              <a:spcAft>
                <a:spcPts val="400"/>
              </a:spcAft>
            </a:pPr>
            <a:r>
              <a:rPr sz="1300" b="0">
                <a:solidFill>
                  <a:srgbClr val="E8ECF1"/>
                </a:solidFill>
                <a:latin typeface="Calibri"/>
              </a:rPr>
              <a:t>YOU CONSUME (inputs from others)</a:t>
            </a:r>
          </a:p>
          <a:p>
            <a:pPr lvl="1">
              <a:spcAft>
                <a:spcPts val="400"/>
              </a:spcAft>
            </a:pPr>
            <a:r>
              <a:rPr sz="1200" b="0">
                <a:solidFill>
                  <a:srgbClr val="93A1B2"/>
                </a:solidFill>
                <a:latin typeface="Calibri"/>
              </a:rPr>
              <a:t>AMRState + tick events from M5; decisions/conflicts from M4; KPIs and replay frames from M6; advisories from M3.</a:t>
            </a:r>
          </a:p>
          <a:p>
            <a:pPr>
              <a:spcAft>
                <a:spcPts val="400"/>
              </a:spcAft>
            </a:pPr>
          </a:p>
          <a:p>
            <a:pPr>
              <a:spcAft>
                <a:spcPts val="400"/>
              </a:spcAft>
            </a:pPr>
            <a:r>
              <a:rPr sz="1300" b="0">
                <a:solidFill>
                  <a:srgbClr val="E8ECF1"/>
                </a:solidFill>
                <a:latin typeface="Calibri"/>
              </a:rPr>
              <a:t>YOU PRODUCE (outputs others depend on)</a:t>
            </a:r>
          </a:p>
          <a:p>
            <a:pPr lvl="1">
              <a:spcAft>
                <a:spcPts val="400"/>
              </a:spcAft>
            </a:pPr>
            <a:r>
              <a:rPr sz="1200" b="0">
                <a:solidFill>
                  <a:srgbClr val="93A1B2"/>
                </a:solidFill>
                <a:latin typeface="Calibri"/>
              </a:rPr>
              <a:t>Fleet snapshot (WebSocket), REST API for everything, event stream into M6's store.</a:t>
            </a:r>
          </a:p>
          <a:p>
            <a:pPr>
              <a:spcAft>
                <a:spcPts val="400"/>
              </a:spcAft>
            </a:pPr>
          </a:p>
          <a:p>
            <a:pPr>
              <a:spcAft>
                <a:spcPts val="400"/>
              </a:spcAft>
            </a:pPr>
            <a:r>
              <a:rPr sz="1300" b="1">
                <a:solidFill>
                  <a:srgbClr val="E8ECF1"/>
                </a:solidFill>
                <a:latin typeface="Calibri"/>
              </a:rPr>
              <a:t>STACK</a:t>
            </a:r>
          </a:p>
          <a:p>
            <a:pPr lvl="1">
              <a:spcAft>
                <a:spcPts val="400"/>
              </a:spcAft>
            </a:pPr>
            <a:r>
              <a:rPr sz="1200" b="0">
                <a:solidFill>
                  <a:srgbClr val="93A1B2"/>
                </a:solidFill>
                <a:latin typeface="Calibri"/>
              </a:rPr>
              <a:t>Python 3.11 + FastAPI + Uvicorn + Pydantic v2 (already in pyproject.toml). Docker Compose for the demo.</a:t>
            </a:r>
          </a:p>
        </p:txBody>
      </p:sp>
      <p:sp>
        <p:nvSpPr>
          <p:cNvPr id="6" name="Rounded Rectangle 5"/>
          <p:cNvSpPr/>
          <p:nvPr/>
        </p:nvSpPr>
        <p:spPr>
          <a:xfrm>
            <a:off x="502920" y="6035040"/>
            <a:ext cx="11155680" cy="566928"/>
          </a:xfrm>
          <a:prstGeom prst="roundRect">
            <a:avLst/>
          </a:prstGeom>
          <a:solidFill>
            <a:srgbClr val="1B212A"/>
          </a:solidFill>
          <a:ln w="15875">
            <a:solidFill>
              <a:srgbClr val="35C78A"/>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a:lstStyle/>
          <a:p>
            <a:pPr algn="ctr">
              <a:spcAft>
                <a:spcPts val="400"/>
              </a:spcAft>
            </a:pPr>
            <a:r>
              <a:rPr sz="1200" b="1">
                <a:solidFill>
                  <a:srgbClr val="E8ECF1"/>
                </a:solidFill>
                <a:latin typeface="Calibri"/>
              </a:rPr>
              <a:t>All contracts are defined in docs/INTEGRATION_CONTRACTS.md. Change that file first, then your code.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5C7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M2 - Week by Week</a:t>
            </a:r>
          </a:p>
          <a:p>
            <a:pPr>
              <a:spcAft>
                <a:spcPts val="400"/>
              </a:spcAft>
            </a:pPr>
            <a:r>
              <a:rPr sz="1300" b="0">
                <a:solidFill>
                  <a:srgbClr val="93A1B2"/>
                </a:solidFill>
                <a:latin typeface="Calibri"/>
              </a:rPr>
              <a:t>Every week ends with something demo-visible</a:t>
            </a:r>
          </a:p>
        </p:txBody>
      </p:sp>
      <p:graphicFrame>
        <p:nvGraphicFramePr>
          <p:cNvPr id="4" name="Table 3"/>
          <p:cNvGraphicFramePr>
            <a:graphicFrameLocks noGrp="1"/>
          </p:cNvGraphicFramePr>
          <p:nvPr/>
        </p:nvGraphicFramePr>
        <p:xfrm>
          <a:off x="502920" y="1371600"/>
          <a:ext cx="11155680" cy="1755648"/>
        </p:xfrm>
        <a:graphic>
          <a:graphicData uri="http://schemas.openxmlformats.org/drawingml/2006/table">
            <a:tbl>
              <a:tblPr firstRow="1" bandRow="1">
                <a:tableStyleId>{5C22544A-7EE6-4342-B048-85BDC9FD1C3A}</a:tableStyleId>
              </a:tblPr>
              <a:tblGrid>
                <a:gridCol w="914400"/>
                <a:gridCol w="10241280"/>
              </a:tblGrid>
              <a:tr h="292608">
                <a:tc>
                  <a:txBody>
                    <a:bodyPr/>
                    <a:lstStyle/>
                    <a:p>
                      <a:r>
                        <a:rPr sz="1300" b="1">
                          <a:solidFill>
                            <a:srgbClr val="3B9EFF"/>
                          </a:solidFill>
                        </a:rPr>
                        <a:t>Week</a:t>
                      </a:r>
                    </a:p>
                  </a:txBody>
                  <a:tcPr>
                    <a:solidFill>
                      <a:srgbClr val="1B212A"/>
                    </a:solidFill>
                  </a:tcPr>
                </a:tc>
                <a:tc>
                  <a:txBody>
                    <a:bodyPr/>
                    <a:lstStyle/>
                    <a:p>
                      <a:r>
                        <a:rPr sz="1300" b="1">
                          <a:solidFill>
                            <a:srgbClr val="3B9EFF"/>
                          </a:solidFill>
                        </a:rPr>
                        <a:t>Deliverable</a:t>
                      </a:r>
                    </a:p>
                  </a:txBody>
                  <a:tcPr>
                    <a:solidFill>
                      <a:srgbClr val="1B212A"/>
                    </a:solidFill>
                  </a:tcPr>
                </a:tc>
              </a:tr>
              <a:tr h="292608">
                <a:tc>
                  <a:txBody>
                    <a:bodyPr/>
                    <a:lstStyle/>
                    <a:p>
                      <a:r>
                        <a:rPr sz="1300">
                          <a:solidFill>
                            <a:srgbClr val="E8ECF1"/>
                          </a:solidFill>
                        </a:rPr>
                        <a:t>W1</a:t>
                      </a:r>
                    </a:p>
                  </a:txBody>
                  <a:tcPr>
                    <a:solidFill>
                      <a:srgbClr val="12161C"/>
                    </a:solidFill>
                  </a:tcPr>
                </a:tc>
                <a:tc>
                  <a:txBody>
                    <a:bodyPr/>
                    <a:lstStyle/>
                    <a:p>
                      <a:r>
                        <a:rPr sz="1300">
                          <a:solidFill>
                            <a:srgbClr val="E8ECF1"/>
                          </a:solidFill>
                        </a:rPr>
                        <a:t>App skeleton, /health, robot list from a stub sim, OpenAPI live</a:t>
                      </a:r>
                    </a:p>
                  </a:txBody>
                  <a:tcPr>
                    <a:solidFill>
                      <a:srgbClr val="12161C"/>
                    </a:solidFill>
                  </a:tcPr>
                </a:tc>
              </a:tr>
              <a:tr h="292608">
                <a:tc>
                  <a:txBody>
                    <a:bodyPr/>
                    <a:lstStyle/>
                    <a:p>
                      <a:r>
                        <a:rPr sz="1300">
                          <a:solidFill>
                            <a:srgbClr val="E8ECF1"/>
                          </a:solidFill>
                        </a:rPr>
                        <a:t>W2</a:t>
                      </a:r>
                    </a:p>
                  </a:txBody>
                  <a:tcPr>
                    <a:solidFill>
                      <a:srgbClr val="1B212A"/>
                    </a:solidFill>
                  </a:tcPr>
                </a:tc>
                <a:tc>
                  <a:txBody>
                    <a:bodyPr/>
                    <a:lstStyle/>
                    <a:p>
                      <a:r>
                        <a:rPr sz="1300">
                          <a:solidFill>
                            <a:srgbClr val="E8ECF1"/>
                          </a:solidFill>
                        </a:rPr>
                        <a:t>Real orchestrator loop: sim tick -&gt; coordination -&gt; snapshot -&gt; WS</a:t>
                      </a:r>
                    </a:p>
                  </a:txBody>
                  <a:tcPr>
                    <a:solidFill>
                      <a:srgbClr val="1B212A"/>
                    </a:solidFill>
                  </a:tcPr>
                </a:tc>
              </a:tr>
              <a:tr h="292608">
                <a:tc>
                  <a:txBody>
                    <a:bodyPr/>
                    <a:lstStyle/>
                    <a:p>
                      <a:r>
                        <a:rPr sz="1300">
                          <a:solidFill>
                            <a:srgbClr val="E8ECF1"/>
                          </a:solidFill>
                        </a:rPr>
                        <a:t>W3</a:t>
                      </a:r>
                    </a:p>
                  </a:txBody>
                  <a:tcPr>
                    <a:solidFill>
                      <a:srgbClr val="12161C"/>
                    </a:solidFill>
                  </a:tcPr>
                </a:tc>
                <a:tc>
                  <a:txBody>
                    <a:bodyPr/>
                    <a:lstStyle/>
                    <a:p>
                      <a:r>
                        <a:rPr sz="1300">
                          <a:solidFill>
                            <a:srgbClr val="E8ECF1"/>
                          </a:solidFill>
                        </a:rPr>
                        <a:t>Task API + simulation control + fault injection endpoints</a:t>
                      </a:r>
                    </a:p>
                  </a:txBody>
                  <a:tcPr>
                    <a:solidFill>
                      <a:srgbClr val="12161C"/>
                    </a:solidFill>
                  </a:tcPr>
                </a:tc>
              </a:tr>
              <a:tr h="292608">
                <a:tc>
                  <a:txBody>
                    <a:bodyPr/>
                    <a:lstStyle/>
                    <a:p>
                      <a:r>
                        <a:rPr sz="1300">
                          <a:solidFill>
                            <a:srgbClr val="E8ECF1"/>
                          </a:solidFill>
                        </a:rPr>
                        <a:t>W4</a:t>
                      </a:r>
                    </a:p>
                  </a:txBody>
                  <a:tcPr>
                    <a:solidFill>
                      <a:srgbClr val="1B212A"/>
                    </a:solidFill>
                  </a:tcPr>
                </a:tc>
                <a:tc>
                  <a:txBody>
                    <a:bodyPr/>
                    <a:lstStyle/>
                    <a:p>
                      <a:r>
                        <a:rPr sz="1300">
                          <a:solidFill>
                            <a:srgbClr val="E8ECF1"/>
                          </a:solidFill>
                        </a:rPr>
                        <a:t>Benchmark orchestration endpoint + replay endpoints</a:t>
                      </a:r>
                    </a:p>
                  </a:txBody>
                  <a:tcPr>
                    <a:solidFill>
                      <a:srgbClr val="1B212A"/>
                    </a:solidFill>
                  </a:tcPr>
                </a:tc>
              </a:tr>
              <a:tr h="292608">
                <a:tc>
                  <a:txBody>
                    <a:bodyPr/>
                    <a:lstStyle/>
                    <a:p>
                      <a:r>
                        <a:rPr sz="1300">
                          <a:solidFill>
                            <a:srgbClr val="E8ECF1"/>
                          </a:solidFill>
                        </a:rPr>
                        <a:t>W5</a:t>
                      </a:r>
                    </a:p>
                  </a:txBody>
                  <a:tcPr>
                    <a:solidFill>
                      <a:srgbClr val="12161C"/>
                    </a:solidFill>
                  </a:tcPr>
                </a:tc>
                <a:tc>
                  <a:txBody>
                    <a:bodyPr/>
                    <a:lstStyle/>
                    <a:p>
                      <a:r>
                        <a:rPr sz="1300">
                          <a:solidFill>
                            <a:srgbClr val="E8ECF1"/>
                          </a:solidFill>
                        </a:rPr>
                        <a:t>docker-compose one-command boot, smoke test, hardening</a:t>
                      </a:r>
                    </a:p>
                  </a:txBody>
                  <a:tcPr>
                    <a:solidFill>
                      <a:srgbClr val="12161C"/>
                    </a:solidFill>
                  </a:tcPr>
                </a:tc>
              </a:tr>
            </a:tbl>
          </a:graphicData>
        </a:graphic>
      </p:graphicFrame>
      <p:sp>
        <p:nvSpPr>
          <p:cNvPr id="5" name="TextBox 4"/>
          <p:cNvSpPr txBox="1"/>
          <p:nvPr/>
        </p:nvSpPr>
        <p:spPr>
          <a:xfrm>
            <a:off x="502920" y="3931920"/>
            <a:ext cx="11155680" cy="5120640"/>
          </a:xfrm>
          <a:prstGeom prst="rect">
            <a:avLst/>
          </a:prstGeom>
          <a:noFill/>
        </p:spPr>
        <p:txBody>
          <a:bodyPr wrap="square">
            <a:spAutoFit/>
          </a:bodyPr>
          <a:lstStyle/>
          <a:p>
            <a:pPr>
              <a:spcAft>
                <a:spcPts val="600"/>
              </a:spcAft>
            </a:pPr>
            <a:r>
              <a:rPr sz="1300" b="0">
                <a:solidFill>
                  <a:srgbClr val="E8ECF1"/>
                </a:solidFill>
                <a:latin typeface="Calibri"/>
              </a:rPr>
              <a:t>Rules that apply to everyone:</a:t>
            </a:r>
          </a:p>
          <a:p>
            <a:pPr lvl="1">
              <a:spcAft>
                <a:spcPts val="600"/>
              </a:spcAft>
            </a:pPr>
            <a:r>
              <a:rPr sz="1200" b="0">
                <a:solidFill>
                  <a:srgbClr val="93A1B2"/>
                </a:solidFill>
                <a:latin typeface="Calibri"/>
              </a:rPr>
              <a:t>Nothing is 'done' until it runs in the integrated demo.</a:t>
            </a:r>
          </a:p>
          <a:p>
            <a:pPr lvl="1">
              <a:spcAft>
                <a:spcPts val="600"/>
              </a:spcAft>
            </a:pPr>
            <a:r>
              <a:rPr sz="1200" b="0">
                <a:solidFill>
                  <a:srgbClr val="93A1B2"/>
                </a:solidFill>
                <a:latin typeface="Calibri"/>
              </a:rPr>
              <a:t>Commit small and often. Never break main.</a:t>
            </a:r>
          </a:p>
          <a:p>
            <a:pPr lvl="1">
              <a:spcAft>
                <a:spcPts val="600"/>
              </a:spcAft>
            </a:pPr>
            <a:r>
              <a:rPr sz="1200" b="0">
                <a:solidFill>
                  <a:srgbClr val="93A1B2"/>
                </a:solidFill>
                <a:latin typeface="Calibri"/>
              </a:rPr>
              <a:t>If you are blocked for more than half a day, say so immediately.</a:t>
            </a:r>
          </a:p>
          <a:p>
            <a:pPr lvl="1">
              <a:spcAft>
                <a:spcPts val="600"/>
              </a:spcAft>
            </a:pPr>
            <a:r>
              <a:rPr sz="1200" b="0">
                <a:solidFill>
                  <a:srgbClr val="93A1B2"/>
                </a:solidFill>
                <a:latin typeface="Calibri"/>
              </a:rPr>
              <a:t>No secrets in code, docs, commits or screenshots. Ever.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5C7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M2 - Your Q&amp;A Defence</a:t>
            </a:r>
          </a:p>
          <a:p>
            <a:pPr>
              <a:spcAft>
                <a:spcPts val="400"/>
              </a:spcAft>
            </a:pPr>
            <a:r>
              <a:rPr sz="1300" b="0">
                <a:solidFill>
                  <a:srgbClr val="93A1B2"/>
                </a:solidFill>
                <a:latin typeface="Calibri"/>
              </a:rPr>
              <a:t>SIH judges question members individually. Know these cold.</a:t>
            </a:r>
          </a:p>
        </p:txBody>
      </p:sp>
      <p:sp>
        <p:nvSpPr>
          <p:cNvPr id="4" name="TextBox 3"/>
          <p:cNvSpPr txBox="1"/>
          <p:nvPr/>
        </p:nvSpPr>
        <p:spPr>
          <a:xfrm>
            <a:off x="502920" y="1188720"/>
            <a:ext cx="11155680" cy="5394960"/>
          </a:xfrm>
          <a:prstGeom prst="rect">
            <a:avLst/>
          </a:prstGeom>
          <a:noFill/>
        </p:spPr>
        <p:txBody>
          <a:bodyPr wrap="square">
            <a:spAutoFit/>
          </a:bodyPr>
          <a:lstStyle/>
          <a:p>
            <a:pPr>
              <a:spcAft>
                <a:spcPts val="700"/>
              </a:spcAft>
            </a:pPr>
            <a:r>
              <a:rPr sz="1200" b="0">
                <a:solidFill>
                  <a:srgbClr val="35C78A"/>
                </a:solidFill>
                <a:latin typeface="Calibri"/>
              </a:rPr>
              <a:t>Q: You call this decentralized, but you have a central FastAPI server. Explain.</a:t>
            </a:r>
          </a:p>
          <a:p>
            <a:pPr lvl="1">
              <a:spcAft>
                <a:spcPts val="700"/>
              </a:spcAft>
            </a:pPr>
            <a:r>
              <a:rPr sz="1100" b="0">
                <a:solidFill>
                  <a:srgbClr val="93A1B2"/>
                </a:solidFill>
                <a:latin typeface="Calibri"/>
              </a:rPr>
              <a:t>A: The architecture is deliberately hybrid. FastAPI serves orchestration, monitoring and analytics. Time-critical collision avoidance runs in the coordination engine instances, which do not require the server. We demonstrate this by killing the RMS mid-run while the fleet keeps coordinating.</a:t>
            </a:r>
          </a:p>
          <a:p>
            <a:pPr>
              <a:spcAft>
                <a:spcPts val="700"/>
              </a:spcAft>
            </a:pPr>
            <a:r>
              <a:rPr sz="1200" b="0">
                <a:solidFill>
                  <a:srgbClr val="35C78A"/>
                </a:solidFill>
                <a:latin typeface="Calibri"/>
              </a:rPr>
              <a:t>Q: How do six modules stay compatible?</a:t>
            </a:r>
          </a:p>
          <a:p>
            <a:pPr lvl="1">
              <a:spcAft>
                <a:spcPts val="700"/>
              </a:spcAft>
            </a:pPr>
            <a:r>
              <a:rPr sz="1100" b="0">
                <a:solidFill>
                  <a:srgbClr val="93A1B2"/>
                </a:solidFill>
                <a:latin typeface="Calibri"/>
              </a:rPr>
              <a:t>A: One document, docs/INTEGRATION_CONTRACTS.md, defines every interface, plus the FastAPI OpenAPI schema is generated from Pydantic models so the frontend types cannot drift silently.</a:t>
            </a:r>
          </a:p>
          <a:p>
            <a:pPr>
              <a:spcAft>
                <a:spcPts val="700"/>
              </a:spcAft>
            </a:pPr>
            <a:r>
              <a:rPr sz="1200" b="0">
                <a:solidFill>
                  <a:srgbClr val="35C78A"/>
                </a:solidFill>
                <a:latin typeface="Calibri"/>
              </a:rPr>
              <a:t>Q: How do you push 50 robots at 10 Hz without saturating the socket?</a:t>
            </a:r>
          </a:p>
          <a:p>
            <a:pPr lvl="1">
              <a:spcAft>
                <a:spcPts val="700"/>
              </a:spcAft>
            </a:pPr>
            <a:r>
              <a:rPr sz="1100" b="0">
                <a:solidFill>
                  <a:srgbClr val="93A1B2"/>
                </a:solidFill>
                <a:latin typeface="Calibri"/>
              </a:rPr>
              <a:t>A: The snapshot is diff-friendly and capped: full state on connect, then per-tick payloads. If a client lags we drop intermediate frames rather than queue them - freshness beats completeness for a live map.</a:t>
            </a:r>
          </a:p>
          <a:p>
            <a:pPr>
              <a:spcAft>
                <a:spcPts val="700"/>
              </a:spcAft>
            </a:pPr>
            <a:r>
              <a:rPr sz="1200" b="0">
                <a:solidFill>
                  <a:srgbClr val="35C78A"/>
                </a:solidFill>
                <a:latin typeface="Calibri"/>
              </a:rPr>
              <a:t>Q: What is your single point of failure?</a:t>
            </a:r>
          </a:p>
          <a:p>
            <a:pPr lvl="1">
              <a:spcAft>
                <a:spcPts val="700"/>
              </a:spcAft>
            </a:pPr>
            <a:r>
              <a:rPr sz="1100" b="0">
                <a:solidFill>
                  <a:srgbClr val="93A1B2"/>
                </a:solidFill>
                <a:latin typeface="Calibri"/>
              </a:rPr>
              <a:t>A: The orchestrator process, for the dashboard path only. Coordination decisions are computed by the engine instances. We state this limit openly rather than claiming full decentralisation.</a:t>
            </a:r>
          </a:p>
          <a:p>
            <a:pPr>
              <a:spcAft>
                <a:spcPts val="700"/>
              </a:spcAft>
            </a:pPr>
            <a:r>
              <a:rPr sz="1200" b="0">
                <a:solidFill>
                  <a:srgbClr val="35C78A"/>
                </a:solidFill>
                <a:latin typeface="Calibri"/>
              </a:rPr>
              <a:t>Q: How long does it take to start your whole system from scratch?</a:t>
            </a:r>
          </a:p>
          <a:p>
            <a:pPr lvl="1">
              <a:spcAft>
                <a:spcPts val="700"/>
              </a:spcAft>
            </a:pPr>
            <a:r>
              <a:rPr sz="1100" b="0">
                <a:solidFill>
                  <a:srgbClr val="93A1B2"/>
                </a:solidFill>
                <a:latin typeface="Calibri"/>
              </a:rPr>
              <a:t>A: One command: docker-compose up. There is a smoke test that boots it, runs 3 robots for 30 ticks and asserts zero collisions.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A9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M3 - AI / ML</a:t>
            </a:r>
          </a:p>
          <a:p>
            <a:pPr>
              <a:spcAft>
                <a:spcPts val="400"/>
              </a:spcAft>
            </a:pPr>
            <a:r>
              <a:rPr sz="1300" b="0">
                <a:solidFill>
                  <a:srgbClr val="93A1B2"/>
                </a:solidFill>
                <a:latin typeface="Calibri"/>
              </a:rPr>
              <a:t>Your mission and the features you own</a:t>
            </a:r>
          </a:p>
        </p:txBody>
      </p:sp>
      <p:sp>
        <p:nvSpPr>
          <p:cNvPr id="4" name="Rounded Rectangle 3"/>
          <p:cNvSpPr/>
          <p:nvPr/>
        </p:nvSpPr>
        <p:spPr>
          <a:xfrm>
            <a:off x="502920" y="1188720"/>
            <a:ext cx="11155680" cy="731520"/>
          </a:xfrm>
          <a:prstGeom prst="roundRect">
            <a:avLst/>
          </a:prstGeom>
          <a:solidFill>
            <a:srgbClr val="1B212A"/>
          </a:solidFill>
          <a:ln w="15875">
            <a:solidFill>
              <a:srgbClr val="A97BF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91440"/>
          <a:lstStyle/>
          <a:p>
            <a:pPr algn="ctr">
              <a:spcAft>
                <a:spcPts val="400"/>
              </a:spcAft>
            </a:pPr>
            <a:r>
              <a:rPr sz="1400" b="1">
                <a:solidFill>
                  <a:srgbClr val="E8ECF1"/>
                </a:solidFill>
                <a:latin typeface="Calibri"/>
              </a:rPr>
              <a:t>Provide predictive intelligence that is trained on our own simulation data, is measurable, and is advisory - never safety-critical.</a:t>
            </a:r>
          </a:p>
        </p:txBody>
      </p:sp>
      <p:sp>
        <p:nvSpPr>
          <p:cNvPr id="5" name="TextBox 4"/>
          <p:cNvSpPr txBox="1"/>
          <p:nvPr/>
        </p:nvSpPr>
        <p:spPr>
          <a:xfrm>
            <a:off x="502920" y="2148840"/>
            <a:ext cx="11155680" cy="5120640"/>
          </a:xfrm>
          <a:prstGeom prst="rect">
            <a:avLst/>
          </a:prstGeom>
          <a:noFill/>
        </p:spPr>
        <p:txBody>
          <a:bodyPr wrap="square">
            <a:spAutoFit/>
          </a:bodyPr>
          <a:lstStyle/>
          <a:p>
            <a:pPr>
              <a:spcAft>
                <a:spcPts val="500"/>
              </a:spcAft>
            </a:pPr>
            <a:r>
              <a:rPr sz="1400" b="0">
                <a:solidFill>
                  <a:srgbClr val="E8ECF1"/>
                </a:solidFill>
                <a:latin typeface="Calibri"/>
              </a:rPr>
              <a:t>Dataset generated from OUR simulator (no external dataset needed)</a:t>
            </a:r>
          </a:p>
          <a:p>
            <a:pPr>
              <a:spcAft>
                <a:spcPts val="500"/>
              </a:spcAft>
            </a:pPr>
            <a:r>
              <a:rPr sz="1400" b="0">
                <a:solidFill>
                  <a:srgbClr val="E8ECF1"/>
                </a:solidFill>
                <a:latin typeface="Calibri"/>
              </a:rPr>
              <a:t>Feature engineering: local robot density, reservation pressure,</a:t>
            </a:r>
          </a:p>
          <a:p>
            <a:pPr lvl="1">
              <a:spcAft>
                <a:spcPts val="500"/>
              </a:spcAft>
            </a:pPr>
            <a:r>
              <a:rPr sz="1300" b="0">
                <a:solidFill>
                  <a:srgbClr val="93A1B2"/>
                </a:solidFill>
                <a:latin typeface="Calibri"/>
              </a:rPr>
              <a:t>  battery, deadline slack, corridor congestion, historical wait</a:t>
            </a:r>
          </a:p>
          <a:p>
            <a:pPr>
              <a:spcAft>
                <a:spcPts val="500"/>
              </a:spcAft>
            </a:pPr>
            <a:r>
              <a:rPr sz="1400" b="0">
                <a:solidFill>
                  <a:srgbClr val="E8ECF1"/>
                </a:solidFill>
                <a:latin typeface="Calibri"/>
              </a:rPr>
              <a:t>Action classifier: MOVE / WAIT / REROUTE / CHARGE with confidence</a:t>
            </a:r>
          </a:p>
          <a:p>
            <a:pPr>
              <a:spcAft>
                <a:spcPts val="500"/>
              </a:spcAft>
            </a:pPr>
            <a:r>
              <a:rPr sz="1400" b="0">
                <a:solidFill>
                  <a:srgbClr val="E8ECF1"/>
                </a:solidFill>
                <a:latin typeface="Calibri"/>
              </a:rPr>
              <a:t>N4 PREDICTIVE CONGESTION FIELD - predict cell occupancy at t+delta</a:t>
            </a:r>
          </a:p>
          <a:p>
            <a:pPr lvl="1">
              <a:spcAft>
                <a:spcPts val="500"/>
              </a:spcAft>
            </a:pPr>
            <a:r>
              <a:rPr sz="1300" b="0">
                <a:solidFill>
                  <a:srgbClr val="93A1B2"/>
                </a:solidFill>
                <a:latin typeface="Calibri"/>
              </a:rPr>
              <a:t>  and feed it to the planner as edge-cost multipliers</a:t>
            </a:r>
          </a:p>
          <a:p>
            <a:pPr>
              <a:spcAft>
                <a:spcPts val="500"/>
              </a:spcAft>
            </a:pPr>
            <a:r>
              <a:rPr sz="1400" b="0">
                <a:solidFill>
                  <a:srgbClr val="E8ECF1"/>
                </a:solidFill>
                <a:latin typeface="Calibri"/>
              </a:rPr>
              <a:t>Model card: accuracy, confusion matrix, feature importance, limits</a:t>
            </a:r>
          </a:p>
          <a:p>
            <a:pPr>
              <a:spcAft>
                <a:spcPts val="500"/>
              </a:spcAft>
            </a:pPr>
            <a:r>
              <a:rPr sz="1400" b="0">
                <a:solidFill>
                  <a:srgbClr val="E8ECF1"/>
                </a:solidFill>
                <a:latin typeface="Calibri"/>
              </a:rPr>
              <a:t>Utility weight sensitivity study (answers 'why 0.30?')</a:t>
            </a:r>
          </a:p>
          <a:p>
            <a:pPr>
              <a:spcAft>
                <a:spcPts val="500"/>
              </a:spcAft>
            </a:pPr>
            <a:r>
              <a:rPr sz="1400" b="0">
                <a:solidFill>
                  <a:srgbClr val="E8ECF1"/>
                </a:solidFill>
                <a:latin typeface="Calibri"/>
              </a:rPr>
              <a:t>A/B harness: reactive coordination vs congestion-aware routing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A9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M3 - Files and Interfaces</a:t>
            </a:r>
          </a:p>
          <a:p>
            <a:pPr>
              <a:spcAft>
                <a:spcPts val="400"/>
              </a:spcAft>
            </a:pPr>
            <a:r>
              <a:rPr sz="1300" b="0">
                <a:solidFill>
                  <a:srgbClr val="93A1B2"/>
                </a:solidFill>
                <a:latin typeface="Calibri"/>
              </a:rPr>
              <a:t>What you own on disk, and who you depend on</a:t>
            </a:r>
          </a:p>
        </p:txBody>
      </p:sp>
      <p:sp>
        <p:nvSpPr>
          <p:cNvPr id="4" name="TextBox 3"/>
          <p:cNvSpPr txBox="1"/>
          <p:nvPr/>
        </p:nvSpPr>
        <p:spPr>
          <a:xfrm>
            <a:off x="502920" y="1188720"/>
            <a:ext cx="11155680" cy="2286000"/>
          </a:xfrm>
          <a:prstGeom prst="rect">
            <a:avLst/>
          </a:prstGeom>
          <a:noFill/>
        </p:spPr>
        <p:txBody>
          <a:bodyPr wrap="square">
            <a:spAutoFit/>
          </a:bodyPr>
          <a:lstStyle/>
          <a:p>
            <a:pPr>
              <a:spcAft>
                <a:spcPts val="400"/>
              </a:spcAft>
            </a:pPr>
            <a:r>
              <a:rPr sz="1300" b="1">
                <a:solidFill>
                  <a:srgbClr val="A97BFF"/>
                </a:solidFill>
                <a:latin typeface="Calibri"/>
              </a:rPr>
              <a:t>FILES YOU OWN</a:t>
            </a:r>
          </a:p>
          <a:p>
            <a:pPr>
              <a:spcAft>
                <a:spcPts val="200"/>
              </a:spcAft>
            </a:pPr>
            <a:r>
              <a:rPr sz="1100" b="0">
                <a:solidFill>
                  <a:srgbClr val="E8ECF1"/>
                </a:solidFill>
                <a:latin typeface="Consolas"/>
              </a:rPr>
              <a:t>ml/dataset/build_dataset.py     (simulator logs -&gt; training table)</a:t>
            </a:r>
          </a:p>
          <a:p>
            <a:pPr>
              <a:spcAft>
                <a:spcPts val="200"/>
              </a:spcAft>
            </a:pPr>
            <a:r>
              <a:rPr sz="1100" b="0">
                <a:solidFill>
                  <a:srgbClr val="E8ECF1"/>
                </a:solidFill>
                <a:latin typeface="Consolas"/>
              </a:rPr>
              <a:t>ml/features.py                  (feature extraction, shared at infer)</a:t>
            </a:r>
          </a:p>
          <a:p>
            <a:pPr>
              <a:spcAft>
                <a:spcPts val="200"/>
              </a:spcAft>
            </a:pPr>
            <a:r>
              <a:rPr sz="1100" b="0">
                <a:solidFill>
                  <a:srgbClr val="E8ECF1"/>
                </a:solidFill>
                <a:latin typeface="Consolas"/>
              </a:rPr>
              <a:t>ml/train_action_model.py        (train + evaluate + save)</a:t>
            </a:r>
          </a:p>
          <a:p>
            <a:pPr>
              <a:spcAft>
                <a:spcPts val="200"/>
              </a:spcAft>
            </a:pPr>
            <a:r>
              <a:rPr sz="1100" b="0">
                <a:solidFill>
                  <a:srgbClr val="E8ECF1"/>
                </a:solidFill>
                <a:latin typeface="Consolas"/>
              </a:rPr>
              <a:t>ml/congestion_field.py          (EWMA baseline, then learned model)</a:t>
            </a:r>
          </a:p>
          <a:p>
            <a:pPr>
              <a:spcAft>
                <a:spcPts val="200"/>
              </a:spcAft>
            </a:pPr>
            <a:r>
              <a:rPr sz="1100" b="0">
                <a:solidFill>
                  <a:srgbClr val="E8ECF1"/>
                </a:solidFill>
                <a:latin typeface="Consolas"/>
              </a:rPr>
              <a:t>ml/serve.py                     (load model, MLAdvice at inference)</a:t>
            </a:r>
          </a:p>
          <a:p>
            <a:pPr>
              <a:spcAft>
                <a:spcPts val="200"/>
              </a:spcAft>
            </a:pPr>
            <a:r>
              <a:rPr sz="1100" b="0">
                <a:solidFill>
                  <a:srgbClr val="E8ECF1"/>
                </a:solidFill>
                <a:latin typeface="Consolas"/>
              </a:rPr>
              <a:t>ml/model_card.md                (honest metrics and limitations)</a:t>
            </a:r>
          </a:p>
        </p:txBody>
      </p:sp>
      <p:sp>
        <p:nvSpPr>
          <p:cNvPr id="5" name="TextBox 4"/>
          <p:cNvSpPr txBox="1"/>
          <p:nvPr/>
        </p:nvSpPr>
        <p:spPr>
          <a:xfrm>
            <a:off x="502920" y="3657600"/>
            <a:ext cx="11155680" cy="5120640"/>
          </a:xfrm>
          <a:prstGeom prst="rect">
            <a:avLst/>
          </a:prstGeom>
          <a:noFill/>
        </p:spPr>
        <p:txBody>
          <a:bodyPr wrap="square">
            <a:spAutoFit/>
          </a:bodyPr>
          <a:lstStyle/>
          <a:p>
            <a:pPr>
              <a:spcAft>
                <a:spcPts val="400"/>
              </a:spcAft>
            </a:pPr>
            <a:r>
              <a:rPr sz="1300" b="0">
                <a:solidFill>
                  <a:srgbClr val="E8ECF1"/>
                </a:solidFill>
                <a:latin typeface="Calibri"/>
              </a:rPr>
              <a:t>YOU CONSUME (inputs from others)</a:t>
            </a:r>
          </a:p>
          <a:p>
            <a:pPr lvl="1">
              <a:spcAft>
                <a:spcPts val="400"/>
              </a:spcAft>
            </a:pPr>
            <a:r>
              <a:rPr sz="1200" b="0">
                <a:solidFill>
                  <a:srgbClr val="93A1B2"/>
                </a:solidFill>
                <a:latin typeface="Calibri"/>
              </a:rPr>
              <a:t>Event log / dataset export from M6; live AMRState + reservation pressure from M4 at inference time.</a:t>
            </a:r>
          </a:p>
          <a:p>
            <a:pPr>
              <a:spcAft>
                <a:spcPts val="400"/>
              </a:spcAft>
            </a:pPr>
          </a:p>
          <a:p>
            <a:pPr>
              <a:spcAft>
                <a:spcPts val="400"/>
              </a:spcAft>
            </a:pPr>
            <a:r>
              <a:rPr sz="1300" b="0">
                <a:solidFill>
                  <a:srgbClr val="E8ECF1"/>
                </a:solidFill>
                <a:latin typeface="Calibri"/>
              </a:rPr>
              <a:t>YOU PRODUCE (outputs others depend on)</a:t>
            </a:r>
          </a:p>
          <a:p>
            <a:pPr lvl="1">
              <a:spcAft>
                <a:spcPts val="400"/>
              </a:spcAft>
            </a:pPr>
            <a:r>
              <a:rPr sz="1200" b="0">
                <a:solidFill>
                  <a:srgbClr val="93A1B2"/>
                </a:solidFill>
                <a:latin typeface="Calibri"/>
              </a:rPr>
              <a:t>MLAdvice (advisory action + confidence + features_used) to M4; CongestionField (cost multipliers) to M5's planner.</a:t>
            </a:r>
          </a:p>
          <a:p>
            <a:pPr>
              <a:spcAft>
                <a:spcPts val="400"/>
              </a:spcAft>
            </a:pPr>
          </a:p>
          <a:p>
            <a:pPr>
              <a:spcAft>
                <a:spcPts val="400"/>
              </a:spcAft>
            </a:pPr>
            <a:r>
              <a:rPr sz="1300" b="1">
                <a:solidFill>
                  <a:srgbClr val="E8ECF1"/>
                </a:solidFill>
                <a:latin typeface="Calibri"/>
              </a:rPr>
              <a:t>STACK</a:t>
            </a:r>
          </a:p>
          <a:p>
            <a:pPr lvl="1">
              <a:spcAft>
                <a:spcPts val="400"/>
              </a:spcAft>
            </a:pPr>
            <a:r>
              <a:rPr sz="1200" b="0">
                <a:solidFill>
                  <a:srgbClr val="93A1B2"/>
                </a:solidFill>
                <a:latin typeface="Calibri"/>
              </a:rPr>
              <a:t>Python 3.11 + scikit-learn (GradientBoosting / RandomForest) + Pandas + NumPy. Start with EWMA, add the learned model after.</a:t>
            </a:r>
          </a:p>
        </p:txBody>
      </p:sp>
      <p:sp>
        <p:nvSpPr>
          <p:cNvPr id="6" name="Rounded Rectangle 5"/>
          <p:cNvSpPr/>
          <p:nvPr/>
        </p:nvSpPr>
        <p:spPr>
          <a:xfrm>
            <a:off x="502920" y="6035040"/>
            <a:ext cx="11155680" cy="566928"/>
          </a:xfrm>
          <a:prstGeom prst="roundRect">
            <a:avLst/>
          </a:prstGeom>
          <a:solidFill>
            <a:srgbClr val="1B212A"/>
          </a:solidFill>
          <a:ln w="15875">
            <a:solidFill>
              <a:srgbClr val="A97BF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a:lstStyle/>
          <a:p>
            <a:pPr algn="ctr">
              <a:spcAft>
                <a:spcPts val="400"/>
              </a:spcAft>
            </a:pPr>
            <a:r>
              <a:rPr sz="1200" b="1">
                <a:solidFill>
                  <a:srgbClr val="E8ECF1"/>
                </a:solidFill>
                <a:latin typeface="Calibri"/>
              </a:rPr>
              <a:t>All contracts are defined in docs/INTEGRATION_CONTRACTS.md. Change that file first, then your code.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A9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M3 - Week by Week</a:t>
            </a:r>
          </a:p>
          <a:p>
            <a:pPr>
              <a:spcAft>
                <a:spcPts val="400"/>
              </a:spcAft>
            </a:pPr>
            <a:r>
              <a:rPr sz="1300" b="0">
                <a:solidFill>
                  <a:srgbClr val="93A1B2"/>
                </a:solidFill>
                <a:latin typeface="Calibri"/>
              </a:rPr>
              <a:t>Every week ends with something demo-visible</a:t>
            </a:r>
          </a:p>
        </p:txBody>
      </p:sp>
      <p:graphicFrame>
        <p:nvGraphicFramePr>
          <p:cNvPr id="4" name="Table 3"/>
          <p:cNvGraphicFramePr>
            <a:graphicFrameLocks noGrp="1"/>
          </p:cNvGraphicFramePr>
          <p:nvPr/>
        </p:nvGraphicFramePr>
        <p:xfrm>
          <a:off x="502920" y="1371600"/>
          <a:ext cx="11155680" cy="1755648"/>
        </p:xfrm>
        <a:graphic>
          <a:graphicData uri="http://schemas.openxmlformats.org/drawingml/2006/table">
            <a:tbl>
              <a:tblPr firstRow="1" bandRow="1">
                <a:tableStyleId>{5C22544A-7EE6-4342-B048-85BDC9FD1C3A}</a:tableStyleId>
              </a:tblPr>
              <a:tblGrid>
                <a:gridCol w="914400"/>
                <a:gridCol w="10241280"/>
              </a:tblGrid>
              <a:tr h="292608">
                <a:tc>
                  <a:txBody>
                    <a:bodyPr/>
                    <a:lstStyle/>
                    <a:p>
                      <a:r>
                        <a:rPr sz="1300" b="1">
                          <a:solidFill>
                            <a:srgbClr val="3B9EFF"/>
                          </a:solidFill>
                        </a:rPr>
                        <a:t>Week</a:t>
                      </a:r>
                    </a:p>
                  </a:txBody>
                  <a:tcPr>
                    <a:solidFill>
                      <a:srgbClr val="1B212A"/>
                    </a:solidFill>
                  </a:tcPr>
                </a:tc>
                <a:tc>
                  <a:txBody>
                    <a:bodyPr/>
                    <a:lstStyle/>
                    <a:p>
                      <a:r>
                        <a:rPr sz="1300" b="1">
                          <a:solidFill>
                            <a:srgbClr val="3B9EFF"/>
                          </a:solidFill>
                        </a:rPr>
                        <a:t>Deliverable</a:t>
                      </a:r>
                    </a:p>
                  </a:txBody>
                  <a:tcPr>
                    <a:solidFill>
                      <a:srgbClr val="1B212A"/>
                    </a:solidFill>
                  </a:tcPr>
                </a:tc>
              </a:tr>
              <a:tr h="292608">
                <a:tc>
                  <a:txBody>
                    <a:bodyPr/>
                    <a:lstStyle/>
                    <a:p>
                      <a:r>
                        <a:rPr sz="1300">
                          <a:solidFill>
                            <a:srgbClr val="E8ECF1"/>
                          </a:solidFill>
                        </a:rPr>
                        <a:t>W1</a:t>
                      </a:r>
                    </a:p>
                  </a:txBody>
                  <a:tcPr>
                    <a:solidFill>
                      <a:srgbClr val="12161C"/>
                    </a:solidFill>
                  </a:tcPr>
                </a:tc>
                <a:tc>
                  <a:txBody>
                    <a:bodyPr/>
                    <a:lstStyle/>
                    <a:p>
                      <a:r>
                        <a:rPr sz="1300">
                          <a:solidFill>
                            <a:srgbClr val="E8ECF1"/>
                          </a:solidFill>
                        </a:rPr>
                        <a:t>Define features; get the simulator emitting a labelled event log</a:t>
                      </a:r>
                    </a:p>
                  </a:txBody>
                  <a:tcPr>
                    <a:solidFill>
                      <a:srgbClr val="12161C"/>
                    </a:solidFill>
                  </a:tcPr>
                </a:tc>
              </a:tr>
              <a:tr h="292608">
                <a:tc>
                  <a:txBody>
                    <a:bodyPr/>
                    <a:lstStyle/>
                    <a:p>
                      <a:r>
                        <a:rPr sz="1300">
                          <a:solidFill>
                            <a:srgbClr val="E8ECF1"/>
                          </a:solidFill>
                        </a:rPr>
                        <a:t>W2</a:t>
                      </a:r>
                    </a:p>
                  </a:txBody>
                  <a:tcPr>
                    <a:solidFill>
                      <a:srgbClr val="1B212A"/>
                    </a:solidFill>
                  </a:tcPr>
                </a:tc>
                <a:tc>
                  <a:txBody>
                    <a:bodyPr/>
                    <a:lstStyle/>
                    <a:p>
                      <a:r>
                        <a:rPr sz="1300">
                          <a:solidFill>
                            <a:srgbClr val="E8ECF1"/>
                          </a:solidFill>
                        </a:rPr>
                        <a:t>EWMA congestion field working end-to-end into the planner</a:t>
                      </a:r>
                    </a:p>
                  </a:txBody>
                  <a:tcPr>
                    <a:solidFill>
                      <a:srgbClr val="1B212A"/>
                    </a:solidFill>
                  </a:tcPr>
                </a:tc>
              </a:tr>
              <a:tr h="292608">
                <a:tc>
                  <a:txBody>
                    <a:bodyPr/>
                    <a:lstStyle/>
                    <a:p>
                      <a:r>
                        <a:rPr sz="1300">
                          <a:solidFill>
                            <a:srgbClr val="E8ECF1"/>
                          </a:solidFill>
                        </a:rPr>
                        <a:t>W3</a:t>
                      </a:r>
                    </a:p>
                  </a:txBody>
                  <a:tcPr>
                    <a:solidFill>
                      <a:srgbClr val="12161C"/>
                    </a:solidFill>
                  </a:tcPr>
                </a:tc>
                <a:tc>
                  <a:txBody>
                    <a:bodyPr/>
                    <a:lstStyle/>
                    <a:p>
                      <a:r>
                        <a:rPr sz="1300">
                          <a:solidFill>
                            <a:srgbClr val="E8ECF1"/>
                          </a:solidFill>
                        </a:rPr>
                        <a:t>Train + evaluate the action classifier, write the model card</a:t>
                      </a:r>
                    </a:p>
                  </a:txBody>
                  <a:tcPr>
                    <a:solidFill>
                      <a:srgbClr val="12161C"/>
                    </a:solidFill>
                  </a:tcPr>
                </a:tc>
              </a:tr>
              <a:tr h="292608">
                <a:tc>
                  <a:txBody>
                    <a:bodyPr/>
                    <a:lstStyle/>
                    <a:p>
                      <a:r>
                        <a:rPr sz="1300">
                          <a:solidFill>
                            <a:srgbClr val="E8ECF1"/>
                          </a:solidFill>
                        </a:rPr>
                        <a:t>W4</a:t>
                      </a:r>
                    </a:p>
                  </a:txBody>
                  <a:tcPr>
                    <a:solidFill>
                      <a:srgbClr val="1B212A"/>
                    </a:solidFill>
                  </a:tcPr>
                </a:tc>
                <a:tc>
                  <a:txBody>
                    <a:bodyPr/>
                    <a:lstStyle/>
                    <a:p>
                      <a:r>
                        <a:rPr sz="1300">
                          <a:solidFill>
                            <a:srgbClr val="E8ECF1"/>
                          </a:solidFill>
                        </a:rPr>
                        <a:t>Learned congestion prediction; A/B measured against EWMA</a:t>
                      </a:r>
                    </a:p>
                  </a:txBody>
                  <a:tcPr>
                    <a:solidFill>
                      <a:srgbClr val="1B212A"/>
                    </a:solidFill>
                  </a:tcPr>
                </a:tc>
              </a:tr>
              <a:tr h="292608">
                <a:tc>
                  <a:txBody>
                    <a:bodyPr/>
                    <a:lstStyle/>
                    <a:p>
                      <a:r>
                        <a:rPr sz="1300">
                          <a:solidFill>
                            <a:srgbClr val="E8ECF1"/>
                          </a:solidFill>
                        </a:rPr>
                        <a:t>W5</a:t>
                      </a:r>
                    </a:p>
                  </a:txBody>
                  <a:tcPr>
                    <a:solidFill>
                      <a:srgbClr val="12161C"/>
                    </a:solidFill>
                  </a:tcPr>
                </a:tc>
                <a:tc>
                  <a:txBody>
                    <a:bodyPr/>
                    <a:lstStyle/>
                    <a:p>
                      <a:r>
                        <a:rPr sz="1300">
                          <a:solidFill>
                            <a:srgbClr val="E8ECF1"/>
                          </a:solidFill>
                        </a:rPr>
                        <a:t>Weight sensitivity study; Decision Inspector feature display</a:t>
                      </a:r>
                    </a:p>
                  </a:txBody>
                  <a:tcPr>
                    <a:solidFill>
                      <a:srgbClr val="12161C"/>
                    </a:solidFill>
                  </a:tcPr>
                </a:tc>
              </a:tr>
            </a:tbl>
          </a:graphicData>
        </a:graphic>
      </p:graphicFrame>
      <p:sp>
        <p:nvSpPr>
          <p:cNvPr id="5" name="TextBox 4"/>
          <p:cNvSpPr txBox="1"/>
          <p:nvPr/>
        </p:nvSpPr>
        <p:spPr>
          <a:xfrm>
            <a:off x="502920" y="3931920"/>
            <a:ext cx="11155680" cy="5120640"/>
          </a:xfrm>
          <a:prstGeom prst="rect">
            <a:avLst/>
          </a:prstGeom>
          <a:noFill/>
        </p:spPr>
        <p:txBody>
          <a:bodyPr wrap="square">
            <a:spAutoFit/>
          </a:bodyPr>
          <a:lstStyle/>
          <a:p>
            <a:pPr>
              <a:spcAft>
                <a:spcPts val="600"/>
              </a:spcAft>
            </a:pPr>
            <a:r>
              <a:rPr sz="1300" b="0">
                <a:solidFill>
                  <a:srgbClr val="E8ECF1"/>
                </a:solidFill>
                <a:latin typeface="Calibri"/>
              </a:rPr>
              <a:t>Rules that apply to everyone:</a:t>
            </a:r>
          </a:p>
          <a:p>
            <a:pPr lvl="1">
              <a:spcAft>
                <a:spcPts val="600"/>
              </a:spcAft>
            </a:pPr>
            <a:r>
              <a:rPr sz="1200" b="0">
                <a:solidFill>
                  <a:srgbClr val="93A1B2"/>
                </a:solidFill>
                <a:latin typeface="Calibri"/>
              </a:rPr>
              <a:t>Nothing is 'done' until it runs in the integrated demo.</a:t>
            </a:r>
          </a:p>
          <a:p>
            <a:pPr lvl="1">
              <a:spcAft>
                <a:spcPts val="600"/>
              </a:spcAft>
            </a:pPr>
            <a:r>
              <a:rPr sz="1200" b="0">
                <a:solidFill>
                  <a:srgbClr val="93A1B2"/>
                </a:solidFill>
                <a:latin typeface="Calibri"/>
              </a:rPr>
              <a:t>Commit small and often. Never break main.</a:t>
            </a:r>
          </a:p>
          <a:p>
            <a:pPr lvl="1">
              <a:spcAft>
                <a:spcPts val="600"/>
              </a:spcAft>
            </a:pPr>
            <a:r>
              <a:rPr sz="1200" b="0">
                <a:solidFill>
                  <a:srgbClr val="93A1B2"/>
                </a:solidFill>
                <a:latin typeface="Calibri"/>
              </a:rPr>
              <a:t>If you are blocked for more than half a day, say so immediately.</a:t>
            </a:r>
          </a:p>
          <a:p>
            <a:pPr lvl="1">
              <a:spcAft>
                <a:spcPts val="600"/>
              </a:spcAft>
            </a:pPr>
            <a:r>
              <a:rPr sz="1200" b="0">
                <a:solidFill>
                  <a:srgbClr val="93A1B2"/>
                </a:solidFill>
                <a:latin typeface="Calibri"/>
              </a:rPr>
              <a:t>No secrets in code, docs, commits or screenshots. Ever.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A9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M3 - Your Q&amp;A Defence</a:t>
            </a:r>
          </a:p>
          <a:p>
            <a:pPr>
              <a:spcAft>
                <a:spcPts val="400"/>
              </a:spcAft>
            </a:pPr>
            <a:r>
              <a:rPr sz="1300" b="0">
                <a:solidFill>
                  <a:srgbClr val="93A1B2"/>
                </a:solidFill>
                <a:latin typeface="Calibri"/>
              </a:rPr>
              <a:t>SIH judges question members individually. Know these cold.</a:t>
            </a:r>
          </a:p>
        </p:txBody>
      </p:sp>
      <p:sp>
        <p:nvSpPr>
          <p:cNvPr id="4" name="TextBox 3"/>
          <p:cNvSpPr txBox="1"/>
          <p:nvPr/>
        </p:nvSpPr>
        <p:spPr>
          <a:xfrm>
            <a:off x="502920" y="1188720"/>
            <a:ext cx="11155680" cy="5394960"/>
          </a:xfrm>
          <a:prstGeom prst="rect">
            <a:avLst/>
          </a:prstGeom>
          <a:noFill/>
        </p:spPr>
        <p:txBody>
          <a:bodyPr wrap="square">
            <a:spAutoFit/>
          </a:bodyPr>
          <a:lstStyle/>
          <a:p>
            <a:pPr>
              <a:spcAft>
                <a:spcPts val="700"/>
              </a:spcAft>
            </a:pPr>
            <a:r>
              <a:rPr sz="1200" b="0">
                <a:solidFill>
                  <a:srgbClr val="A97BFF"/>
                </a:solidFill>
                <a:latin typeface="Calibri"/>
              </a:rPr>
              <a:t>Q: Where is the AI, really? Is it decoration?</a:t>
            </a:r>
          </a:p>
          <a:p>
            <a:pPr lvl="1">
              <a:spcAft>
                <a:spcPts val="700"/>
              </a:spcAft>
            </a:pPr>
            <a:r>
              <a:rPr sz="1100" b="0">
                <a:solidFill>
                  <a:srgbClr val="93A1B2"/>
                </a:solidFill>
                <a:latin typeface="Calibri"/>
              </a:rPr>
              <a:t>A: Two concrete places. (1) A congestion predictor that changes planner edge costs, measurably reducing completion time in an A/B test with identical seeds. (2) An action classifier advising MOVE/WAIT/REROUTE/CHARGE. Both are trained on data our simulator generated, and both have reported metrics.</a:t>
            </a:r>
          </a:p>
          <a:p>
            <a:pPr>
              <a:spcAft>
                <a:spcPts val="700"/>
              </a:spcAft>
            </a:pPr>
            <a:r>
              <a:rPr sz="1200" b="0">
                <a:solidFill>
                  <a:srgbClr val="A97BFF"/>
                </a:solidFill>
                <a:latin typeface="Calibri"/>
              </a:rPr>
              <a:t>Q: What if your model is wrong? Can it cause a collision?</a:t>
            </a:r>
          </a:p>
          <a:p>
            <a:pPr lvl="1">
              <a:spcAft>
                <a:spcPts val="700"/>
              </a:spcAft>
            </a:pPr>
            <a:r>
              <a:rPr sz="1100" b="0">
                <a:solidFill>
                  <a:srgbClr val="93A1B2"/>
                </a:solidFill>
                <a:latin typeface="Calibri"/>
              </a:rPr>
              <a:t>A: No, by construction. The model is advisory. Safety is enforced by the deterministic spatio-temporal reservation engine, which the model cannot override. A wrong prediction costs efficiency, never safety.</a:t>
            </a:r>
          </a:p>
          <a:p>
            <a:pPr>
              <a:spcAft>
                <a:spcPts val="700"/>
              </a:spcAft>
            </a:pPr>
            <a:r>
              <a:rPr sz="1200" b="0">
                <a:solidFill>
                  <a:srgbClr val="A97BFF"/>
                </a:solidFill>
                <a:latin typeface="Calibri"/>
              </a:rPr>
              <a:t>Q: Why not deep learning / reinforcement learning?</a:t>
            </a:r>
          </a:p>
          <a:p>
            <a:pPr lvl="1">
              <a:spcAft>
                <a:spcPts val="700"/>
              </a:spcAft>
            </a:pPr>
            <a:r>
              <a:rPr sz="1100" b="0">
                <a:solidFill>
                  <a:srgbClr val="93A1B2"/>
                </a:solidFill>
                <a:latin typeface="Calibri"/>
              </a:rPr>
              <a:t>A: Our dataset is tabular and modest, so gradient boosting is the appropriate choice and is interpretable via feature importance. RL would not converge in the available time and could not be safety-argued. We chose the honest tool, not the impressive-sounding one.</a:t>
            </a:r>
          </a:p>
          <a:p>
            <a:pPr>
              <a:spcAft>
                <a:spcPts val="700"/>
              </a:spcAft>
            </a:pPr>
            <a:r>
              <a:rPr sz="1200" b="0">
                <a:solidFill>
                  <a:srgbClr val="A97BFF"/>
                </a:solidFill>
                <a:latin typeface="Calibri"/>
              </a:rPr>
              <a:t>Q: Where did your training data come from?</a:t>
            </a:r>
          </a:p>
          <a:p>
            <a:pPr lvl="1">
              <a:spcAft>
                <a:spcPts val="700"/>
              </a:spcAft>
            </a:pPr>
            <a:r>
              <a:rPr sz="1100" b="0">
                <a:solidFill>
                  <a:srgbClr val="93A1B2"/>
                </a:solidFill>
                <a:latin typeface="Calibri"/>
              </a:rPr>
              <a:t>A: Our own seeded simulator. Every run is reproducible from its seed, so the dataset is regenerable and auditable - which is stronger than an unrelated downloaded dataset.</a:t>
            </a:r>
          </a:p>
          <a:p>
            <a:pPr>
              <a:spcAft>
                <a:spcPts val="700"/>
              </a:spcAft>
            </a:pPr>
            <a:r>
              <a:rPr sz="1200" b="0">
                <a:solidFill>
                  <a:srgbClr val="A97BFF"/>
                </a:solidFill>
                <a:latin typeface="Calibri"/>
              </a:rPr>
              <a:t>Q: Why are the utility weights 0.30 / 0.25 / 0.15 / 0.15 / 0.10 / 0.05?</a:t>
            </a:r>
          </a:p>
          <a:p>
            <a:pPr lvl="1">
              <a:spcAft>
                <a:spcPts val="700"/>
              </a:spcAft>
            </a:pPr>
            <a:r>
              <a:rPr sz="1100" b="0">
                <a:solidFill>
                  <a:srgbClr val="93A1B2"/>
                </a:solidFill>
                <a:latin typeface="Calibri"/>
              </a:rPr>
              <a:t>A: They started as engineering defaults. We then ran a sensitivity sweep over many weight vectors on identical scenarios and report the region where outcomes are stable. So the numbers are empirically supported, not asserted.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F2B1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M4 - Robotics / Multi-Agent Coordination (Adithya)</a:t>
            </a:r>
          </a:p>
          <a:p>
            <a:pPr>
              <a:spcAft>
                <a:spcPts val="400"/>
              </a:spcAft>
            </a:pPr>
            <a:r>
              <a:rPr sz="1300" b="0">
                <a:solidFill>
                  <a:srgbClr val="93A1B2"/>
                </a:solidFill>
                <a:latin typeface="Calibri"/>
              </a:rPr>
              <a:t>Your mission and the features you own</a:t>
            </a:r>
          </a:p>
        </p:txBody>
      </p:sp>
      <p:sp>
        <p:nvSpPr>
          <p:cNvPr id="4" name="Rounded Rectangle 3"/>
          <p:cNvSpPr/>
          <p:nvPr/>
        </p:nvSpPr>
        <p:spPr>
          <a:xfrm>
            <a:off x="502920" y="1188720"/>
            <a:ext cx="11155680" cy="731520"/>
          </a:xfrm>
          <a:prstGeom prst="roundRect">
            <a:avLst/>
          </a:prstGeom>
          <a:solidFill>
            <a:srgbClr val="1B212A"/>
          </a:solidFill>
          <a:ln w="15875">
            <a:solidFill>
              <a:srgbClr val="F2B137"/>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91440"/>
          <a:lstStyle/>
          <a:p>
            <a:pPr algn="ctr">
              <a:spcAft>
                <a:spcPts val="400"/>
              </a:spcAft>
            </a:pPr>
            <a:r>
              <a:rPr sz="1400" b="1">
                <a:solidFill>
                  <a:srgbClr val="E8ECF1"/>
                </a:solidFill>
                <a:latin typeface="Calibri"/>
              </a:rPr>
              <a:t>Make many robots share contested space safely and efficiently without a central brain making every movement decision.</a:t>
            </a:r>
          </a:p>
        </p:txBody>
      </p:sp>
      <p:sp>
        <p:nvSpPr>
          <p:cNvPr id="5" name="TextBox 4"/>
          <p:cNvSpPr txBox="1"/>
          <p:nvPr/>
        </p:nvSpPr>
        <p:spPr>
          <a:xfrm>
            <a:off x="502920" y="2148840"/>
            <a:ext cx="11155680" cy="5120640"/>
          </a:xfrm>
          <a:prstGeom prst="rect">
            <a:avLst/>
          </a:prstGeom>
          <a:noFill/>
        </p:spPr>
        <p:txBody>
          <a:bodyPr wrap="square">
            <a:spAutoFit/>
          </a:bodyPr>
          <a:lstStyle/>
          <a:p>
            <a:pPr>
              <a:spcAft>
                <a:spcPts val="500"/>
              </a:spcAft>
            </a:pPr>
            <a:r>
              <a:rPr sz="1400" b="0">
                <a:solidFill>
                  <a:srgbClr val="E8ECF1"/>
                </a:solidFill>
                <a:latin typeface="Calibri"/>
              </a:rPr>
              <a:t>DONE Steps 1-4A: contracts, peer/intent registries, conflict</a:t>
            </a:r>
          </a:p>
          <a:p>
            <a:pPr lvl="1">
              <a:spcAft>
                <a:spcPts val="500"/>
              </a:spcAft>
            </a:pPr>
            <a:r>
              <a:rPr sz="1300" b="0">
                <a:solidFill>
                  <a:srgbClr val="93A1B2"/>
                </a:solidFill>
                <a:latin typeface="Calibri"/>
              </a:rPr>
              <a:t>  detection, spatio-temporal reservations, auction core - 296 tests</a:t>
            </a:r>
          </a:p>
          <a:p>
            <a:pPr>
              <a:spcAft>
                <a:spcPts val="500"/>
              </a:spcAft>
            </a:pPr>
            <a:r>
              <a:rPr sz="1400" b="0">
                <a:solidFill>
                  <a:srgbClr val="E8ECF1"/>
                </a:solidFill>
                <a:latin typeface="Calibri"/>
              </a:rPr>
              <a:t>Step 4B: distributed runtime bid exchange over a real transport</a:t>
            </a:r>
          </a:p>
          <a:p>
            <a:pPr lvl="1">
              <a:spcAft>
                <a:spcPts val="500"/>
              </a:spcAft>
            </a:pPr>
            <a:r>
              <a:rPr sz="1300" b="0">
                <a:solidFill>
                  <a:srgbClr val="93A1B2"/>
                </a:solidFill>
                <a:latin typeface="Calibri"/>
              </a:rPr>
              <a:t>  with timeouts, quorum, late bids, re-auction, TTL cleanup</a:t>
            </a:r>
          </a:p>
          <a:p>
            <a:pPr>
              <a:spcAft>
                <a:spcPts val="500"/>
              </a:spcAft>
            </a:pPr>
            <a:r>
              <a:rPr sz="1400" b="0">
                <a:solidFill>
                  <a:srgbClr val="E8ECF1"/>
                </a:solidFill>
                <a:latin typeface="Calibri"/>
              </a:rPr>
              <a:t>Deadlock detection (distributed wait-for graph + cycle detection)</a:t>
            </a:r>
          </a:p>
          <a:p>
            <a:pPr>
              <a:spcAft>
                <a:spcPts val="500"/>
              </a:spcAft>
            </a:pPr>
            <a:r>
              <a:rPr sz="1400" b="0">
                <a:solidFill>
                  <a:srgbClr val="E8ECF1"/>
                </a:solidFill>
                <a:latin typeface="Calibri"/>
              </a:rPr>
              <a:t>Deadlock recovery with aging-based anti-starvation guarantee</a:t>
            </a:r>
          </a:p>
          <a:p>
            <a:pPr>
              <a:spcAft>
                <a:spcPts val="500"/>
              </a:spcAft>
            </a:pPr>
            <a:r>
              <a:rPr sz="1400" b="0">
                <a:solidFill>
                  <a:srgbClr val="E8ECF1"/>
                </a:solidFill>
                <a:latin typeface="Calibri"/>
              </a:rPr>
              <a:t>Heartbeat failure detection + reservation invalidation</a:t>
            </a:r>
          </a:p>
          <a:p>
            <a:pPr>
              <a:spcAft>
                <a:spcPts val="500"/>
              </a:spcAft>
            </a:pPr>
            <a:r>
              <a:rPr sz="1400" b="0">
                <a:solidFill>
                  <a:srgbClr val="E8ECF1"/>
                </a:solidFill>
                <a:latin typeface="Calibri"/>
              </a:rPr>
              <a:t>WAIT / YIELD / SLOW / REROUTE policy (currently PROCEED/WAIT/YIELD)</a:t>
            </a:r>
          </a:p>
          <a:p>
            <a:pPr>
              <a:spcAft>
                <a:spcPts val="500"/>
              </a:spcAft>
            </a:pPr>
            <a:r>
              <a:rPr sz="1400" b="0">
                <a:solidFill>
                  <a:srgbClr val="E8ECF1"/>
                </a:solidFill>
                <a:latin typeface="Calibri"/>
              </a:rPr>
              <a:t>N1 VERIFIABLE BIDS - detect a robot lying about its own state</a:t>
            </a:r>
          </a:p>
          <a:p>
            <a:pPr>
              <a:spcAft>
                <a:spcPts val="500"/>
              </a:spcAft>
            </a:pPr>
            <a:r>
              <a:rPr sz="1400" b="0">
                <a:solidFill>
                  <a:srgbClr val="E8ECF1"/>
                </a:solidFill>
                <a:latin typeface="Calibri"/>
              </a:rPr>
              <a:t>N3 TAMPER-EVIDENT DECISION CHAIN - hash-linked audit trail</a:t>
            </a:r>
          </a:p>
          <a:p>
            <a:pPr>
              <a:spcAft>
                <a:spcPts val="500"/>
              </a:spcAft>
            </a:pPr>
            <a:r>
              <a:rPr sz="1400" b="0">
                <a:solidFill>
                  <a:srgbClr val="E8ECF1"/>
                </a:solidFill>
                <a:latin typeface="Calibri"/>
              </a:rPr>
              <a:t>N5 Degraded-mode ladder: FULL_MESH / LOCAL / CONSERVATIVE / SAFE_HALT</a:t>
            </a:r>
          </a:p>
          <a:p>
            <a:pPr>
              <a:spcAft>
                <a:spcPts val="500"/>
              </a:spcAft>
            </a:pPr>
            <a:r>
              <a:rPr sz="1400" b="0">
                <a:solidFill>
                  <a:srgbClr val="E8ECF1"/>
                </a:solidFill>
                <a:latin typeface="Calibri"/>
              </a:rPr>
              <a:t>Spatial broad phase to fix O(N^2) conflict detection</a:t>
            </a:r>
          </a:p>
          <a:p>
            <a:pPr>
              <a:spcAft>
                <a:spcPts val="500"/>
              </a:spcAft>
            </a:pPr>
            <a:r>
              <a:rPr sz="1400" b="0">
                <a:solidFill>
                  <a:srgbClr val="E8ECF1"/>
                </a:solidFill>
                <a:latin typeface="Calibri"/>
              </a:rPr>
              <a:t>Fault injection: loss, delay, duplication, partition, robot death</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F2B1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M4 - Files and Interfaces</a:t>
            </a:r>
          </a:p>
          <a:p>
            <a:pPr>
              <a:spcAft>
                <a:spcPts val="400"/>
              </a:spcAft>
            </a:pPr>
            <a:r>
              <a:rPr sz="1300" b="0">
                <a:solidFill>
                  <a:srgbClr val="93A1B2"/>
                </a:solidFill>
                <a:latin typeface="Calibri"/>
              </a:rPr>
              <a:t>What you own on disk, and who you depend on</a:t>
            </a:r>
          </a:p>
        </p:txBody>
      </p:sp>
      <p:sp>
        <p:nvSpPr>
          <p:cNvPr id="4" name="TextBox 3"/>
          <p:cNvSpPr txBox="1"/>
          <p:nvPr/>
        </p:nvSpPr>
        <p:spPr>
          <a:xfrm>
            <a:off x="502920" y="1188720"/>
            <a:ext cx="11155680" cy="2286000"/>
          </a:xfrm>
          <a:prstGeom prst="rect">
            <a:avLst/>
          </a:prstGeom>
          <a:noFill/>
        </p:spPr>
        <p:txBody>
          <a:bodyPr wrap="square">
            <a:spAutoFit/>
          </a:bodyPr>
          <a:lstStyle/>
          <a:p>
            <a:pPr>
              <a:spcAft>
                <a:spcPts val="400"/>
              </a:spcAft>
            </a:pPr>
            <a:r>
              <a:rPr sz="1300" b="1">
                <a:solidFill>
                  <a:srgbClr val="F2B137"/>
                </a:solidFill>
                <a:latin typeface="Calibri"/>
              </a:rPr>
              <a:t>FILES YOU OWN</a:t>
            </a:r>
          </a:p>
          <a:p>
            <a:pPr>
              <a:spcAft>
                <a:spcPts val="200"/>
              </a:spcAft>
            </a:pPr>
            <a:r>
              <a:rPr sz="1100" b="0">
                <a:solidFill>
                  <a:srgbClr val="E8ECF1"/>
                </a:solidFill>
                <a:latin typeface="Consolas"/>
              </a:rPr>
              <a:t>app/coordination/auction.py         1003 lines  (Step 4A, DONE)</a:t>
            </a:r>
          </a:p>
          <a:p>
            <a:pPr>
              <a:spcAft>
                <a:spcPts val="200"/>
              </a:spcAft>
            </a:pPr>
            <a:r>
              <a:rPr sz="1100" b="0">
                <a:solidFill>
                  <a:srgbClr val="E8ECF1"/>
                </a:solidFill>
                <a:latin typeface="Consolas"/>
              </a:rPr>
              <a:t>app/coordination/reservation.py      949 lines  (Step 3, DONE)</a:t>
            </a:r>
          </a:p>
          <a:p>
            <a:pPr>
              <a:spcAft>
                <a:spcPts val="200"/>
              </a:spcAft>
            </a:pPr>
            <a:r>
              <a:rPr sz="1100" b="0">
                <a:solidFill>
                  <a:srgbClr val="E8ECF1"/>
                </a:solidFill>
                <a:latin typeface="Consolas"/>
              </a:rPr>
              <a:t>app/coordination/conflict.py         436 lines  (Step 2, DONE)</a:t>
            </a:r>
          </a:p>
          <a:p>
            <a:pPr>
              <a:spcAft>
                <a:spcPts val="200"/>
              </a:spcAft>
            </a:pPr>
            <a:r>
              <a:rPr sz="1100" b="0">
                <a:solidFill>
                  <a:srgbClr val="E8ECF1"/>
                </a:solidFill>
                <a:latin typeface="Consolas"/>
              </a:rPr>
              <a:t>app/coordination/models.py           207 lines  (Step 1, DONE)</a:t>
            </a:r>
          </a:p>
          <a:p>
            <a:pPr>
              <a:spcAft>
                <a:spcPts val="200"/>
              </a:spcAft>
            </a:pPr>
            <a:r>
              <a:rPr sz="1100" b="0">
                <a:solidFill>
                  <a:srgbClr val="E8ECF1"/>
                </a:solidFill>
                <a:latin typeface="Consolas"/>
              </a:rPr>
              <a:t>app/coordination/messages.py         189 lines  (Step 1, DONE)</a:t>
            </a:r>
          </a:p>
          <a:p>
            <a:pPr>
              <a:spcAft>
                <a:spcPts val="200"/>
              </a:spcAft>
            </a:pPr>
            <a:r>
              <a:rPr sz="1100" b="0">
                <a:solidFill>
                  <a:srgbClr val="E8ECF1"/>
                </a:solidFill>
                <a:latin typeface="Consolas"/>
              </a:rPr>
              <a:t>app/coordination/peer_registry.py    162 lines  (DONE)</a:t>
            </a:r>
          </a:p>
          <a:p>
            <a:pPr>
              <a:spcAft>
                <a:spcPts val="200"/>
              </a:spcAft>
            </a:pPr>
            <a:r>
              <a:rPr sz="1100" b="0">
                <a:solidFill>
                  <a:srgbClr val="E8ECF1"/>
                </a:solidFill>
                <a:latin typeface="Consolas"/>
              </a:rPr>
              <a:t>app/coordination/intent_registry.py  124 lines  (DONE)</a:t>
            </a:r>
          </a:p>
          <a:p>
            <a:pPr>
              <a:spcAft>
                <a:spcPts val="200"/>
              </a:spcAft>
            </a:pPr>
            <a:r>
              <a:rPr sz="1100" b="0">
                <a:solidFill>
                  <a:srgbClr val="E8ECF1"/>
                </a:solidFill>
                <a:latin typeface="Consolas"/>
              </a:rPr>
              <a:t>app/coordination/transport.py         81 lines  (Protocol only)</a:t>
            </a:r>
          </a:p>
          <a:p>
            <a:pPr>
              <a:spcAft>
                <a:spcPts val="200"/>
              </a:spcAft>
            </a:pPr>
            <a:r>
              <a:rPr sz="1100" b="0">
                <a:solidFill>
                  <a:srgbClr val="E8ECF1"/>
                </a:solidFill>
                <a:latin typeface="Consolas"/>
              </a:rPr>
              <a:t>NEW 4B: auction_runtime.py, inmemory_transport.py, dedup.py,</a:t>
            </a:r>
          </a:p>
          <a:p>
            <a:pPr>
              <a:spcAft>
                <a:spcPts val="200"/>
              </a:spcAft>
            </a:pPr>
            <a:r>
              <a:rPr sz="1100" b="0">
                <a:solidFill>
                  <a:srgbClr val="E8ECF1"/>
                </a:solidFill>
                <a:latin typeface="Consolas"/>
              </a:rPr>
              <a:t>        auction_messages.py, deadlock.py, heartbeat.py</a:t>
            </a:r>
          </a:p>
        </p:txBody>
      </p:sp>
      <p:sp>
        <p:nvSpPr>
          <p:cNvPr id="5" name="TextBox 4"/>
          <p:cNvSpPr txBox="1"/>
          <p:nvPr/>
        </p:nvSpPr>
        <p:spPr>
          <a:xfrm>
            <a:off x="502920" y="3657600"/>
            <a:ext cx="11155680" cy="5120640"/>
          </a:xfrm>
          <a:prstGeom prst="rect">
            <a:avLst/>
          </a:prstGeom>
          <a:noFill/>
        </p:spPr>
        <p:txBody>
          <a:bodyPr wrap="square">
            <a:spAutoFit/>
          </a:bodyPr>
          <a:lstStyle/>
          <a:p>
            <a:pPr>
              <a:spcAft>
                <a:spcPts val="400"/>
              </a:spcAft>
            </a:pPr>
            <a:r>
              <a:rPr sz="1300" b="0">
                <a:solidFill>
                  <a:srgbClr val="E8ECF1"/>
                </a:solidFill>
                <a:latin typeface="Calibri"/>
              </a:rPr>
              <a:t>YOU CONSUME (inputs from others)</a:t>
            </a:r>
          </a:p>
          <a:p>
            <a:pPr lvl="1">
              <a:spcAft>
                <a:spcPts val="400"/>
              </a:spcAft>
            </a:pPr>
            <a:r>
              <a:rPr sz="1200" b="0">
                <a:solidFill>
                  <a:srgbClr val="93A1B2"/>
                </a:solidFill>
                <a:latin typeface="Calibri"/>
              </a:rPr>
              <a:t>AMRState + MovementIntent from M5; MLAdvice from M3.</a:t>
            </a:r>
          </a:p>
          <a:p>
            <a:pPr>
              <a:spcAft>
                <a:spcPts val="400"/>
              </a:spcAft>
            </a:pPr>
          </a:p>
          <a:p>
            <a:pPr>
              <a:spcAft>
                <a:spcPts val="400"/>
              </a:spcAft>
            </a:pPr>
            <a:r>
              <a:rPr sz="1300" b="0">
                <a:solidFill>
                  <a:srgbClr val="E8ECF1"/>
                </a:solidFill>
                <a:latin typeface="Calibri"/>
              </a:rPr>
              <a:t>YOU PRODUCE (outputs others depend on)</a:t>
            </a:r>
          </a:p>
          <a:p>
            <a:pPr lvl="1">
              <a:spcAft>
                <a:spcPts val="400"/>
              </a:spcAft>
            </a:pPr>
            <a:r>
              <a:rPr sz="1200" b="0">
                <a:solidFill>
                  <a:srgbClr val="93A1B2"/>
                </a:solidFill>
                <a:latin typeface="Calibri"/>
              </a:rPr>
              <a:t>ConflictResult, AuctionDecision (with UtilityBreakdown), reservation state, CoordinationDirective to M5, RerouteRequest to M5's planner, events to M6.</a:t>
            </a:r>
          </a:p>
          <a:p>
            <a:pPr>
              <a:spcAft>
                <a:spcPts val="400"/>
              </a:spcAft>
            </a:pPr>
          </a:p>
          <a:p>
            <a:pPr>
              <a:spcAft>
                <a:spcPts val="400"/>
              </a:spcAft>
            </a:pPr>
            <a:r>
              <a:rPr sz="1300" b="1">
                <a:solidFill>
                  <a:srgbClr val="E8ECF1"/>
                </a:solidFill>
                <a:latin typeface="Calibri"/>
              </a:rPr>
              <a:t>STACK</a:t>
            </a:r>
          </a:p>
          <a:p>
            <a:pPr lvl="1">
              <a:spcAft>
                <a:spcPts val="400"/>
              </a:spcAft>
            </a:pPr>
            <a:r>
              <a:rPr sz="1200" b="0">
                <a:solidFill>
                  <a:srgbClr val="93A1B2"/>
                </a:solidFill>
                <a:latin typeface="Calibri"/>
              </a:rPr>
              <a:t>Python 3.11 + Pydantic v2 + pytest. No networking deps in the core - transport is injected via a Protocol.</a:t>
            </a:r>
          </a:p>
        </p:txBody>
      </p:sp>
      <p:sp>
        <p:nvSpPr>
          <p:cNvPr id="6" name="Rounded Rectangle 5"/>
          <p:cNvSpPr/>
          <p:nvPr/>
        </p:nvSpPr>
        <p:spPr>
          <a:xfrm>
            <a:off x="502920" y="6035040"/>
            <a:ext cx="11155680" cy="566928"/>
          </a:xfrm>
          <a:prstGeom prst="roundRect">
            <a:avLst/>
          </a:prstGeom>
          <a:solidFill>
            <a:srgbClr val="1B212A"/>
          </a:solidFill>
          <a:ln w="15875">
            <a:solidFill>
              <a:srgbClr val="F2B137"/>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a:lstStyle/>
          <a:p>
            <a:pPr algn="ctr">
              <a:spcAft>
                <a:spcPts val="400"/>
              </a:spcAft>
            </a:pPr>
            <a:r>
              <a:rPr sz="1200" b="1">
                <a:solidFill>
                  <a:srgbClr val="E8ECF1"/>
                </a:solidFill>
                <a:latin typeface="Calibri"/>
              </a:rPr>
              <a:t>All contracts are defined in docs/INTEGRATION_CONTRACTS.md. Change that file first, then your code.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F2B1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M4 - Week by Week</a:t>
            </a:r>
          </a:p>
          <a:p>
            <a:pPr>
              <a:spcAft>
                <a:spcPts val="400"/>
              </a:spcAft>
            </a:pPr>
            <a:r>
              <a:rPr sz="1300" b="0">
                <a:solidFill>
                  <a:srgbClr val="93A1B2"/>
                </a:solidFill>
                <a:latin typeface="Calibri"/>
              </a:rPr>
              <a:t>Every week ends with something demo-visible</a:t>
            </a:r>
          </a:p>
        </p:txBody>
      </p:sp>
      <p:graphicFrame>
        <p:nvGraphicFramePr>
          <p:cNvPr id="4" name="Table 3"/>
          <p:cNvGraphicFramePr>
            <a:graphicFrameLocks noGrp="1"/>
          </p:cNvGraphicFramePr>
          <p:nvPr/>
        </p:nvGraphicFramePr>
        <p:xfrm>
          <a:off x="502920" y="1371600"/>
          <a:ext cx="11155680" cy="1755648"/>
        </p:xfrm>
        <a:graphic>
          <a:graphicData uri="http://schemas.openxmlformats.org/drawingml/2006/table">
            <a:tbl>
              <a:tblPr firstRow="1" bandRow="1">
                <a:tableStyleId>{5C22544A-7EE6-4342-B048-85BDC9FD1C3A}</a:tableStyleId>
              </a:tblPr>
              <a:tblGrid>
                <a:gridCol w="914400"/>
                <a:gridCol w="10241280"/>
              </a:tblGrid>
              <a:tr h="292608">
                <a:tc>
                  <a:txBody>
                    <a:bodyPr/>
                    <a:lstStyle/>
                    <a:p>
                      <a:r>
                        <a:rPr sz="1300" b="1">
                          <a:solidFill>
                            <a:srgbClr val="3B9EFF"/>
                          </a:solidFill>
                        </a:rPr>
                        <a:t>Week</a:t>
                      </a:r>
                    </a:p>
                  </a:txBody>
                  <a:tcPr>
                    <a:solidFill>
                      <a:srgbClr val="1B212A"/>
                    </a:solidFill>
                  </a:tcPr>
                </a:tc>
                <a:tc>
                  <a:txBody>
                    <a:bodyPr/>
                    <a:lstStyle/>
                    <a:p>
                      <a:r>
                        <a:rPr sz="1300" b="1">
                          <a:solidFill>
                            <a:srgbClr val="3B9EFF"/>
                          </a:solidFill>
                        </a:rPr>
                        <a:t>Deliverable</a:t>
                      </a:r>
                    </a:p>
                  </a:txBody>
                  <a:tcPr>
                    <a:solidFill>
                      <a:srgbClr val="1B212A"/>
                    </a:solidFill>
                  </a:tcPr>
                </a:tc>
              </a:tr>
              <a:tr h="292608">
                <a:tc>
                  <a:txBody>
                    <a:bodyPr/>
                    <a:lstStyle/>
                    <a:p>
                      <a:r>
                        <a:rPr sz="1300">
                          <a:solidFill>
                            <a:srgbClr val="E8ECF1"/>
                          </a:solidFill>
                        </a:rPr>
                        <a:t>W1</a:t>
                      </a:r>
                    </a:p>
                  </a:txBody>
                  <a:tcPr>
                    <a:solidFill>
                      <a:srgbClr val="12161C"/>
                    </a:solidFill>
                  </a:tcPr>
                </a:tc>
                <a:tc>
                  <a:txBody>
                    <a:bodyPr/>
                    <a:lstStyle/>
                    <a:p>
                      <a:r>
                        <a:rPr sz="1300">
                          <a:solidFill>
                            <a:srgbClr val="E8ECF1"/>
                          </a:solidFill>
                        </a:rPr>
                        <a:t>Step 4B: transport, dedup, runtime loop, timeouts, TTL, re-auction</a:t>
                      </a:r>
                    </a:p>
                  </a:txBody>
                  <a:tcPr>
                    <a:solidFill>
                      <a:srgbClr val="12161C"/>
                    </a:solidFill>
                  </a:tcPr>
                </a:tc>
              </a:tr>
              <a:tr h="292608">
                <a:tc>
                  <a:txBody>
                    <a:bodyPr/>
                    <a:lstStyle/>
                    <a:p>
                      <a:r>
                        <a:rPr sz="1300">
                          <a:solidFill>
                            <a:srgbClr val="E8ECF1"/>
                          </a:solidFill>
                        </a:rPr>
                        <a:t>W2</a:t>
                      </a:r>
                    </a:p>
                  </a:txBody>
                  <a:tcPr>
                    <a:solidFill>
                      <a:srgbClr val="1B212A"/>
                    </a:solidFill>
                  </a:tcPr>
                </a:tc>
                <a:tc>
                  <a:txBody>
                    <a:bodyPr/>
                    <a:lstStyle/>
                    <a:p>
                      <a:r>
                        <a:rPr sz="1300">
                          <a:solidFill>
                            <a:srgbClr val="E8ECF1"/>
                          </a:solidFill>
                        </a:rPr>
                        <a:t>3-robot vertical slice with M5; spatial broad phase</a:t>
                      </a:r>
                    </a:p>
                  </a:txBody>
                  <a:tcPr>
                    <a:solidFill>
                      <a:srgbClr val="1B212A"/>
                    </a:solidFill>
                  </a:tcPr>
                </a:tc>
              </a:tr>
              <a:tr h="292608">
                <a:tc>
                  <a:txBody>
                    <a:bodyPr/>
                    <a:lstStyle/>
                    <a:p>
                      <a:r>
                        <a:rPr sz="1300">
                          <a:solidFill>
                            <a:srgbClr val="E8ECF1"/>
                          </a:solidFill>
                        </a:rPr>
                        <a:t>W3</a:t>
                      </a:r>
                    </a:p>
                  </a:txBody>
                  <a:tcPr>
                    <a:solidFill>
                      <a:srgbClr val="12161C"/>
                    </a:solidFill>
                  </a:tcPr>
                </a:tc>
                <a:tc>
                  <a:txBody>
                    <a:bodyPr/>
                    <a:lstStyle/>
                    <a:p>
                      <a:r>
                        <a:rPr sz="1300">
                          <a:solidFill>
                            <a:srgbClr val="E8ECF1"/>
                          </a:solidFill>
                        </a:rPr>
                        <a:t>Deadlock detection + recovery; heartbeat + reservation invalidation</a:t>
                      </a:r>
                    </a:p>
                  </a:txBody>
                  <a:tcPr>
                    <a:solidFill>
                      <a:srgbClr val="12161C"/>
                    </a:solidFill>
                  </a:tcPr>
                </a:tc>
              </a:tr>
              <a:tr h="292608">
                <a:tc>
                  <a:txBody>
                    <a:bodyPr/>
                    <a:lstStyle/>
                    <a:p>
                      <a:r>
                        <a:rPr sz="1300">
                          <a:solidFill>
                            <a:srgbClr val="E8ECF1"/>
                          </a:solidFill>
                        </a:rPr>
                        <a:t>W4</a:t>
                      </a:r>
                    </a:p>
                  </a:txBody>
                  <a:tcPr>
                    <a:solidFill>
                      <a:srgbClr val="1B212A"/>
                    </a:solidFill>
                  </a:tcPr>
                </a:tc>
                <a:tc>
                  <a:txBody>
                    <a:bodyPr/>
                    <a:lstStyle/>
                    <a:p>
                      <a:r>
                        <a:rPr sz="1300">
                          <a:solidFill>
                            <a:srgbClr val="E8ECF1"/>
                          </a:solidFill>
                        </a:rPr>
                        <a:t>N1 verifiable bids; SLOW/REROUTE policy; degraded-mode ladder</a:t>
                      </a:r>
                    </a:p>
                  </a:txBody>
                  <a:tcPr>
                    <a:solidFill>
                      <a:srgbClr val="1B212A"/>
                    </a:solidFill>
                  </a:tcPr>
                </a:tc>
              </a:tr>
              <a:tr h="292608">
                <a:tc>
                  <a:txBody>
                    <a:bodyPr/>
                    <a:lstStyle/>
                    <a:p>
                      <a:r>
                        <a:rPr sz="1300">
                          <a:solidFill>
                            <a:srgbClr val="E8ECF1"/>
                          </a:solidFill>
                        </a:rPr>
                        <a:t>W5</a:t>
                      </a:r>
                    </a:p>
                  </a:txBody>
                  <a:tcPr>
                    <a:solidFill>
                      <a:srgbClr val="12161C"/>
                    </a:solidFill>
                  </a:tcPr>
                </a:tc>
                <a:tc>
                  <a:txBody>
                    <a:bodyPr/>
                    <a:lstStyle/>
                    <a:p>
                      <a:r>
                        <a:rPr sz="1300">
                          <a:solidFill>
                            <a:srgbClr val="E8ECF1"/>
                          </a:solidFill>
                        </a:rPr>
                        <a:t>N3 decision chain; fault-injection scenarios; 50-robot scale test</a:t>
                      </a:r>
                    </a:p>
                  </a:txBody>
                  <a:tcPr>
                    <a:solidFill>
                      <a:srgbClr val="12161C"/>
                    </a:solidFill>
                  </a:tcPr>
                </a:tc>
              </a:tr>
            </a:tbl>
          </a:graphicData>
        </a:graphic>
      </p:graphicFrame>
      <p:sp>
        <p:nvSpPr>
          <p:cNvPr id="5" name="TextBox 4"/>
          <p:cNvSpPr txBox="1"/>
          <p:nvPr/>
        </p:nvSpPr>
        <p:spPr>
          <a:xfrm>
            <a:off x="502920" y="3931920"/>
            <a:ext cx="11155680" cy="5120640"/>
          </a:xfrm>
          <a:prstGeom prst="rect">
            <a:avLst/>
          </a:prstGeom>
          <a:noFill/>
        </p:spPr>
        <p:txBody>
          <a:bodyPr wrap="square">
            <a:spAutoFit/>
          </a:bodyPr>
          <a:lstStyle/>
          <a:p>
            <a:pPr>
              <a:spcAft>
                <a:spcPts val="600"/>
              </a:spcAft>
            </a:pPr>
            <a:r>
              <a:rPr sz="1300" b="0">
                <a:solidFill>
                  <a:srgbClr val="E8ECF1"/>
                </a:solidFill>
                <a:latin typeface="Calibri"/>
              </a:rPr>
              <a:t>Rules that apply to everyone:</a:t>
            </a:r>
          </a:p>
          <a:p>
            <a:pPr lvl="1">
              <a:spcAft>
                <a:spcPts val="600"/>
              </a:spcAft>
            </a:pPr>
            <a:r>
              <a:rPr sz="1200" b="0">
                <a:solidFill>
                  <a:srgbClr val="93A1B2"/>
                </a:solidFill>
                <a:latin typeface="Calibri"/>
              </a:rPr>
              <a:t>Nothing is 'done' until it runs in the integrated demo.</a:t>
            </a:r>
          </a:p>
          <a:p>
            <a:pPr lvl="1">
              <a:spcAft>
                <a:spcPts val="600"/>
              </a:spcAft>
            </a:pPr>
            <a:r>
              <a:rPr sz="1200" b="0">
                <a:solidFill>
                  <a:srgbClr val="93A1B2"/>
                </a:solidFill>
                <a:latin typeface="Calibri"/>
              </a:rPr>
              <a:t>Commit small and often. Never break main.</a:t>
            </a:r>
          </a:p>
          <a:p>
            <a:pPr lvl="1">
              <a:spcAft>
                <a:spcPts val="600"/>
              </a:spcAft>
            </a:pPr>
            <a:r>
              <a:rPr sz="1200" b="0">
                <a:solidFill>
                  <a:srgbClr val="93A1B2"/>
                </a:solidFill>
                <a:latin typeface="Calibri"/>
              </a:rPr>
              <a:t>If you are blocked for more than half a day, say so immediately.</a:t>
            </a:r>
          </a:p>
          <a:p>
            <a:pPr lvl="1">
              <a:spcAft>
                <a:spcPts val="600"/>
              </a:spcAft>
            </a:pPr>
            <a:r>
              <a:rPr sz="1200" b="0">
                <a:solidFill>
                  <a:srgbClr val="93A1B2"/>
                </a:solidFill>
                <a:latin typeface="Calibri"/>
              </a:rPr>
              <a:t>No secrets in code, docs, commits or screenshots. Ever.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F2B1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M4 - Your Q&amp;A Defence</a:t>
            </a:r>
          </a:p>
          <a:p>
            <a:pPr>
              <a:spcAft>
                <a:spcPts val="400"/>
              </a:spcAft>
            </a:pPr>
            <a:r>
              <a:rPr sz="1300" b="0">
                <a:solidFill>
                  <a:srgbClr val="93A1B2"/>
                </a:solidFill>
                <a:latin typeface="Calibri"/>
              </a:rPr>
              <a:t>SIH judges question members individually. Know these cold.</a:t>
            </a:r>
          </a:p>
        </p:txBody>
      </p:sp>
      <p:sp>
        <p:nvSpPr>
          <p:cNvPr id="4" name="TextBox 3"/>
          <p:cNvSpPr txBox="1"/>
          <p:nvPr/>
        </p:nvSpPr>
        <p:spPr>
          <a:xfrm>
            <a:off x="502920" y="1188720"/>
            <a:ext cx="11155680" cy="5394960"/>
          </a:xfrm>
          <a:prstGeom prst="rect">
            <a:avLst/>
          </a:prstGeom>
          <a:noFill/>
        </p:spPr>
        <p:txBody>
          <a:bodyPr wrap="square">
            <a:spAutoFit/>
          </a:bodyPr>
          <a:lstStyle/>
          <a:p>
            <a:pPr>
              <a:spcAft>
                <a:spcPts val="700"/>
              </a:spcAft>
            </a:pPr>
            <a:r>
              <a:rPr sz="1200" b="0">
                <a:solidFill>
                  <a:srgbClr val="F2B137"/>
                </a:solidFill>
                <a:latin typeface="Calibri"/>
              </a:rPr>
              <a:t>Q: This runs in one process. In what sense is it decentralized?</a:t>
            </a:r>
          </a:p>
          <a:p>
            <a:pPr lvl="1">
              <a:spcAft>
                <a:spcPts val="700"/>
              </a:spcAft>
            </a:pPr>
            <a:r>
              <a:rPr sz="1100" b="0">
                <a:solidFill>
                  <a:srgbClr val="93A1B2"/>
                </a:solidFill>
                <a:latin typeface="Calibri"/>
              </a:rPr>
              <a:t>A: The winner-selection function compute_ranking is pure and has no shared state. We run N independent engine instances, partition the message bus so they cannot talk, and show every instance independently computes the identical decision_id. That is the convergence property, demonstrated rather than asserted.</a:t>
            </a:r>
          </a:p>
          <a:p>
            <a:pPr>
              <a:spcAft>
                <a:spcPts val="700"/>
              </a:spcAft>
            </a:pPr>
            <a:r>
              <a:rPr sz="1200" b="0">
                <a:solidFill>
                  <a:srgbClr val="F2B137"/>
                </a:solidFill>
                <a:latin typeface="Calibri"/>
              </a:rPr>
              <a:t>Q: How do you guarantee zero collisions?</a:t>
            </a:r>
          </a:p>
          <a:p>
            <a:pPr lvl="1">
              <a:spcAft>
                <a:spcPts val="700"/>
              </a:spcAft>
            </a:pPr>
            <a:r>
              <a:rPr sz="1100" b="0">
                <a:solidFill>
                  <a:srgbClr val="93A1B2"/>
                </a:solidFill>
                <a:latin typeface="Calibri"/>
              </a:rPr>
              <a:t>A: We do not claim a formal guarantee - that would need proof we have not done. We claim zero collisions in all tested scenarios, enforced by a reservation engine that is the single authority for entering a contested corridor, plus a SAFE_HALT fallback when a robot cannot confirm a reservation.</a:t>
            </a:r>
          </a:p>
          <a:p>
            <a:pPr>
              <a:spcAft>
                <a:spcPts val="700"/>
              </a:spcAft>
            </a:pPr>
            <a:r>
              <a:rPr sz="1200" b="0">
                <a:solidFill>
                  <a:srgbClr val="F2B137"/>
                </a:solidFill>
                <a:latin typeface="Calibri"/>
              </a:rPr>
              <a:t>Q: What stops the same robot losing every auction forever?</a:t>
            </a:r>
          </a:p>
          <a:p>
            <a:pPr lvl="1">
              <a:spcAft>
                <a:spcPts val="700"/>
              </a:spcAft>
            </a:pPr>
            <a:r>
              <a:rPr sz="1100" b="0">
                <a:solidFill>
                  <a:srgbClr val="93A1B2"/>
                </a:solidFill>
                <a:latin typeface="Calibri"/>
              </a:rPr>
              <a:t>A: An exponential aging term: aging = 1 - exp(-t*ln2/half_life), half_life 60 s. It is bounded, monotonic and weighted at 0.15, so a repeatedly-losing robot's utility rises until it wins. Aging is also the second tie-break key.</a:t>
            </a:r>
          </a:p>
          <a:p>
            <a:pPr>
              <a:spcAft>
                <a:spcPts val="700"/>
              </a:spcAft>
            </a:pPr>
            <a:r>
              <a:rPr sz="1200" b="0">
                <a:solidFill>
                  <a:srgbClr val="F2B137"/>
                </a:solidFill>
                <a:latin typeface="Calibri"/>
              </a:rPr>
              <a:t>Q: Why an auction instead of fixed priorities or a central planner?</a:t>
            </a:r>
          </a:p>
          <a:p>
            <a:pPr lvl="1">
              <a:spcAft>
                <a:spcPts val="700"/>
              </a:spcAft>
            </a:pPr>
            <a:r>
              <a:rPr sz="1100" b="0">
                <a:solidFill>
                  <a:srgbClr val="93A1B2"/>
                </a:solidFill>
                <a:latin typeface="Calibri"/>
              </a:rPr>
              <a:t>A: Fixed priorities starve low-priority robots and ignore context. A central planner reintroduces the latency and single-point-of-failure the problem statement asks us to avoid. An auction uses local information only, and determinism gives us reproducibility without a central auctioneer.</a:t>
            </a:r>
          </a:p>
          <a:p>
            <a:pPr>
              <a:spcAft>
                <a:spcPts val="700"/>
              </a:spcAft>
            </a:pPr>
            <a:r>
              <a:rPr sz="1200" b="0">
                <a:solidFill>
                  <a:srgbClr val="F2B137"/>
                </a:solidFill>
                <a:latin typeface="Calibri"/>
              </a:rPr>
              <a:t>Q: What if a robot lies about its battery to win?</a:t>
            </a:r>
          </a:p>
          <a:p>
            <a:pPr lvl="1">
              <a:spcAft>
                <a:spcPts val="700"/>
              </a:spcAft>
            </a:pPr>
            <a:r>
              <a:rPr sz="1100" b="0">
                <a:solidFill>
                  <a:srgbClr val="93A1B2"/>
                </a:solidFill>
                <a:latin typeface="Calibri"/>
              </a:rPr>
              <a:t>A: We cross-check every declared bid value against independently observed peer state. Inconsistent bids are rejected and lower the robot's trust score. We demo this live by making a robot lie.</a:t>
            </a:r>
          </a:p>
          <a:p>
            <a:pPr>
              <a:spcAft>
                <a:spcPts val="700"/>
              </a:spcAft>
            </a:pPr>
            <a:r>
              <a:rPr sz="1200" b="0">
                <a:solidFill>
                  <a:srgbClr val="F2B137"/>
                </a:solidFill>
                <a:latin typeface="Calibri"/>
              </a:rPr>
              <a:t>Q: What are the known limits of your design?</a:t>
            </a:r>
          </a:p>
          <a:p>
            <a:pPr lvl="1">
              <a:spcAft>
                <a:spcPts val="700"/>
              </a:spcAft>
            </a:pPr>
            <a:r>
              <a:rPr sz="1100" b="0">
                <a:solidFill>
                  <a:srgbClr val="93A1B2"/>
                </a:solidFill>
                <a:latin typeface="Calibri"/>
              </a:rPr>
              <a:t>A: Reservation authority is currently a shared instance, which is a hidden centralised component. Utility weights are empirically tuned, not optimal. We have no formal deadlock-freedom proof. We state all three openly.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4FD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M5 - Simulation + Path Planning</a:t>
            </a:r>
          </a:p>
          <a:p>
            <a:pPr>
              <a:spcAft>
                <a:spcPts val="400"/>
              </a:spcAft>
            </a:pPr>
            <a:r>
              <a:rPr sz="1300" b="0">
                <a:solidFill>
                  <a:srgbClr val="93A1B2"/>
                </a:solidFill>
                <a:latin typeface="Calibri"/>
              </a:rPr>
              <a:t>Your mission and the features you own</a:t>
            </a:r>
          </a:p>
        </p:txBody>
      </p:sp>
      <p:sp>
        <p:nvSpPr>
          <p:cNvPr id="4" name="Rounded Rectangle 3"/>
          <p:cNvSpPr/>
          <p:nvPr/>
        </p:nvSpPr>
        <p:spPr>
          <a:xfrm>
            <a:off x="502920" y="1188720"/>
            <a:ext cx="11155680" cy="731520"/>
          </a:xfrm>
          <a:prstGeom prst="roundRect">
            <a:avLst/>
          </a:prstGeom>
          <a:solidFill>
            <a:srgbClr val="1B212A"/>
          </a:solidFill>
          <a:ln w="15875">
            <a:solidFill>
              <a:srgbClr val="4FD1C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91440"/>
          <a:lstStyle/>
          <a:p>
            <a:pPr algn="ctr">
              <a:spcAft>
                <a:spcPts val="400"/>
              </a:spcAft>
            </a:pPr>
            <a:r>
              <a:rPr sz="1400" b="1">
                <a:solidFill>
                  <a:srgbClr val="E8ECF1"/>
                </a:solidFill>
                <a:latin typeface="Calibri"/>
              </a:rPr>
              <a:t>Own the virtual warehouse, robot motion, AND path planning - plus the stop-and-wait baseline we are measured against.</a:t>
            </a:r>
          </a:p>
        </p:txBody>
      </p:sp>
      <p:sp>
        <p:nvSpPr>
          <p:cNvPr id="5" name="TextBox 4"/>
          <p:cNvSpPr txBox="1"/>
          <p:nvPr/>
        </p:nvSpPr>
        <p:spPr>
          <a:xfrm>
            <a:off x="502920" y="2148840"/>
            <a:ext cx="11155680" cy="5120640"/>
          </a:xfrm>
          <a:prstGeom prst="rect">
            <a:avLst/>
          </a:prstGeom>
          <a:noFill/>
        </p:spPr>
        <p:txBody>
          <a:bodyPr wrap="square">
            <a:spAutoFit/>
          </a:bodyPr>
          <a:lstStyle/>
          <a:p>
            <a:pPr>
              <a:spcAft>
                <a:spcPts val="500"/>
              </a:spcAft>
            </a:pPr>
            <a:r>
              <a:rPr sz="1400" b="0">
                <a:solidFill>
                  <a:srgbClr val="E8ECF1"/>
                </a:solidFill>
                <a:latin typeface="Calibri"/>
              </a:rPr>
              <a:t>Warehouse world: grid, racks, aisles, pick stations, charger bays</a:t>
            </a:r>
          </a:p>
          <a:p>
            <a:pPr>
              <a:spcAft>
                <a:spcPts val="500"/>
              </a:spcAft>
            </a:pPr>
            <a:r>
              <a:rPr sz="1400" b="0">
                <a:solidFill>
                  <a:srgbClr val="E8ECF1"/>
                </a:solidFill>
                <a:latin typeface="Calibri"/>
              </a:rPr>
              <a:t>Robot kinematics for 50 robots (100+ for stress tests)</a:t>
            </a:r>
          </a:p>
          <a:p>
            <a:pPr>
              <a:spcAft>
                <a:spcPts val="500"/>
              </a:spcAft>
            </a:pPr>
            <a:r>
              <a:rPr sz="1400" b="0">
                <a:solidFill>
                  <a:srgbClr val="E8ECF1"/>
                </a:solidFill>
                <a:latin typeface="Calibri"/>
              </a:rPr>
              <a:t>A* path planning + D* Lite style replanning on blockage</a:t>
            </a:r>
          </a:p>
          <a:p>
            <a:pPr>
              <a:spcAft>
                <a:spcPts val="500"/>
              </a:spcAft>
            </a:pPr>
            <a:r>
              <a:rPr sz="1400" b="0">
                <a:solidFill>
                  <a:srgbClr val="E8ECF1"/>
                </a:solidFill>
                <a:latin typeface="Calibri"/>
              </a:rPr>
              <a:t>Congestion-aware costs from M3's CongestionField</a:t>
            </a:r>
          </a:p>
          <a:p>
            <a:pPr>
              <a:spcAft>
                <a:spcPts val="500"/>
              </a:spcAft>
            </a:pPr>
            <a:r>
              <a:rPr sz="1400" b="0">
                <a:solidFill>
                  <a:srgbClr val="E8ECF1"/>
                </a:solidFill>
                <a:latin typeface="Calibri"/>
              </a:rPr>
              <a:t>Scenario scripting: congestion, blocked aisle, robot failure, comms</a:t>
            </a:r>
          </a:p>
          <a:p>
            <a:pPr>
              <a:spcAft>
                <a:spcPts val="500"/>
              </a:spcAft>
            </a:pPr>
            <a:r>
              <a:rPr sz="1400" b="0">
                <a:solidFill>
                  <a:srgbClr val="E8ECF1"/>
                </a:solidFill>
                <a:latin typeface="Calibri"/>
              </a:rPr>
              <a:t>SEEDED DETERMINISM - same seed reproduces the run exactly</a:t>
            </a:r>
          </a:p>
          <a:p>
            <a:pPr>
              <a:spcAft>
                <a:spcPts val="500"/>
              </a:spcAft>
            </a:pPr>
            <a:r>
              <a:rPr sz="1400" b="0">
                <a:solidFill>
                  <a:srgbClr val="E8ECF1"/>
                </a:solidFill>
                <a:latin typeface="Calibri"/>
              </a:rPr>
              <a:t>Collision detection (ground truth for the zero-collision claim)</a:t>
            </a:r>
          </a:p>
          <a:p>
            <a:pPr>
              <a:spcAft>
                <a:spcPts val="500"/>
              </a:spcAft>
            </a:pPr>
            <a:r>
              <a:rPr sz="1400" b="0">
                <a:solidFill>
                  <a:srgbClr val="E8ECF1"/>
                </a:solidFill>
                <a:latin typeface="Calibri"/>
              </a:rPr>
              <a:t>STOP-AND-WAIT BASELINE POLICY - what the 20% is measured against</a:t>
            </a:r>
          </a:p>
          <a:p>
            <a:pPr>
              <a:spcAft>
                <a:spcPts val="500"/>
              </a:spcAft>
            </a:pPr>
            <a:r>
              <a:rPr sz="1400" b="0">
                <a:solidFill>
                  <a:srgbClr val="E8ECF1"/>
                </a:solidFill>
                <a:latin typeface="Calibri"/>
              </a:rPr>
              <a:t>Tick loop driving the whole simulation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4FD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M5 - Files and Interfaces</a:t>
            </a:r>
          </a:p>
          <a:p>
            <a:pPr>
              <a:spcAft>
                <a:spcPts val="400"/>
              </a:spcAft>
            </a:pPr>
            <a:r>
              <a:rPr sz="1300" b="0">
                <a:solidFill>
                  <a:srgbClr val="93A1B2"/>
                </a:solidFill>
                <a:latin typeface="Calibri"/>
              </a:rPr>
              <a:t>What you own on disk, and who you depend on</a:t>
            </a:r>
          </a:p>
        </p:txBody>
      </p:sp>
      <p:sp>
        <p:nvSpPr>
          <p:cNvPr id="4" name="TextBox 3"/>
          <p:cNvSpPr txBox="1"/>
          <p:nvPr/>
        </p:nvSpPr>
        <p:spPr>
          <a:xfrm>
            <a:off x="502920" y="1188720"/>
            <a:ext cx="11155680" cy="2286000"/>
          </a:xfrm>
          <a:prstGeom prst="rect">
            <a:avLst/>
          </a:prstGeom>
          <a:noFill/>
        </p:spPr>
        <p:txBody>
          <a:bodyPr wrap="square">
            <a:spAutoFit/>
          </a:bodyPr>
          <a:lstStyle/>
          <a:p>
            <a:pPr>
              <a:spcAft>
                <a:spcPts val="400"/>
              </a:spcAft>
            </a:pPr>
            <a:r>
              <a:rPr sz="1300" b="1">
                <a:solidFill>
                  <a:srgbClr val="4FD1C5"/>
                </a:solidFill>
                <a:latin typeface="Calibri"/>
              </a:rPr>
              <a:t>FILES YOU OWN</a:t>
            </a:r>
          </a:p>
          <a:p>
            <a:pPr>
              <a:spcAft>
                <a:spcPts val="200"/>
              </a:spcAft>
            </a:pPr>
            <a:r>
              <a:rPr sz="1100" b="0">
                <a:solidFill>
                  <a:srgbClr val="E8ECF1"/>
                </a:solidFill>
                <a:latin typeface="Consolas"/>
              </a:rPr>
              <a:t>sim/world.py            (grid, racks, aisles, chargers)</a:t>
            </a:r>
          </a:p>
          <a:p>
            <a:pPr>
              <a:spcAft>
                <a:spcPts val="200"/>
              </a:spcAft>
            </a:pPr>
            <a:r>
              <a:rPr sz="1100" b="0">
                <a:solidFill>
                  <a:srgbClr val="E8ECF1"/>
                </a:solidFill>
                <a:latin typeface="Consolas"/>
              </a:rPr>
              <a:t>sim/robot.py            (kinematics, battery drain, status FSM)</a:t>
            </a:r>
          </a:p>
          <a:p>
            <a:pPr>
              <a:spcAft>
                <a:spcPts val="200"/>
              </a:spcAft>
            </a:pPr>
            <a:r>
              <a:rPr sz="1100" b="0">
                <a:solidFill>
                  <a:srgbClr val="E8ECF1"/>
                </a:solidFill>
                <a:latin typeface="Consolas"/>
              </a:rPr>
              <a:t>sim/engine.py           (tick loop, seeded RNG, collision check)</a:t>
            </a:r>
          </a:p>
          <a:p>
            <a:pPr>
              <a:spcAft>
                <a:spcPts val="200"/>
              </a:spcAft>
            </a:pPr>
            <a:r>
              <a:rPr sz="1100" b="0">
                <a:solidFill>
                  <a:srgbClr val="E8ECF1"/>
                </a:solidFill>
                <a:latin typeface="Consolas"/>
              </a:rPr>
              <a:t>sim/scenarios.py        (named reproducible scenarios)</a:t>
            </a:r>
          </a:p>
          <a:p>
            <a:pPr>
              <a:spcAft>
                <a:spcPts val="200"/>
              </a:spcAft>
            </a:pPr>
            <a:r>
              <a:rPr sz="1100" b="0">
                <a:solidFill>
                  <a:srgbClr val="E8ECF1"/>
                </a:solidFill>
                <a:latin typeface="Consolas"/>
              </a:rPr>
              <a:t>planner/astar.py        (A* on the warehouse grid)</a:t>
            </a:r>
          </a:p>
          <a:p>
            <a:pPr>
              <a:spcAft>
                <a:spcPts val="200"/>
              </a:spcAft>
            </a:pPr>
            <a:r>
              <a:rPr sz="1100" b="0">
                <a:solidFill>
                  <a:srgbClr val="E8ECF1"/>
                </a:solidFill>
                <a:latin typeface="Consolas"/>
              </a:rPr>
              <a:t>planner/replan.py       (D* Lite style incremental replanning)</a:t>
            </a:r>
          </a:p>
          <a:p>
            <a:pPr>
              <a:spcAft>
                <a:spcPts val="200"/>
              </a:spcAft>
            </a:pPr>
            <a:r>
              <a:rPr sz="1100" b="0">
                <a:solidFill>
                  <a:srgbClr val="E8ECF1"/>
                </a:solidFill>
                <a:latin typeface="Consolas"/>
              </a:rPr>
              <a:t>planner/baseline.py     (STOP_AND_WAIT policy)</a:t>
            </a:r>
          </a:p>
        </p:txBody>
      </p:sp>
      <p:sp>
        <p:nvSpPr>
          <p:cNvPr id="5" name="TextBox 4"/>
          <p:cNvSpPr txBox="1"/>
          <p:nvPr/>
        </p:nvSpPr>
        <p:spPr>
          <a:xfrm>
            <a:off x="502920" y="3657600"/>
            <a:ext cx="11155680" cy="5120640"/>
          </a:xfrm>
          <a:prstGeom prst="rect">
            <a:avLst/>
          </a:prstGeom>
          <a:noFill/>
        </p:spPr>
        <p:txBody>
          <a:bodyPr wrap="square">
            <a:spAutoFit/>
          </a:bodyPr>
          <a:lstStyle/>
          <a:p>
            <a:pPr>
              <a:spcAft>
                <a:spcPts val="400"/>
              </a:spcAft>
            </a:pPr>
            <a:r>
              <a:rPr sz="1300" b="0">
                <a:solidFill>
                  <a:srgbClr val="E8ECF1"/>
                </a:solidFill>
                <a:latin typeface="Calibri"/>
              </a:rPr>
              <a:t>YOU CONSUME (inputs from others)</a:t>
            </a:r>
          </a:p>
          <a:p>
            <a:pPr lvl="1">
              <a:spcAft>
                <a:spcPts val="400"/>
              </a:spcAft>
            </a:pPr>
            <a:r>
              <a:rPr sz="1200" b="0">
                <a:solidFill>
                  <a:srgbClr val="93A1B2"/>
                </a:solidFill>
                <a:latin typeface="Calibri"/>
              </a:rPr>
              <a:t>CoordinationDirective + RerouteRequest from M4; CongestionField from M3; scenario commands from M2.</a:t>
            </a:r>
          </a:p>
          <a:p>
            <a:pPr>
              <a:spcAft>
                <a:spcPts val="400"/>
              </a:spcAft>
            </a:pPr>
          </a:p>
          <a:p>
            <a:pPr>
              <a:spcAft>
                <a:spcPts val="400"/>
              </a:spcAft>
            </a:pPr>
            <a:r>
              <a:rPr sz="1300" b="0">
                <a:solidFill>
                  <a:srgbClr val="E8ECF1"/>
                </a:solidFill>
                <a:latin typeface="Calibri"/>
              </a:rPr>
              <a:t>YOU PRODUCE (outputs others depend on)</a:t>
            </a:r>
          </a:p>
          <a:p>
            <a:pPr lvl="1">
              <a:spcAft>
                <a:spcPts val="400"/>
              </a:spcAft>
            </a:pPr>
            <a:r>
              <a:rPr sz="1200" b="0">
                <a:solidFill>
                  <a:srgbClr val="93A1B2"/>
                </a:solidFill>
                <a:latin typeface="Calibri"/>
              </a:rPr>
              <a:t>AMRState per robot per tick; MovementIntent with a strictly increasing path_version on every replan; collision and task completion events.</a:t>
            </a:r>
          </a:p>
          <a:p>
            <a:pPr>
              <a:spcAft>
                <a:spcPts val="400"/>
              </a:spcAft>
            </a:pPr>
          </a:p>
          <a:p>
            <a:pPr>
              <a:spcAft>
                <a:spcPts val="400"/>
              </a:spcAft>
            </a:pPr>
            <a:r>
              <a:rPr sz="1300" b="1">
                <a:solidFill>
                  <a:srgbClr val="E8ECF1"/>
                </a:solidFill>
                <a:latin typeface="Calibri"/>
              </a:rPr>
              <a:t>STACK</a:t>
            </a:r>
          </a:p>
          <a:p>
            <a:pPr lvl="1">
              <a:spcAft>
                <a:spcPts val="400"/>
              </a:spcAft>
            </a:pPr>
            <a:r>
              <a:rPr sz="1200" b="0">
                <a:solidFill>
                  <a:srgbClr val="93A1B2"/>
                </a:solidFill>
                <a:latin typeface="Calibri"/>
              </a:rPr>
              <a:t>Python 3.11 + NumPy. Deterministic seeded RNG only - no unseeded randomness anywhere.</a:t>
            </a:r>
          </a:p>
        </p:txBody>
      </p:sp>
      <p:sp>
        <p:nvSpPr>
          <p:cNvPr id="6" name="Rounded Rectangle 5"/>
          <p:cNvSpPr/>
          <p:nvPr/>
        </p:nvSpPr>
        <p:spPr>
          <a:xfrm>
            <a:off x="502920" y="6035040"/>
            <a:ext cx="11155680" cy="566928"/>
          </a:xfrm>
          <a:prstGeom prst="roundRect">
            <a:avLst/>
          </a:prstGeom>
          <a:solidFill>
            <a:srgbClr val="1B212A"/>
          </a:solidFill>
          <a:ln w="15875">
            <a:solidFill>
              <a:srgbClr val="4FD1C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a:lstStyle/>
          <a:p>
            <a:pPr algn="ctr">
              <a:spcAft>
                <a:spcPts val="400"/>
              </a:spcAft>
            </a:pPr>
            <a:r>
              <a:rPr sz="1200" b="1">
                <a:solidFill>
                  <a:srgbClr val="E8ECF1"/>
                </a:solidFill>
                <a:latin typeface="Calibri"/>
              </a:rPr>
              <a:t>All contracts are defined in docs/INTEGRATION_CONTRACTS.md. Change that file first, then your code.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4FD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M5 - Week by Week</a:t>
            </a:r>
          </a:p>
          <a:p>
            <a:pPr>
              <a:spcAft>
                <a:spcPts val="400"/>
              </a:spcAft>
            </a:pPr>
            <a:r>
              <a:rPr sz="1300" b="0">
                <a:solidFill>
                  <a:srgbClr val="93A1B2"/>
                </a:solidFill>
                <a:latin typeface="Calibri"/>
              </a:rPr>
              <a:t>Every week ends with something demo-visible</a:t>
            </a:r>
          </a:p>
        </p:txBody>
      </p:sp>
      <p:graphicFrame>
        <p:nvGraphicFramePr>
          <p:cNvPr id="4" name="Table 3"/>
          <p:cNvGraphicFramePr>
            <a:graphicFrameLocks noGrp="1"/>
          </p:cNvGraphicFramePr>
          <p:nvPr/>
        </p:nvGraphicFramePr>
        <p:xfrm>
          <a:off x="502920" y="1371600"/>
          <a:ext cx="11155680" cy="1755648"/>
        </p:xfrm>
        <a:graphic>
          <a:graphicData uri="http://schemas.openxmlformats.org/drawingml/2006/table">
            <a:tbl>
              <a:tblPr firstRow="1" bandRow="1">
                <a:tableStyleId>{5C22544A-7EE6-4342-B048-85BDC9FD1C3A}</a:tableStyleId>
              </a:tblPr>
              <a:tblGrid>
                <a:gridCol w="914400"/>
                <a:gridCol w="10241280"/>
              </a:tblGrid>
              <a:tr h="292608">
                <a:tc>
                  <a:txBody>
                    <a:bodyPr/>
                    <a:lstStyle/>
                    <a:p>
                      <a:r>
                        <a:rPr sz="1300" b="1">
                          <a:solidFill>
                            <a:srgbClr val="3B9EFF"/>
                          </a:solidFill>
                        </a:rPr>
                        <a:t>Week</a:t>
                      </a:r>
                    </a:p>
                  </a:txBody>
                  <a:tcPr>
                    <a:solidFill>
                      <a:srgbClr val="1B212A"/>
                    </a:solidFill>
                  </a:tcPr>
                </a:tc>
                <a:tc>
                  <a:txBody>
                    <a:bodyPr/>
                    <a:lstStyle/>
                    <a:p>
                      <a:r>
                        <a:rPr sz="1300" b="1">
                          <a:solidFill>
                            <a:srgbClr val="3B9EFF"/>
                          </a:solidFill>
                        </a:rPr>
                        <a:t>Deliverable</a:t>
                      </a:r>
                    </a:p>
                  </a:txBody>
                  <a:tcPr>
                    <a:solidFill>
                      <a:srgbClr val="1B212A"/>
                    </a:solidFill>
                  </a:tcPr>
                </a:tc>
              </a:tr>
              <a:tr h="292608">
                <a:tc>
                  <a:txBody>
                    <a:bodyPr/>
                    <a:lstStyle/>
                    <a:p>
                      <a:r>
                        <a:rPr sz="1300">
                          <a:solidFill>
                            <a:srgbClr val="E8ECF1"/>
                          </a:solidFill>
                        </a:rPr>
                        <a:t>W1</a:t>
                      </a:r>
                    </a:p>
                  </a:txBody>
                  <a:tcPr>
                    <a:solidFill>
                      <a:srgbClr val="12161C"/>
                    </a:solidFill>
                  </a:tcPr>
                </a:tc>
                <a:tc>
                  <a:txBody>
                    <a:bodyPr/>
                    <a:lstStyle/>
                    <a:p>
                      <a:r>
                        <a:rPr sz="1300">
                          <a:solidFill>
                            <a:srgbClr val="E8ECF1"/>
                          </a:solidFill>
                        </a:rPr>
                        <a:t>Grid world + 3 robots moving + A* + seeded tick loop</a:t>
                      </a:r>
                    </a:p>
                  </a:txBody>
                  <a:tcPr>
                    <a:solidFill>
                      <a:srgbClr val="12161C"/>
                    </a:solidFill>
                  </a:tcPr>
                </a:tc>
              </a:tr>
              <a:tr h="292608">
                <a:tc>
                  <a:txBody>
                    <a:bodyPr/>
                    <a:lstStyle/>
                    <a:p>
                      <a:r>
                        <a:rPr sz="1300">
                          <a:solidFill>
                            <a:srgbClr val="E8ECF1"/>
                          </a:solidFill>
                        </a:rPr>
                        <a:t>W2</a:t>
                      </a:r>
                    </a:p>
                  </a:txBody>
                  <a:tcPr>
                    <a:solidFill>
                      <a:srgbClr val="1B212A"/>
                    </a:solidFill>
                  </a:tcPr>
                </a:tc>
                <a:tc>
                  <a:txBody>
                    <a:bodyPr/>
                    <a:lstStyle/>
                    <a:p>
                      <a:r>
                        <a:rPr sz="1300">
                          <a:solidFill>
                            <a:srgbClr val="E8ECF1"/>
                          </a:solidFill>
                        </a:rPr>
                        <a:t>Integrate with M4 coordination: directives actually change motion</a:t>
                      </a:r>
                    </a:p>
                  </a:txBody>
                  <a:tcPr>
                    <a:solidFill>
                      <a:srgbClr val="1B212A"/>
                    </a:solidFill>
                  </a:tcPr>
                </a:tc>
              </a:tr>
              <a:tr h="292608">
                <a:tc>
                  <a:txBody>
                    <a:bodyPr/>
                    <a:lstStyle/>
                    <a:p>
                      <a:r>
                        <a:rPr sz="1300">
                          <a:solidFill>
                            <a:srgbClr val="E8ECF1"/>
                          </a:solidFill>
                        </a:rPr>
                        <a:t>W3</a:t>
                      </a:r>
                    </a:p>
                  </a:txBody>
                  <a:tcPr>
                    <a:solidFill>
                      <a:srgbClr val="12161C"/>
                    </a:solidFill>
                  </a:tcPr>
                </a:tc>
                <a:tc>
                  <a:txBody>
                    <a:bodyPr/>
                    <a:lstStyle/>
                    <a:p>
                      <a:r>
                        <a:rPr sz="1300">
                          <a:solidFill>
                            <a:srgbClr val="E8ECF1"/>
                          </a:solidFill>
                        </a:rPr>
                        <a:t>Replanning, blocked aisle, robot failure, charger bays</a:t>
                      </a:r>
                    </a:p>
                  </a:txBody>
                  <a:tcPr>
                    <a:solidFill>
                      <a:srgbClr val="12161C"/>
                    </a:solidFill>
                  </a:tcPr>
                </a:tc>
              </a:tr>
              <a:tr h="292608">
                <a:tc>
                  <a:txBody>
                    <a:bodyPr/>
                    <a:lstStyle/>
                    <a:p>
                      <a:r>
                        <a:rPr sz="1300">
                          <a:solidFill>
                            <a:srgbClr val="E8ECF1"/>
                          </a:solidFill>
                        </a:rPr>
                        <a:t>W4</a:t>
                      </a:r>
                    </a:p>
                  </a:txBody>
                  <a:tcPr>
                    <a:solidFill>
                      <a:srgbClr val="1B212A"/>
                    </a:solidFill>
                  </a:tcPr>
                </a:tc>
                <a:tc>
                  <a:txBody>
                    <a:bodyPr/>
                    <a:lstStyle/>
                    <a:p>
                      <a:r>
                        <a:rPr sz="1300">
                          <a:solidFill>
                            <a:srgbClr val="E8ECF1"/>
                          </a:solidFill>
                        </a:rPr>
                        <a:t>STOP_AND_WAIT baseline policy + scenario library</a:t>
                      </a:r>
                    </a:p>
                  </a:txBody>
                  <a:tcPr>
                    <a:solidFill>
                      <a:srgbClr val="1B212A"/>
                    </a:solidFill>
                  </a:tcPr>
                </a:tc>
              </a:tr>
              <a:tr h="292608">
                <a:tc>
                  <a:txBody>
                    <a:bodyPr/>
                    <a:lstStyle/>
                    <a:p>
                      <a:r>
                        <a:rPr sz="1300">
                          <a:solidFill>
                            <a:srgbClr val="E8ECF1"/>
                          </a:solidFill>
                        </a:rPr>
                        <a:t>W5</a:t>
                      </a:r>
                    </a:p>
                  </a:txBody>
                  <a:tcPr>
                    <a:solidFill>
                      <a:srgbClr val="12161C"/>
                    </a:solidFill>
                  </a:tcPr>
                </a:tc>
                <a:tc>
                  <a:txBody>
                    <a:bodyPr/>
                    <a:lstStyle/>
                    <a:p>
                      <a:r>
                        <a:rPr sz="1300">
                          <a:solidFill>
                            <a:srgbClr val="E8ECF1"/>
                          </a:solidFill>
                        </a:rPr>
                        <a:t>Scale to 50, then 100-robot stress test, performance profiling</a:t>
                      </a:r>
                    </a:p>
                  </a:txBody>
                  <a:tcPr>
                    <a:solidFill>
                      <a:srgbClr val="12161C"/>
                    </a:solidFill>
                  </a:tcPr>
                </a:tc>
              </a:tr>
            </a:tbl>
          </a:graphicData>
        </a:graphic>
      </p:graphicFrame>
      <p:sp>
        <p:nvSpPr>
          <p:cNvPr id="5" name="TextBox 4"/>
          <p:cNvSpPr txBox="1"/>
          <p:nvPr/>
        </p:nvSpPr>
        <p:spPr>
          <a:xfrm>
            <a:off x="502920" y="3931920"/>
            <a:ext cx="11155680" cy="5120640"/>
          </a:xfrm>
          <a:prstGeom prst="rect">
            <a:avLst/>
          </a:prstGeom>
          <a:noFill/>
        </p:spPr>
        <p:txBody>
          <a:bodyPr wrap="square">
            <a:spAutoFit/>
          </a:bodyPr>
          <a:lstStyle/>
          <a:p>
            <a:pPr>
              <a:spcAft>
                <a:spcPts val="600"/>
              </a:spcAft>
            </a:pPr>
            <a:r>
              <a:rPr sz="1300" b="0">
                <a:solidFill>
                  <a:srgbClr val="E8ECF1"/>
                </a:solidFill>
                <a:latin typeface="Calibri"/>
              </a:rPr>
              <a:t>Rules that apply to everyone:</a:t>
            </a:r>
          </a:p>
          <a:p>
            <a:pPr lvl="1">
              <a:spcAft>
                <a:spcPts val="600"/>
              </a:spcAft>
            </a:pPr>
            <a:r>
              <a:rPr sz="1200" b="0">
                <a:solidFill>
                  <a:srgbClr val="93A1B2"/>
                </a:solidFill>
                <a:latin typeface="Calibri"/>
              </a:rPr>
              <a:t>Nothing is 'done' until it runs in the integrated demo.</a:t>
            </a:r>
          </a:p>
          <a:p>
            <a:pPr lvl="1">
              <a:spcAft>
                <a:spcPts val="600"/>
              </a:spcAft>
            </a:pPr>
            <a:r>
              <a:rPr sz="1200" b="0">
                <a:solidFill>
                  <a:srgbClr val="93A1B2"/>
                </a:solidFill>
                <a:latin typeface="Calibri"/>
              </a:rPr>
              <a:t>Commit small and often. Never break main.</a:t>
            </a:r>
          </a:p>
          <a:p>
            <a:pPr lvl="1">
              <a:spcAft>
                <a:spcPts val="600"/>
              </a:spcAft>
            </a:pPr>
            <a:r>
              <a:rPr sz="1200" b="0">
                <a:solidFill>
                  <a:srgbClr val="93A1B2"/>
                </a:solidFill>
                <a:latin typeface="Calibri"/>
              </a:rPr>
              <a:t>If you are blocked for more than half a day, say so immediately.</a:t>
            </a:r>
          </a:p>
          <a:p>
            <a:pPr lvl="1">
              <a:spcAft>
                <a:spcPts val="600"/>
              </a:spcAft>
            </a:pPr>
            <a:r>
              <a:rPr sz="1200" b="0">
                <a:solidFill>
                  <a:srgbClr val="93A1B2"/>
                </a:solidFill>
                <a:latin typeface="Calibri"/>
              </a:rPr>
              <a:t>No secrets in code, docs, commits or screenshots. Ever.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4FD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M5 - Your Q&amp;A Defence</a:t>
            </a:r>
          </a:p>
          <a:p>
            <a:pPr>
              <a:spcAft>
                <a:spcPts val="400"/>
              </a:spcAft>
            </a:pPr>
            <a:r>
              <a:rPr sz="1300" b="0">
                <a:solidFill>
                  <a:srgbClr val="93A1B2"/>
                </a:solidFill>
                <a:latin typeface="Calibri"/>
              </a:rPr>
              <a:t>SIH judges question members individually. Know these cold.</a:t>
            </a:r>
          </a:p>
        </p:txBody>
      </p:sp>
      <p:sp>
        <p:nvSpPr>
          <p:cNvPr id="4" name="TextBox 3"/>
          <p:cNvSpPr txBox="1"/>
          <p:nvPr/>
        </p:nvSpPr>
        <p:spPr>
          <a:xfrm>
            <a:off x="502920" y="1188720"/>
            <a:ext cx="11155680" cy="5394960"/>
          </a:xfrm>
          <a:prstGeom prst="rect">
            <a:avLst/>
          </a:prstGeom>
          <a:noFill/>
        </p:spPr>
        <p:txBody>
          <a:bodyPr wrap="square">
            <a:spAutoFit/>
          </a:bodyPr>
          <a:lstStyle/>
          <a:p>
            <a:pPr>
              <a:spcAft>
                <a:spcPts val="700"/>
              </a:spcAft>
            </a:pPr>
            <a:r>
              <a:rPr sz="1200" b="0">
                <a:solidFill>
                  <a:srgbClr val="4FD1C5"/>
                </a:solidFill>
                <a:latin typeface="Calibri"/>
              </a:rPr>
              <a:t>Q: Is your simulation physically realistic?</a:t>
            </a:r>
          </a:p>
          <a:p>
            <a:pPr lvl="1">
              <a:spcAft>
                <a:spcPts val="700"/>
              </a:spcAft>
            </a:pPr>
            <a:r>
              <a:rPr sz="1100" b="0">
                <a:solidFill>
                  <a:srgbClr val="93A1B2"/>
                </a:solidFill>
                <a:latin typeface="Calibri"/>
              </a:rPr>
              <a:t>A: It is a kinematic simulation with velocity limits and battery drain, not a dynamics or sensor simulation. We state that clearly. It is sufficient and appropriate for evaluating coordination behaviour, which is what the problem statement targets.</a:t>
            </a:r>
          </a:p>
          <a:p>
            <a:pPr>
              <a:spcAft>
                <a:spcPts val="700"/>
              </a:spcAft>
            </a:pPr>
            <a:r>
              <a:rPr sz="1200" b="0">
                <a:solidFill>
                  <a:srgbClr val="4FD1C5"/>
                </a:solidFill>
                <a:latin typeface="Calibri"/>
              </a:rPr>
              <a:t>Q: Why A* and not RRT or a learned planner?</a:t>
            </a:r>
          </a:p>
          <a:p>
            <a:pPr lvl="1">
              <a:spcAft>
                <a:spcPts val="700"/>
              </a:spcAft>
            </a:pPr>
            <a:r>
              <a:rPr sz="1100" b="0">
                <a:solidFill>
                  <a:srgbClr val="93A1B2"/>
                </a:solidFill>
                <a:latin typeface="Calibri"/>
              </a:rPr>
              <a:t>A: The warehouse is a static discrete grid, where A* is optimal and fast with an admissible heuristic. RRT targets continuous high-dimensional spaces we do not have. For replanning we use a D* Lite style incremental update to avoid full recomputation.</a:t>
            </a:r>
          </a:p>
          <a:p>
            <a:pPr>
              <a:spcAft>
                <a:spcPts val="700"/>
              </a:spcAft>
            </a:pPr>
            <a:r>
              <a:rPr sz="1200" b="0">
                <a:solidFill>
                  <a:srgbClr val="4FD1C5"/>
                </a:solidFill>
                <a:latin typeface="Calibri"/>
              </a:rPr>
              <a:t>Q: How is path_version handled?</a:t>
            </a:r>
          </a:p>
          <a:p>
            <a:pPr lvl="1">
              <a:spcAft>
                <a:spcPts val="700"/>
              </a:spcAft>
            </a:pPr>
            <a:r>
              <a:rPr sz="1100" b="0">
                <a:solidFill>
                  <a:srgbClr val="93A1B2"/>
                </a:solidFill>
                <a:latin typeface="Calibri"/>
              </a:rPr>
              <a:t>A: Every replan strictly increments it. This is what lets coordination reject stale bids and stale intents. It is enforced in the planner, not left to callers.</a:t>
            </a:r>
          </a:p>
          <a:p>
            <a:pPr>
              <a:spcAft>
                <a:spcPts val="700"/>
              </a:spcAft>
            </a:pPr>
            <a:r>
              <a:rPr sz="1200" b="0">
                <a:solidFill>
                  <a:srgbClr val="4FD1C5"/>
                </a:solidFill>
                <a:latin typeface="Calibri"/>
              </a:rPr>
              <a:t>Q: Is the stop-and-wait baseline a fair comparison?</a:t>
            </a:r>
          </a:p>
          <a:p>
            <a:pPr lvl="1">
              <a:spcAft>
                <a:spcPts val="700"/>
              </a:spcAft>
            </a:pPr>
            <a:r>
              <a:rPr sz="1100" b="0">
                <a:solidFill>
                  <a:srgbClr val="93A1B2"/>
                </a:solidFill>
                <a:latin typeface="Calibri"/>
              </a:rPr>
              <a:t>A: Yes - identical map, identical seed, identical task stream, identical robot count, identical kinematics. The ONLY difference is the coordination policy. Anything else would invalidate the comparison.</a:t>
            </a:r>
          </a:p>
          <a:p>
            <a:pPr>
              <a:spcAft>
                <a:spcPts val="700"/>
              </a:spcAft>
            </a:pPr>
            <a:r>
              <a:rPr sz="1200" b="0">
                <a:solidFill>
                  <a:srgbClr val="4FD1C5"/>
                </a:solidFill>
                <a:latin typeface="Calibri"/>
              </a:rPr>
              <a:t>Q: Can you reproduce a specific run a judge saw?</a:t>
            </a:r>
          </a:p>
          <a:p>
            <a:pPr lvl="1">
              <a:spcAft>
                <a:spcPts val="700"/>
              </a:spcAft>
            </a:pPr>
            <a:r>
              <a:rPr sz="1100" b="0">
                <a:solidFill>
                  <a:srgbClr val="93A1B2"/>
                </a:solidFill>
                <a:latin typeface="Calibri"/>
              </a:rPr>
              <a:t>A: Yes. Every run is fully determined by its seed and scenario ID. Same seed, same run, every time - which is also how we generate the ML training data.</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FF8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M6 - Database / Analytics + Benchmark</a:t>
            </a:r>
          </a:p>
          <a:p>
            <a:pPr>
              <a:spcAft>
                <a:spcPts val="400"/>
              </a:spcAft>
            </a:pPr>
            <a:r>
              <a:rPr sz="1300" b="0">
                <a:solidFill>
                  <a:srgbClr val="93A1B2"/>
                </a:solidFill>
                <a:latin typeface="Calibri"/>
              </a:rPr>
              <a:t>Your mission and the features you own</a:t>
            </a:r>
          </a:p>
        </p:txBody>
      </p:sp>
      <p:sp>
        <p:nvSpPr>
          <p:cNvPr id="4" name="Rounded Rectangle 3"/>
          <p:cNvSpPr/>
          <p:nvPr/>
        </p:nvSpPr>
        <p:spPr>
          <a:xfrm>
            <a:off x="502920" y="1188720"/>
            <a:ext cx="11155680" cy="731520"/>
          </a:xfrm>
          <a:prstGeom prst="roundRect">
            <a:avLst/>
          </a:prstGeom>
          <a:solidFill>
            <a:srgbClr val="1B212A"/>
          </a:solidFill>
          <a:ln w="15875">
            <a:solidFill>
              <a:srgbClr val="FF8A6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91440"/>
          <a:lstStyle/>
          <a:p>
            <a:pPr algn="ctr">
              <a:spcAft>
                <a:spcPts val="400"/>
              </a:spcAft>
            </a:pPr>
            <a:r>
              <a:rPr sz="1400" b="1">
                <a:solidFill>
                  <a:srgbClr val="E8ECF1"/>
                </a:solidFill>
                <a:latin typeface="Calibri"/>
              </a:rPr>
              <a:t>Own the evidence. Store every event, compute every metric, and produce the headline number the whole submission rests on.</a:t>
            </a:r>
          </a:p>
        </p:txBody>
      </p:sp>
      <p:sp>
        <p:nvSpPr>
          <p:cNvPr id="5" name="TextBox 4"/>
          <p:cNvSpPr txBox="1"/>
          <p:nvPr/>
        </p:nvSpPr>
        <p:spPr>
          <a:xfrm>
            <a:off x="502920" y="2148840"/>
            <a:ext cx="11155680" cy="5120640"/>
          </a:xfrm>
          <a:prstGeom prst="rect">
            <a:avLst/>
          </a:prstGeom>
          <a:noFill/>
        </p:spPr>
        <p:txBody>
          <a:bodyPr wrap="square">
            <a:spAutoFit/>
          </a:bodyPr>
          <a:lstStyle/>
          <a:p>
            <a:pPr>
              <a:spcAft>
                <a:spcPts val="500"/>
              </a:spcAft>
            </a:pPr>
            <a:r>
              <a:rPr sz="1400" b="0">
                <a:solidFill>
                  <a:srgbClr val="E8ECF1"/>
                </a:solidFill>
                <a:latin typeface="Calibri"/>
              </a:rPr>
              <a:t>Schema: robots, tasks, events, decisions, conflicts, reservations</a:t>
            </a:r>
          </a:p>
          <a:p>
            <a:pPr>
              <a:spcAft>
                <a:spcPts val="500"/>
              </a:spcAft>
            </a:pPr>
            <a:r>
              <a:rPr sz="1400" b="0">
                <a:solidFill>
                  <a:srgbClr val="E8ECF1"/>
                </a:solidFill>
                <a:latin typeface="Calibri"/>
              </a:rPr>
              <a:t>Event store with run_id + tick ordering (enables replay)</a:t>
            </a:r>
          </a:p>
          <a:p>
            <a:pPr>
              <a:spcAft>
                <a:spcPts val="500"/>
              </a:spcAft>
            </a:pPr>
            <a:r>
              <a:rPr sz="1400" b="0">
                <a:solidFill>
                  <a:srgbClr val="E8ECF1"/>
                </a:solidFill>
                <a:latin typeface="Calibri"/>
              </a:rPr>
              <a:t>BENCHMARK HARNESS - the single most important deliverable:</a:t>
            </a:r>
          </a:p>
          <a:p>
            <a:pPr lvl="1">
              <a:spcAft>
                <a:spcPts val="500"/>
              </a:spcAft>
            </a:pPr>
            <a:r>
              <a:rPr sz="1300" b="0">
                <a:solidFill>
                  <a:srgbClr val="93A1B2"/>
                </a:solidFill>
                <a:latin typeface="Calibri"/>
              </a:rPr>
              <a:t>  run STOP_AND_WAIT and SWARMOS on identical seeds, compare</a:t>
            </a:r>
          </a:p>
          <a:p>
            <a:pPr>
              <a:spcAft>
                <a:spcPts val="500"/>
              </a:spcAft>
            </a:pPr>
            <a:r>
              <a:rPr sz="1400" b="0">
                <a:solidFill>
                  <a:srgbClr val="E8ECF1"/>
                </a:solidFill>
                <a:latin typeface="Calibri"/>
              </a:rPr>
              <a:t>All 10 metrics: completion time, collisions, deadlocks, throughput,</a:t>
            </a:r>
          </a:p>
          <a:p>
            <a:pPr lvl="1">
              <a:spcAft>
                <a:spcPts val="500"/>
              </a:spcAft>
            </a:pPr>
            <a:r>
              <a:rPr sz="1300" b="0">
                <a:solidFill>
                  <a:srgbClr val="93A1B2"/>
                </a:solidFill>
                <a:latin typeface="Calibri"/>
              </a:rPr>
              <a:t>  avg wait, reroutes, distance, congestion, recovery time, comms</a:t>
            </a:r>
          </a:p>
          <a:p>
            <a:pPr>
              <a:spcAft>
                <a:spcPts val="500"/>
              </a:spcAft>
            </a:pPr>
            <a:r>
              <a:rPr sz="1400" b="0">
                <a:solidFill>
                  <a:srgbClr val="E8ECF1"/>
                </a:solidFill>
                <a:latin typeface="Calibri"/>
              </a:rPr>
              <a:t>KPI aggregation for the dashboard</a:t>
            </a:r>
          </a:p>
          <a:p>
            <a:pPr>
              <a:spcAft>
                <a:spcPts val="500"/>
              </a:spcAft>
            </a:pPr>
            <a:r>
              <a:rPr sz="1400" b="0">
                <a:solidFill>
                  <a:srgbClr val="E8ECF1"/>
                </a:solidFill>
                <a:latin typeface="Calibri"/>
              </a:rPr>
              <a:t>Replay frame API (reconstruct any tick of any run)</a:t>
            </a:r>
          </a:p>
          <a:p>
            <a:pPr>
              <a:spcAft>
                <a:spcPts val="500"/>
              </a:spcAft>
            </a:pPr>
            <a:r>
              <a:rPr sz="1400" b="0">
                <a:solidFill>
                  <a:srgbClr val="E8ECF1"/>
                </a:solidFill>
                <a:latin typeface="Calibri"/>
              </a:rPr>
              <a:t>Dataset export for M3's training</a:t>
            </a:r>
          </a:p>
          <a:p>
            <a:pPr>
              <a:spcAft>
                <a:spcPts val="500"/>
              </a:spcAft>
            </a:pPr>
            <a:r>
              <a:rPr sz="1400" b="0">
                <a:solidFill>
                  <a:srgbClr val="E8ECF1"/>
                </a:solidFill>
                <a:latin typeface="Calibri"/>
              </a:rPr>
              <a:t>Reproducibility: every reported number traceable to a run_id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FF8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M6 - Files and Interfaces</a:t>
            </a:r>
          </a:p>
          <a:p>
            <a:pPr>
              <a:spcAft>
                <a:spcPts val="400"/>
              </a:spcAft>
            </a:pPr>
            <a:r>
              <a:rPr sz="1300" b="0">
                <a:solidFill>
                  <a:srgbClr val="93A1B2"/>
                </a:solidFill>
                <a:latin typeface="Calibri"/>
              </a:rPr>
              <a:t>What you own on disk, and who you depend on</a:t>
            </a:r>
          </a:p>
        </p:txBody>
      </p:sp>
      <p:sp>
        <p:nvSpPr>
          <p:cNvPr id="4" name="TextBox 3"/>
          <p:cNvSpPr txBox="1"/>
          <p:nvPr/>
        </p:nvSpPr>
        <p:spPr>
          <a:xfrm>
            <a:off x="502920" y="1188720"/>
            <a:ext cx="11155680" cy="2286000"/>
          </a:xfrm>
          <a:prstGeom prst="rect">
            <a:avLst/>
          </a:prstGeom>
          <a:noFill/>
        </p:spPr>
        <p:txBody>
          <a:bodyPr wrap="square">
            <a:spAutoFit/>
          </a:bodyPr>
          <a:lstStyle/>
          <a:p>
            <a:pPr>
              <a:spcAft>
                <a:spcPts val="400"/>
              </a:spcAft>
            </a:pPr>
            <a:r>
              <a:rPr sz="1300" b="1">
                <a:solidFill>
                  <a:srgbClr val="FF8A65"/>
                </a:solidFill>
                <a:latin typeface="Calibri"/>
              </a:rPr>
              <a:t>FILES YOU OWN</a:t>
            </a:r>
          </a:p>
          <a:p>
            <a:pPr>
              <a:spcAft>
                <a:spcPts val="200"/>
              </a:spcAft>
            </a:pPr>
            <a:r>
              <a:rPr sz="1100" b="0">
                <a:solidFill>
                  <a:srgbClr val="E8ECF1"/>
                </a:solidFill>
                <a:latin typeface="Consolas"/>
              </a:rPr>
              <a:t>db/schema.sql            (tables + indexes)</a:t>
            </a:r>
          </a:p>
          <a:p>
            <a:pPr>
              <a:spcAft>
                <a:spcPts val="200"/>
              </a:spcAft>
            </a:pPr>
            <a:r>
              <a:rPr sz="1100" b="0">
                <a:solidFill>
                  <a:srgbClr val="E8ECF1"/>
                </a:solidFill>
                <a:latin typeface="Consolas"/>
              </a:rPr>
              <a:t>db/store.py              (event write path, batched)</a:t>
            </a:r>
          </a:p>
          <a:p>
            <a:pPr>
              <a:spcAft>
                <a:spcPts val="200"/>
              </a:spcAft>
            </a:pPr>
            <a:r>
              <a:rPr sz="1100" b="0">
                <a:solidFill>
                  <a:srgbClr val="E8ECF1"/>
                </a:solidFill>
                <a:latin typeface="Consolas"/>
              </a:rPr>
              <a:t>db/queries.py            (KPI + replay queries)</a:t>
            </a:r>
          </a:p>
          <a:p>
            <a:pPr>
              <a:spcAft>
                <a:spcPts val="200"/>
              </a:spcAft>
            </a:pPr>
            <a:r>
              <a:rPr sz="1100" b="0">
                <a:solidFill>
                  <a:srgbClr val="E8ECF1"/>
                </a:solidFill>
                <a:latin typeface="Consolas"/>
              </a:rPr>
              <a:t>benchmark/harness.py     (run pairs of policies over seed sets)</a:t>
            </a:r>
          </a:p>
          <a:p>
            <a:pPr>
              <a:spcAft>
                <a:spcPts val="200"/>
              </a:spcAft>
            </a:pPr>
            <a:r>
              <a:rPr sz="1100" b="0">
                <a:solidFill>
                  <a:srgbClr val="E8ECF1"/>
                </a:solidFill>
                <a:latin typeface="Consolas"/>
              </a:rPr>
              <a:t>benchmark/metrics.py     (the 10 metric computations)</a:t>
            </a:r>
          </a:p>
          <a:p>
            <a:pPr>
              <a:spcAft>
                <a:spcPts val="200"/>
              </a:spcAft>
            </a:pPr>
            <a:r>
              <a:rPr sz="1100" b="0">
                <a:solidFill>
                  <a:srgbClr val="E8ECF1"/>
                </a:solidFill>
                <a:latin typeface="Consolas"/>
              </a:rPr>
              <a:t>benchmark/report.py      (comparison table + chart data)</a:t>
            </a:r>
          </a:p>
        </p:txBody>
      </p:sp>
      <p:sp>
        <p:nvSpPr>
          <p:cNvPr id="5" name="TextBox 4"/>
          <p:cNvSpPr txBox="1"/>
          <p:nvPr/>
        </p:nvSpPr>
        <p:spPr>
          <a:xfrm>
            <a:off x="502920" y="3657600"/>
            <a:ext cx="11155680" cy="5120640"/>
          </a:xfrm>
          <a:prstGeom prst="rect">
            <a:avLst/>
          </a:prstGeom>
          <a:noFill/>
        </p:spPr>
        <p:txBody>
          <a:bodyPr wrap="square">
            <a:spAutoFit/>
          </a:bodyPr>
          <a:lstStyle/>
          <a:p>
            <a:pPr>
              <a:spcAft>
                <a:spcPts val="400"/>
              </a:spcAft>
            </a:pPr>
            <a:r>
              <a:rPr sz="1300" b="0">
                <a:solidFill>
                  <a:srgbClr val="E8ECF1"/>
                </a:solidFill>
                <a:latin typeface="Calibri"/>
              </a:rPr>
              <a:t>YOU CONSUME (inputs from others)</a:t>
            </a:r>
          </a:p>
          <a:p>
            <a:pPr lvl="1">
              <a:spcAft>
                <a:spcPts val="400"/>
              </a:spcAft>
            </a:pPr>
            <a:r>
              <a:rPr sz="1200" b="0">
                <a:solidFill>
                  <a:srgbClr val="93A1B2"/>
                </a:solidFill>
                <a:latin typeface="Calibri"/>
              </a:rPr>
              <a:t>Event log from M4 and M5 via M2's orchestrator.</a:t>
            </a:r>
          </a:p>
          <a:p>
            <a:pPr>
              <a:spcAft>
                <a:spcPts val="400"/>
              </a:spcAft>
            </a:pPr>
          </a:p>
          <a:p>
            <a:pPr>
              <a:spcAft>
                <a:spcPts val="400"/>
              </a:spcAft>
            </a:pPr>
            <a:r>
              <a:rPr sz="1300" b="0">
                <a:solidFill>
                  <a:srgbClr val="E8ECF1"/>
                </a:solidFill>
                <a:latin typeface="Calibri"/>
              </a:rPr>
              <a:t>YOU PRODUCE (outputs others depend on)</a:t>
            </a:r>
          </a:p>
          <a:p>
            <a:pPr lvl="1">
              <a:spcAft>
                <a:spcPts val="400"/>
              </a:spcAft>
            </a:pPr>
            <a:r>
              <a:rPr sz="1200" b="0">
                <a:solidFill>
                  <a:srgbClr val="93A1B2"/>
                </a:solidFill>
                <a:latin typeface="Calibri"/>
              </a:rPr>
              <a:t>KPIs and benchmark comparison for M1 via M2; replay frames; training dataset for M3.</a:t>
            </a:r>
          </a:p>
          <a:p>
            <a:pPr>
              <a:spcAft>
                <a:spcPts val="400"/>
              </a:spcAft>
            </a:pPr>
          </a:p>
          <a:p>
            <a:pPr>
              <a:spcAft>
                <a:spcPts val="400"/>
              </a:spcAft>
            </a:pPr>
            <a:r>
              <a:rPr sz="1300" b="1">
                <a:solidFill>
                  <a:srgbClr val="E8ECF1"/>
                </a:solidFill>
                <a:latin typeface="Calibri"/>
              </a:rPr>
              <a:t>STACK</a:t>
            </a:r>
          </a:p>
          <a:p>
            <a:pPr lvl="1">
              <a:spcAft>
                <a:spcPts val="400"/>
              </a:spcAft>
            </a:pPr>
            <a:r>
              <a:rPr sz="1200" b="0">
                <a:solidFill>
                  <a:srgbClr val="93A1B2"/>
                </a:solidFill>
                <a:latin typeface="Calibri"/>
              </a:rPr>
              <a:t>SQLite for the demo (zero setup, file-based, replayable), with a Postgres-compatible schema. Pandas for aggregation.</a:t>
            </a:r>
          </a:p>
        </p:txBody>
      </p:sp>
      <p:sp>
        <p:nvSpPr>
          <p:cNvPr id="6" name="Rounded Rectangle 5"/>
          <p:cNvSpPr/>
          <p:nvPr/>
        </p:nvSpPr>
        <p:spPr>
          <a:xfrm>
            <a:off x="502920" y="6035040"/>
            <a:ext cx="11155680" cy="566928"/>
          </a:xfrm>
          <a:prstGeom prst="roundRect">
            <a:avLst/>
          </a:prstGeom>
          <a:solidFill>
            <a:srgbClr val="1B212A"/>
          </a:solidFill>
          <a:ln w="15875">
            <a:solidFill>
              <a:srgbClr val="FF8A65"/>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a:lstStyle/>
          <a:p>
            <a:pPr algn="ctr">
              <a:spcAft>
                <a:spcPts val="400"/>
              </a:spcAft>
            </a:pPr>
            <a:r>
              <a:rPr sz="1200" b="1">
                <a:solidFill>
                  <a:srgbClr val="E8ECF1"/>
                </a:solidFill>
                <a:latin typeface="Calibri"/>
              </a:rPr>
              <a:t>All contracts are defined in docs/INTEGRATION_CONTRACTS.md. Change that file first, then your code.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FF8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M6 - Week by Week</a:t>
            </a:r>
          </a:p>
          <a:p>
            <a:pPr>
              <a:spcAft>
                <a:spcPts val="400"/>
              </a:spcAft>
            </a:pPr>
            <a:r>
              <a:rPr sz="1300" b="0">
                <a:solidFill>
                  <a:srgbClr val="93A1B2"/>
                </a:solidFill>
                <a:latin typeface="Calibri"/>
              </a:rPr>
              <a:t>Every week ends with something demo-visible</a:t>
            </a:r>
          </a:p>
        </p:txBody>
      </p:sp>
      <p:graphicFrame>
        <p:nvGraphicFramePr>
          <p:cNvPr id="4" name="Table 3"/>
          <p:cNvGraphicFramePr>
            <a:graphicFrameLocks noGrp="1"/>
          </p:cNvGraphicFramePr>
          <p:nvPr/>
        </p:nvGraphicFramePr>
        <p:xfrm>
          <a:off x="502920" y="1371600"/>
          <a:ext cx="11155680" cy="1755648"/>
        </p:xfrm>
        <a:graphic>
          <a:graphicData uri="http://schemas.openxmlformats.org/drawingml/2006/table">
            <a:tbl>
              <a:tblPr firstRow="1" bandRow="1">
                <a:tableStyleId>{5C22544A-7EE6-4342-B048-85BDC9FD1C3A}</a:tableStyleId>
              </a:tblPr>
              <a:tblGrid>
                <a:gridCol w="914400"/>
                <a:gridCol w="10241280"/>
              </a:tblGrid>
              <a:tr h="292608">
                <a:tc>
                  <a:txBody>
                    <a:bodyPr/>
                    <a:lstStyle/>
                    <a:p>
                      <a:r>
                        <a:rPr sz="1300" b="1">
                          <a:solidFill>
                            <a:srgbClr val="3B9EFF"/>
                          </a:solidFill>
                        </a:rPr>
                        <a:t>Week</a:t>
                      </a:r>
                    </a:p>
                  </a:txBody>
                  <a:tcPr>
                    <a:solidFill>
                      <a:srgbClr val="1B212A"/>
                    </a:solidFill>
                  </a:tcPr>
                </a:tc>
                <a:tc>
                  <a:txBody>
                    <a:bodyPr/>
                    <a:lstStyle/>
                    <a:p>
                      <a:r>
                        <a:rPr sz="1300" b="1">
                          <a:solidFill>
                            <a:srgbClr val="3B9EFF"/>
                          </a:solidFill>
                        </a:rPr>
                        <a:t>Deliverable</a:t>
                      </a:r>
                    </a:p>
                  </a:txBody>
                  <a:tcPr>
                    <a:solidFill>
                      <a:srgbClr val="1B212A"/>
                    </a:solidFill>
                  </a:tcPr>
                </a:tc>
              </a:tr>
              <a:tr h="292608">
                <a:tc>
                  <a:txBody>
                    <a:bodyPr/>
                    <a:lstStyle/>
                    <a:p>
                      <a:r>
                        <a:rPr sz="1300">
                          <a:solidFill>
                            <a:srgbClr val="E8ECF1"/>
                          </a:solidFill>
                        </a:rPr>
                        <a:t>W1</a:t>
                      </a:r>
                    </a:p>
                  </a:txBody>
                  <a:tcPr>
                    <a:solidFill>
                      <a:srgbClr val="12161C"/>
                    </a:solidFill>
                  </a:tcPr>
                </a:tc>
                <a:tc>
                  <a:txBody>
                    <a:bodyPr/>
                    <a:lstStyle/>
                    <a:p>
                      <a:r>
                        <a:rPr sz="1300">
                          <a:solidFill>
                            <a:srgbClr val="E8ECF1"/>
                          </a:solidFill>
                        </a:rPr>
                        <a:t>Schema + event write path + basic queries</a:t>
                      </a:r>
                    </a:p>
                  </a:txBody>
                  <a:tcPr>
                    <a:solidFill>
                      <a:srgbClr val="12161C"/>
                    </a:solidFill>
                  </a:tcPr>
                </a:tc>
              </a:tr>
              <a:tr h="292608">
                <a:tc>
                  <a:txBody>
                    <a:bodyPr/>
                    <a:lstStyle/>
                    <a:p>
                      <a:r>
                        <a:rPr sz="1300">
                          <a:solidFill>
                            <a:srgbClr val="E8ECF1"/>
                          </a:solidFill>
                        </a:rPr>
                        <a:t>W2</a:t>
                      </a:r>
                    </a:p>
                  </a:txBody>
                  <a:tcPr>
                    <a:solidFill>
                      <a:srgbClr val="1B212A"/>
                    </a:solidFill>
                  </a:tcPr>
                </a:tc>
                <a:tc>
                  <a:txBody>
                    <a:bodyPr/>
                    <a:lstStyle/>
                    <a:p>
                      <a:r>
                        <a:rPr sz="1300">
                          <a:solidFill>
                            <a:srgbClr val="E8ECF1"/>
                          </a:solidFill>
                        </a:rPr>
                        <a:t>KPI aggregation feeding the dashboard</a:t>
                      </a:r>
                    </a:p>
                  </a:txBody>
                  <a:tcPr>
                    <a:solidFill>
                      <a:srgbClr val="1B212A"/>
                    </a:solidFill>
                  </a:tcPr>
                </a:tc>
              </a:tr>
              <a:tr h="292608">
                <a:tc>
                  <a:txBody>
                    <a:bodyPr/>
                    <a:lstStyle/>
                    <a:p>
                      <a:r>
                        <a:rPr sz="1300">
                          <a:solidFill>
                            <a:srgbClr val="E8ECF1"/>
                          </a:solidFill>
                        </a:rPr>
                        <a:t>W3</a:t>
                      </a:r>
                    </a:p>
                  </a:txBody>
                  <a:tcPr>
                    <a:solidFill>
                      <a:srgbClr val="12161C"/>
                    </a:solidFill>
                  </a:tcPr>
                </a:tc>
                <a:tc>
                  <a:txBody>
                    <a:bodyPr/>
                    <a:lstStyle/>
                    <a:p>
                      <a:r>
                        <a:rPr sz="1300">
                          <a:solidFill>
                            <a:srgbClr val="E8ECF1"/>
                          </a:solidFill>
                        </a:rPr>
                        <a:t>BENCHMARK HARNESS producing the first real comparison number</a:t>
                      </a:r>
                    </a:p>
                  </a:txBody>
                  <a:tcPr>
                    <a:solidFill>
                      <a:srgbClr val="12161C"/>
                    </a:solidFill>
                  </a:tcPr>
                </a:tc>
              </a:tr>
              <a:tr h="292608">
                <a:tc>
                  <a:txBody>
                    <a:bodyPr/>
                    <a:lstStyle/>
                    <a:p>
                      <a:r>
                        <a:rPr sz="1300">
                          <a:solidFill>
                            <a:srgbClr val="E8ECF1"/>
                          </a:solidFill>
                        </a:rPr>
                        <a:t>W4</a:t>
                      </a:r>
                    </a:p>
                  </a:txBody>
                  <a:tcPr>
                    <a:solidFill>
                      <a:srgbClr val="1B212A"/>
                    </a:solidFill>
                  </a:tcPr>
                </a:tc>
                <a:tc>
                  <a:txBody>
                    <a:bodyPr/>
                    <a:lstStyle/>
                    <a:p>
                      <a:r>
                        <a:rPr sz="1300">
                          <a:solidFill>
                            <a:srgbClr val="E8ECF1"/>
                          </a:solidFill>
                        </a:rPr>
                        <a:t>All 10 metrics + replay frame reconstruction</a:t>
                      </a:r>
                    </a:p>
                  </a:txBody>
                  <a:tcPr>
                    <a:solidFill>
                      <a:srgbClr val="1B212A"/>
                    </a:solidFill>
                  </a:tcPr>
                </a:tc>
              </a:tr>
              <a:tr h="292608">
                <a:tc>
                  <a:txBody>
                    <a:bodyPr/>
                    <a:lstStyle/>
                    <a:p>
                      <a:r>
                        <a:rPr sz="1300">
                          <a:solidFill>
                            <a:srgbClr val="E8ECF1"/>
                          </a:solidFill>
                        </a:rPr>
                        <a:t>W5</a:t>
                      </a:r>
                    </a:p>
                  </a:txBody>
                  <a:tcPr>
                    <a:solidFill>
                      <a:srgbClr val="12161C"/>
                    </a:solidFill>
                  </a:tcPr>
                </a:tc>
                <a:tc>
                  <a:txBody>
                    <a:bodyPr/>
                    <a:lstStyle/>
                    <a:p>
                      <a:r>
                        <a:rPr sz="1300">
                          <a:solidFill>
                            <a:srgbClr val="E8ECF1"/>
                          </a:solidFill>
                        </a:rPr>
                        <a:t>Multi-seed statistical runs (mean + spread, not one lucky run)</a:t>
                      </a:r>
                    </a:p>
                  </a:txBody>
                  <a:tcPr>
                    <a:solidFill>
                      <a:srgbClr val="12161C"/>
                    </a:solidFill>
                  </a:tcPr>
                </a:tc>
              </a:tr>
            </a:tbl>
          </a:graphicData>
        </a:graphic>
      </p:graphicFrame>
      <p:sp>
        <p:nvSpPr>
          <p:cNvPr id="5" name="TextBox 4"/>
          <p:cNvSpPr txBox="1"/>
          <p:nvPr/>
        </p:nvSpPr>
        <p:spPr>
          <a:xfrm>
            <a:off x="502920" y="3931920"/>
            <a:ext cx="11155680" cy="5120640"/>
          </a:xfrm>
          <a:prstGeom prst="rect">
            <a:avLst/>
          </a:prstGeom>
          <a:noFill/>
        </p:spPr>
        <p:txBody>
          <a:bodyPr wrap="square">
            <a:spAutoFit/>
          </a:bodyPr>
          <a:lstStyle/>
          <a:p>
            <a:pPr>
              <a:spcAft>
                <a:spcPts val="600"/>
              </a:spcAft>
            </a:pPr>
            <a:r>
              <a:rPr sz="1300" b="0">
                <a:solidFill>
                  <a:srgbClr val="E8ECF1"/>
                </a:solidFill>
                <a:latin typeface="Calibri"/>
              </a:rPr>
              <a:t>Rules that apply to everyone:</a:t>
            </a:r>
          </a:p>
          <a:p>
            <a:pPr lvl="1">
              <a:spcAft>
                <a:spcPts val="600"/>
              </a:spcAft>
            </a:pPr>
            <a:r>
              <a:rPr sz="1200" b="0">
                <a:solidFill>
                  <a:srgbClr val="93A1B2"/>
                </a:solidFill>
                <a:latin typeface="Calibri"/>
              </a:rPr>
              <a:t>Nothing is 'done' until it runs in the integrated demo.</a:t>
            </a:r>
          </a:p>
          <a:p>
            <a:pPr lvl="1">
              <a:spcAft>
                <a:spcPts val="600"/>
              </a:spcAft>
            </a:pPr>
            <a:r>
              <a:rPr sz="1200" b="0">
                <a:solidFill>
                  <a:srgbClr val="93A1B2"/>
                </a:solidFill>
                <a:latin typeface="Calibri"/>
              </a:rPr>
              <a:t>Commit small and often. Never break main.</a:t>
            </a:r>
          </a:p>
          <a:p>
            <a:pPr lvl="1">
              <a:spcAft>
                <a:spcPts val="600"/>
              </a:spcAft>
            </a:pPr>
            <a:r>
              <a:rPr sz="1200" b="0">
                <a:solidFill>
                  <a:srgbClr val="93A1B2"/>
                </a:solidFill>
                <a:latin typeface="Calibri"/>
              </a:rPr>
              <a:t>If you are blocked for more than half a day, say so immediately.</a:t>
            </a:r>
          </a:p>
          <a:p>
            <a:pPr lvl="1">
              <a:spcAft>
                <a:spcPts val="600"/>
              </a:spcAft>
            </a:pPr>
            <a:r>
              <a:rPr sz="1200" b="0">
                <a:solidFill>
                  <a:srgbClr val="93A1B2"/>
                </a:solidFill>
                <a:latin typeface="Calibri"/>
              </a:rPr>
              <a:t>No secrets in code, docs, commits or screenshots. Ever.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FF8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M6 - Your Q&amp;A Defence</a:t>
            </a:r>
          </a:p>
          <a:p>
            <a:pPr>
              <a:spcAft>
                <a:spcPts val="400"/>
              </a:spcAft>
            </a:pPr>
            <a:r>
              <a:rPr sz="1300" b="0">
                <a:solidFill>
                  <a:srgbClr val="93A1B2"/>
                </a:solidFill>
                <a:latin typeface="Calibri"/>
              </a:rPr>
              <a:t>SIH judges question members individually. Know these cold.</a:t>
            </a:r>
          </a:p>
        </p:txBody>
      </p:sp>
      <p:sp>
        <p:nvSpPr>
          <p:cNvPr id="4" name="TextBox 3"/>
          <p:cNvSpPr txBox="1"/>
          <p:nvPr/>
        </p:nvSpPr>
        <p:spPr>
          <a:xfrm>
            <a:off x="502920" y="1188720"/>
            <a:ext cx="11155680" cy="5394960"/>
          </a:xfrm>
          <a:prstGeom prst="rect">
            <a:avLst/>
          </a:prstGeom>
          <a:noFill/>
        </p:spPr>
        <p:txBody>
          <a:bodyPr wrap="square">
            <a:spAutoFit/>
          </a:bodyPr>
          <a:lstStyle/>
          <a:p>
            <a:pPr>
              <a:spcAft>
                <a:spcPts val="700"/>
              </a:spcAft>
            </a:pPr>
            <a:r>
              <a:rPr sz="1200" b="0">
                <a:solidFill>
                  <a:srgbClr val="FF8A65"/>
                </a:solidFill>
                <a:latin typeface="Calibri"/>
              </a:rPr>
              <a:t>Q: Where does the 20% improvement number come from?</a:t>
            </a:r>
          </a:p>
          <a:p>
            <a:pPr lvl="1">
              <a:spcAft>
                <a:spcPts val="700"/>
              </a:spcAft>
            </a:pPr>
            <a:r>
              <a:rPr sz="1100" b="0">
                <a:solidFill>
                  <a:srgbClr val="93A1B2"/>
                </a:solidFill>
                <a:latin typeface="Calibri"/>
              </a:rPr>
              <a:t>A: From benchmark/harness.py at runtime. It runs both policies over identical seeds and computes the delta in total completion time. It is never hard-coded. We report the seed set and the spread, not a single best run.</a:t>
            </a:r>
          </a:p>
          <a:p>
            <a:pPr>
              <a:spcAft>
                <a:spcPts val="700"/>
              </a:spcAft>
            </a:pPr>
            <a:r>
              <a:rPr sz="1200" b="0">
                <a:solidFill>
                  <a:srgbClr val="FF8A65"/>
                </a:solidFill>
                <a:latin typeface="Calibri"/>
              </a:rPr>
              <a:t>Q: How do we know you did not pick a favourable seed?</a:t>
            </a:r>
          </a:p>
          <a:p>
            <a:pPr lvl="1">
              <a:spcAft>
                <a:spcPts val="700"/>
              </a:spcAft>
            </a:pPr>
            <a:r>
              <a:rPr sz="1100" b="0">
                <a:solidFill>
                  <a:srgbClr val="93A1B2"/>
                </a:solidFill>
                <a:latin typeface="Calibri"/>
              </a:rPr>
              <a:t>A: We run a set of seeds and report mean and spread. Every number is traceable to a run_id in the database, and any run can be replayed.</a:t>
            </a:r>
          </a:p>
          <a:p>
            <a:pPr>
              <a:spcAft>
                <a:spcPts val="700"/>
              </a:spcAft>
            </a:pPr>
            <a:r>
              <a:rPr sz="1200" b="0">
                <a:solidFill>
                  <a:srgbClr val="FF8A65"/>
                </a:solidFill>
                <a:latin typeface="Calibri"/>
              </a:rPr>
              <a:t>Q: Why SQLite and not something bigger?</a:t>
            </a:r>
          </a:p>
          <a:p>
            <a:pPr lvl="1">
              <a:spcAft>
                <a:spcPts val="700"/>
              </a:spcAft>
            </a:pPr>
            <a:r>
              <a:rPr sz="1100" b="0">
                <a:solidFill>
                  <a:srgbClr val="93A1B2"/>
                </a:solidFill>
                <a:latin typeface="Calibri"/>
              </a:rPr>
              <a:t>A: The demo must boot with zero setup and be replayable from a single file. The schema is Postgres-compatible, so scaling is a configuration change, not a redesign. Choosing the smallest thing that works is an engineering decision.</a:t>
            </a:r>
          </a:p>
          <a:p>
            <a:pPr>
              <a:spcAft>
                <a:spcPts val="700"/>
              </a:spcAft>
            </a:pPr>
            <a:r>
              <a:rPr sz="1200" b="0">
                <a:solidFill>
                  <a:srgbClr val="FF8A65"/>
                </a:solidFill>
                <a:latin typeface="Calibri"/>
              </a:rPr>
              <a:t>Q: Can you prove zero collisions rather than assert it?</a:t>
            </a:r>
          </a:p>
          <a:p>
            <a:pPr lvl="1">
              <a:spcAft>
                <a:spcPts val="700"/>
              </a:spcAft>
            </a:pPr>
            <a:r>
              <a:rPr sz="1100" b="0">
                <a:solidFill>
                  <a:srgbClr val="93A1B2"/>
                </a:solidFill>
                <a:latin typeface="Calibri"/>
              </a:rPr>
              <a:t>A: The simulator performs an independent geometric collision check every tick and writes a COLLISION event. Zero collisions means zero such rows, and that query is run live in the demo.</a:t>
            </a:r>
          </a:p>
          <a:p>
            <a:pPr>
              <a:spcAft>
                <a:spcPts val="700"/>
              </a:spcAft>
            </a:pPr>
            <a:r>
              <a:rPr sz="1200" b="0">
                <a:solidFill>
                  <a:srgbClr val="FF8A65"/>
                </a:solidFill>
                <a:latin typeface="Calibri"/>
              </a:rPr>
              <a:t>Q: What is the write load at 50 robots?</a:t>
            </a:r>
          </a:p>
          <a:p>
            <a:pPr lvl="1">
              <a:spcAft>
                <a:spcPts val="700"/>
              </a:spcAft>
            </a:pPr>
            <a:r>
              <a:rPr sz="1100" b="0">
                <a:solidFill>
                  <a:srgbClr val="93A1B2"/>
                </a:solidFill>
                <a:latin typeface="Calibri"/>
              </a:rPr>
              <a:t>A: Events are batched per tick rather than written individually, and the event table is indexed on (run_id, tick). Persistence is off the simulation's critical path.</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A9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Four Novelty Features</a:t>
            </a:r>
          </a:p>
          <a:p>
            <a:pPr>
              <a:spcAft>
                <a:spcPts val="400"/>
              </a:spcAft>
            </a:pPr>
            <a:r>
              <a:rPr sz="1300" b="0">
                <a:solidFill>
                  <a:srgbClr val="93A1B2"/>
                </a:solidFill>
                <a:latin typeface="Calibri"/>
              </a:rPr>
              <a:t>One coherent story, told four ways</a:t>
            </a:r>
          </a:p>
        </p:txBody>
      </p:sp>
      <p:graphicFrame>
        <p:nvGraphicFramePr>
          <p:cNvPr id="4" name="Table 3"/>
          <p:cNvGraphicFramePr>
            <a:graphicFrameLocks noGrp="1"/>
          </p:cNvGraphicFramePr>
          <p:nvPr/>
        </p:nvGraphicFramePr>
        <p:xfrm>
          <a:off x="502920" y="1325880"/>
          <a:ext cx="11155677" cy="1463040"/>
        </p:xfrm>
        <a:graphic>
          <a:graphicData uri="http://schemas.openxmlformats.org/drawingml/2006/table">
            <a:tbl>
              <a:tblPr firstRow="1" bandRow="1">
                <a:tableStyleId>{5C22544A-7EE6-4342-B048-85BDC9FD1C3A}</a:tableStyleId>
              </a:tblPr>
              <a:tblGrid>
                <a:gridCol w="457199"/>
                <a:gridCol w="3291839"/>
                <a:gridCol w="1097280"/>
                <a:gridCol w="6309359"/>
              </a:tblGrid>
              <a:tr h="292608">
                <a:tc>
                  <a:txBody>
                    <a:bodyPr/>
                    <a:lstStyle/>
                    <a:p/>
                  </a:txBody>
                  <a:tcPr>
                    <a:solidFill>
                      <a:srgbClr val="1B212A"/>
                    </a:solidFill>
                  </a:tcPr>
                </a:tc>
                <a:tc>
                  <a:txBody>
                    <a:bodyPr/>
                    <a:lstStyle/>
                    <a:p>
                      <a:r>
                        <a:rPr sz="1100" b="1">
                          <a:solidFill>
                            <a:srgbClr val="3B9EFF"/>
                          </a:solidFill>
                        </a:rPr>
                        <a:t>Feature</a:t>
                      </a:r>
                    </a:p>
                  </a:txBody>
                  <a:tcPr>
                    <a:solidFill>
                      <a:srgbClr val="1B212A"/>
                    </a:solidFill>
                  </a:tcPr>
                </a:tc>
                <a:tc>
                  <a:txBody>
                    <a:bodyPr/>
                    <a:lstStyle/>
                    <a:p>
                      <a:r>
                        <a:rPr sz="1100" b="1">
                          <a:solidFill>
                            <a:srgbClr val="3B9EFF"/>
                          </a:solidFill>
                        </a:rPr>
                        <a:t>Owner</a:t>
                      </a:r>
                    </a:p>
                  </a:txBody>
                  <a:tcPr>
                    <a:solidFill>
                      <a:srgbClr val="1B212A"/>
                    </a:solidFill>
                  </a:tcPr>
                </a:tc>
                <a:tc>
                  <a:txBody>
                    <a:bodyPr/>
                    <a:lstStyle/>
                    <a:p>
                      <a:r>
                        <a:rPr sz="1100" b="1">
                          <a:solidFill>
                            <a:srgbClr val="3B9EFF"/>
                          </a:solidFill>
                        </a:rPr>
                        <a:t>The 30-second stage moment</a:t>
                      </a:r>
                    </a:p>
                  </a:txBody>
                  <a:tcPr>
                    <a:solidFill>
                      <a:srgbClr val="1B212A"/>
                    </a:solidFill>
                  </a:tcPr>
                </a:tc>
              </a:tr>
              <a:tr h="292608">
                <a:tc>
                  <a:txBody>
                    <a:bodyPr/>
                    <a:lstStyle/>
                    <a:p>
                      <a:r>
                        <a:rPr sz="1100">
                          <a:solidFill>
                            <a:srgbClr val="E8ECF1"/>
                          </a:solidFill>
                        </a:rPr>
                        <a:t>N1</a:t>
                      </a:r>
                    </a:p>
                  </a:txBody>
                  <a:tcPr>
                    <a:solidFill>
                      <a:srgbClr val="12161C"/>
                    </a:solidFill>
                  </a:tcPr>
                </a:tc>
                <a:tc>
                  <a:txBody>
                    <a:bodyPr/>
                    <a:lstStyle/>
                    <a:p>
                      <a:r>
                        <a:rPr sz="1100">
                          <a:solidFill>
                            <a:srgbClr val="E8ECF1"/>
                          </a:solidFill>
                        </a:rPr>
                        <a:t>Verifiable bids / anti-cheat coordination</a:t>
                      </a:r>
                    </a:p>
                  </a:txBody>
                  <a:tcPr>
                    <a:solidFill>
                      <a:srgbClr val="12161C"/>
                    </a:solidFill>
                  </a:tcPr>
                </a:tc>
                <a:tc>
                  <a:txBody>
                    <a:bodyPr/>
                    <a:lstStyle/>
                    <a:p>
                      <a:r>
                        <a:rPr sz="1100">
                          <a:solidFill>
                            <a:srgbClr val="E8ECF1"/>
                          </a:solidFill>
                        </a:rPr>
                        <a:t>M4</a:t>
                      </a:r>
                    </a:p>
                  </a:txBody>
                  <a:tcPr>
                    <a:solidFill>
                      <a:srgbClr val="12161C"/>
                    </a:solidFill>
                  </a:tcPr>
                </a:tc>
                <a:tc>
                  <a:txBody>
                    <a:bodyPr/>
                    <a:lstStyle/>
                    <a:p>
                      <a:r>
                        <a:rPr sz="1100">
                          <a:solidFill>
                            <a:srgbClr val="E8ECF1"/>
                          </a:solidFill>
                        </a:rPr>
                        <a:t>'I'll make R17 lie about its battery' - it is flagged, loses, fleet runs on</a:t>
                      </a:r>
                    </a:p>
                  </a:txBody>
                  <a:tcPr>
                    <a:solidFill>
                      <a:srgbClr val="12161C"/>
                    </a:solidFill>
                  </a:tcPr>
                </a:tc>
              </a:tr>
              <a:tr h="292608">
                <a:tc>
                  <a:txBody>
                    <a:bodyPr/>
                    <a:lstStyle/>
                    <a:p>
                      <a:r>
                        <a:rPr sz="1100">
                          <a:solidFill>
                            <a:srgbClr val="E8ECF1"/>
                          </a:solidFill>
                        </a:rPr>
                        <a:t>N2</a:t>
                      </a:r>
                    </a:p>
                  </a:txBody>
                  <a:tcPr>
                    <a:solidFill>
                      <a:srgbClr val="1B212A"/>
                    </a:solidFill>
                  </a:tcPr>
                </a:tc>
                <a:tc>
                  <a:txBody>
                    <a:bodyPr/>
                    <a:lstStyle/>
                    <a:p>
                      <a:r>
                        <a:rPr sz="1100">
                          <a:solidFill>
                            <a:srgbClr val="E8ECF1"/>
                          </a:solidFill>
                        </a:rPr>
                        <a:t>Counterfactual Decision Inspector</a:t>
                      </a:r>
                    </a:p>
                  </a:txBody>
                  <a:tcPr>
                    <a:solidFill>
                      <a:srgbClr val="1B212A"/>
                    </a:solidFill>
                  </a:tcPr>
                </a:tc>
                <a:tc>
                  <a:txBody>
                    <a:bodyPr/>
                    <a:lstStyle/>
                    <a:p>
                      <a:r>
                        <a:rPr sz="1100">
                          <a:solidFill>
                            <a:srgbClr val="E8ECF1"/>
                          </a:solidFill>
                        </a:rPr>
                        <a:t>M1 + M4</a:t>
                      </a:r>
                    </a:p>
                  </a:txBody>
                  <a:tcPr>
                    <a:solidFill>
                      <a:srgbClr val="1B212A"/>
                    </a:solidFill>
                  </a:tcPr>
                </a:tc>
                <a:tc>
                  <a:txBody>
                    <a:bodyPr/>
                    <a:lstStyle/>
                    <a:p>
                      <a:r>
                        <a:rPr sz="1100">
                          <a:solidFill>
                            <a:srgbClr val="E8ECF1"/>
                          </a:solidFill>
                        </a:rPr>
                        <a:t>'R12 lost by 0.03 - it would have won with 14s more waiting time'</a:t>
                      </a:r>
                    </a:p>
                  </a:txBody>
                  <a:tcPr>
                    <a:solidFill>
                      <a:srgbClr val="1B212A"/>
                    </a:solidFill>
                  </a:tcPr>
                </a:tc>
              </a:tr>
              <a:tr h="292608">
                <a:tc>
                  <a:txBody>
                    <a:bodyPr/>
                    <a:lstStyle/>
                    <a:p>
                      <a:r>
                        <a:rPr sz="1100">
                          <a:solidFill>
                            <a:srgbClr val="E8ECF1"/>
                          </a:solidFill>
                        </a:rPr>
                        <a:t>N3</a:t>
                      </a:r>
                    </a:p>
                  </a:txBody>
                  <a:tcPr>
                    <a:solidFill>
                      <a:srgbClr val="12161C"/>
                    </a:solidFill>
                  </a:tcPr>
                </a:tc>
                <a:tc>
                  <a:txBody>
                    <a:bodyPr/>
                    <a:lstStyle/>
                    <a:p>
                      <a:r>
                        <a:rPr sz="1100">
                          <a:solidFill>
                            <a:srgbClr val="E8ECF1"/>
                          </a:solidFill>
                        </a:rPr>
                        <a:t>Tamper-evident decision chain</a:t>
                      </a:r>
                    </a:p>
                  </a:txBody>
                  <a:tcPr>
                    <a:solidFill>
                      <a:srgbClr val="12161C"/>
                    </a:solidFill>
                  </a:tcPr>
                </a:tc>
                <a:tc>
                  <a:txBody>
                    <a:bodyPr/>
                    <a:lstStyle/>
                    <a:p>
                      <a:r>
                        <a:rPr sz="1100">
                          <a:solidFill>
                            <a:srgbClr val="E8ECF1"/>
                          </a:solidFill>
                        </a:rPr>
                        <a:t>M4 + M6</a:t>
                      </a:r>
                    </a:p>
                  </a:txBody>
                  <a:tcPr>
                    <a:solidFill>
                      <a:srgbClr val="12161C"/>
                    </a:solidFill>
                  </a:tcPr>
                </a:tc>
                <a:tc>
                  <a:txBody>
                    <a:bodyPr/>
                    <a:lstStyle/>
                    <a:p>
                      <a:r>
                        <a:rPr sz="1100">
                          <a:solidFill>
                            <a:srgbClr val="E8ECF1"/>
                          </a:solidFill>
                        </a:rPr>
                        <a:t>Re-run the seed: identical hash. Corrupt one record: verification points at it</a:t>
                      </a:r>
                    </a:p>
                  </a:txBody>
                  <a:tcPr>
                    <a:solidFill>
                      <a:srgbClr val="12161C"/>
                    </a:solidFill>
                  </a:tcPr>
                </a:tc>
              </a:tr>
              <a:tr h="292608">
                <a:tc>
                  <a:txBody>
                    <a:bodyPr/>
                    <a:lstStyle/>
                    <a:p>
                      <a:r>
                        <a:rPr sz="1100">
                          <a:solidFill>
                            <a:srgbClr val="E8ECF1"/>
                          </a:solidFill>
                        </a:rPr>
                        <a:t>N4</a:t>
                      </a:r>
                    </a:p>
                  </a:txBody>
                  <a:tcPr>
                    <a:solidFill>
                      <a:srgbClr val="1B212A"/>
                    </a:solidFill>
                  </a:tcPr>
                </a:tc>
                <a:tc>
                  <a:txBody>
                    <a:bodyPr/>
                    <a:lstStyle/>
                    <a:p>
                      <a:r>
                        <a:rPr sz="1100">
                          <a:solidFill>
                            <a:srgbClr val="E8ECF1"/>
                          </a:solidFill>
                        </a:rPr>
                        <a:t>Predictive congestion field</a:t>
                      </a:r>
                    </a:p>
                  </a:txBody>
                  <a:tcPr>
                    <a:solidFill>
                      <a:srgbClr val="1B212A"/>
                    </a:solidFill>
                  </a:tcPr>
                </a:tc>
                <a:tc>
                  <a:txBody>
                    <a:bodyPr/>
                    <a:lstStyle/>
                    <a:p>
                      <a:r>
                        <a:rPr sz="1100">
                          <a:solidFill>
                            <a:srgbClr val="E8ECF1"/>
                          </a:solidFill>
                        </a:rPr>
                        <a:t>M3 + M5</a:t>
                      </a:r>
                    </a:p>
                  </a:txBody>
                  <a:tcPr>
                    <a:solidFill>
                      <a:srgbClr val="1B212A"/>
                    </a:solidFill>
                  </a:tcPr>
                </a:tc>
                <a:tc>
                  <a:txBody>
                    <a:bodyPr/>
                    <a:lstStyle/>
                    <a:p>
                      <a:r>
                        <a:rPr sz="1100">
                          <a:solidFill>
                            <a:srgbClr val="E8ECF1"/>
                          </a:solidFill>
                        </a:rPr>
                        <a:t>A/B same seed: congestion-aware routing measurably finishes faster</a:t>
                      </a:r>
                    </a:p>
                  </a:txBody>
                  <a:tcPr>
                    <a:solidFill>
                      <a:srgbClr val="1B212A"/>
                    </a:solidFill>
                  </a:tcPr>
                </a:tc>
              </a:tr>
            </a:tbl>
          </a:graphicData>
        </a:graphic>
      </p:graphicFrame>
      <p:sp>
        <p:nvSpPr>
          <p:cNvPr id="5" name="TextBox 4"/>
          <p:cNvSpPr txBox="1"/>
          <p:nvPr/>
        </p:nvSpPr>
        <p:spPr>
          <a:xfrm>
            <a:off x="502920" y="3383280"/>
            <a:ext cx="11155680" cy="5120640"/>
          </a:xfrm>
          <a:prstGeom prst="rect">
            <a:avLst/>
          </a:prstGeom>
          <a:noFill/>
        </p:spPr>
        <p:txBody>
          <a:bodyPr wrap="square">
            <a:spAutoFit/>
          </a:bodyPr>
          <a:lstStyle/>
          <a:p>
            <a:pPr>
              <a:spcAft>
                <a:spcPts val="600"/>
              </a:spcAft>
            </a:pPr>
            <a:r>
              <a:rPr sz="1300" b="0">
                <a:solidFill>
                  <a:srgbClr val="E8ECF1"/>
                </a:solidFill>
                <a:latin typeface="Calibri"/>
              </a:rPr>
              <a:t>The narrative that ties them together:</a:t>
            </a:r>
          </a:p>
          <a:p>
            <a:pPr lvl="1">
              <a:spcAft>
                <a:spcPts val="600"/>
              </a:spcAft>
            </a:pPr>
            <a:r>
              <a:rPr sz="1200" b="0">
                <a:solidFill>
                  <a:srgbClr val="A97BFF"/>
                </a:solidFill>
                <a:latin typeface="Calibri"/>
              </a:rPr>
              <a:t>SWARMOS makes coordination decisions that are PREDICTIVE (N4), EXPLAINABLE (N2), VERIFIABLE even when a robot lies (N1), and REPRODUCIBLE and AUDITABLE after the fact (N3).</a:t>
            </a:r>
          </a:p>
          <a:p>
            <a:pPr>
              <a:spcAft>
                <a:spcPts val="600"/>
              </a:spcAft>
            </a:pPr>
          </a:p>
          <a:p>
            <a:pPr>
              <a:spcAft>
                <a:spcPts val="600"/>
              </a:spcAft>
            </a:pPr>
            <a:r>
              <a:rPr sz="1300" b="0">
                <a:solidFill>
                  <a:srgbClr val="E8ECF1"/>
                </a:solidFill>
                <a:latin typeface="Calibri"/>
              </a:rPr>
              <a:t>Why these four: each builds on determinism and explainability work that is ALREADY DONE - cheap for us, expensive for anyone else to copy. None requires a new technology, so we stay clear of technology soup.</a:t>
            </a:r>
          </a:p>
          <a:p>
            <a:pPr>
              <a:spcAft>
                <a:spcPts val="600"/>
              </a:spcAft>
            </a:pPr>
          </a:p>
          <a:p>
            <a:pPr>
              <a:spcAft>
                <a:spcPts val="600"/>
              </a:spcAft>
            </a:pPr>
            <a:r>
              <a:rPr sz="1300" b="0">
                <a:solidFill>
                  <a:srgbClr val="E8ECF1"/>
                </a:solidFill>
                <a:latin typeface="Calibri"/>
              </a:rPr>
              <a:t>Deliberately NOT doing: blockchain buzzwords, RL for yield policy, forced ROS2/Zenoh, deep learning for appearance, formal certification claims.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5C7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The 8-Minute Demo Script</a:t>
            </a:r>
          </a:p>
          <a:p>
            <a:pPr>
              <a:spcAft>
                <a:spcPts val="400"/>
              </a:spcAft>
            </a:pPr>
            <a:r>
              <a:rPr sz="1300" b="0">
                <a:solidFill>
                  <a:srgbClr val="93A1B2"/>
                </a:solidFill>
                <a:latin typeface="Calibri"/>
              </a:rPr>
              <a:t>Rehearsed, timed, with a fallback</a:t>
            </a:r>
          </a:p>
        </p:txBody>
      </p:sp>
      <p:graphicFrame>
        <p:nvGraphicFramePr>
          <p:cNvPr id="4" name="Table 3"/>
          <p:cNvGraphicFramePr>
            <a:graphicFrameLocks noGrp="1"/>
          </p:cNvGraphicFramePr>
          <p:nvPr/>
        </p:nvGraphicFramePr>
        <p:xfrm>
          <a:off x="502920" y="1280160"/>
          <a:ext cx="11155678" cy="3511296"/>
        </p:xfrm>
        <a:graphic>
          <a:graphicData uri="http://schemas.openxmlformats.org/drawingml/2006/table">
            <a:tbl>
              <a:tblPr firstRow="1" bandRow="1">
                <a:tableStyleId>{5C22544A-7EE6-4342-B048-85BDC9FD1C3A}</a:tableStyleId>
              </a:tblPr>
              <a:tblGrid>
                <a:gridCol w="822959"/>
                <a:gridCol w="8503920"/>
                <a:gridCol w="1828799"/>
              </a:tblGrid>
              <a:tr h="292608">
                <a:tc>
                  <a:txBody>
                    <a:bodyPr/>
                    <a:lstStyle/>
                    <a:p>
                      <a:r>
                        <a:rPr sz="1100" b="1">
                          <a:solidFill>
                            <a:srgbClr val="3B9EFF"/>
                          </a:solidFill>
                        </a:rPr>
                        <a:t>Min</a:t>
                      </a:r>
                    </a:p>
                  </a:txBody>
                  <a:tcPr>
                    <a:solidFill>
                      <a:srgbClr val="1B212A"/>
                    </a:solidFill>
                  </a:tcPr>
                </a:tc>
                <a:tc>
                  <a:txBody>
                    <a:bodyPr/>
                    <a:lstStyle/>
                    <a:p>
                      <a:r>
                        <a:rPr sz="1100" b="1">
                          <a:solidFill>
                            <a:srgbClr val="3B9EFF"/>
                          </a:solidFill>
                        </a:rPr>
                        <a:t>What the judge sees</a:t>
                      </a:r>
                    </a:p>
                  </a:txBody>
                  <a:tcPr>
                    <a:solidFill>
                      <a:srgbClr val="1B212A"/>
                    </a:solidFill>
                  </a:tcPr>
                </a:tc>
                <a:tc>
                  <a:txBody>
                    <a:bodyPr/>
                    <a:lstStyle/>
                    <a:p>
                      <a:r>
                        <a:rPr sz="1100" b="1">
                          <a:solidFill>
                            <a:srgbClr val="3B9EFF"/>
                          </a:solidFill>
                        </a:rPr>
                        <a:t>Driver</a:t>
                      </a:r>
                    </a:p>
                  </a:txBody>
                  <a:tcPr>
                    <a:solidFill>
                      <a:srgbClr val="1B212A"/>
                    </a:solidFill>
                  </a:tcPr>
                </a:tc>
              </a:tr>
              <a:tr h="292608">
                <a:tc>
                  <a:txBody>
                    <a:bodyPr/>
                    <a:lstStyle/>
                    <a:p>
                      <a:r>
                        <a:rPr sz="1100">
                          <a:solidFill>
                            <a:srgbClr val="E8ECF1"/>
                          </a:solidFill>
                        </a:rPr>
                        <a:t>0:00</a:t>
                      </a:r>
                    </a:p>
                  </a:txBody>
                  <a:tcPr>
                    <a:solidFill>
                      <a:srgbClr val="12161C"/>
                    </a:solidFill>
                  </a:tcPr>
                </a:tc>
                <a:tc>
                  <a:txBody>
                    <a:bodyPr/>
                    <a:lstStyle/>
                    <a:p>
                      <a:r>
                        <a:rPr sz="1100">
                          <a:solidFill>
                            <a:srgbClr val="E8ECF1"/>
                          </a:solidFill>
                        </a:rPr>
                        <a:t>50 AMRs operating normally on the command centre map</a:t>
                      </a:r>
                    </a:p>
                  </a:txBody>
                  <a:tcPr>
                    <a:solidFill>
                      <a:srgbClr val="12161C"/>
                    </a:solidFill>
                  </a:tcPr>
                </a:tc>
                <a:tc>
                  <a:txBody>
                    <a:bodyPr/>
                    <a:lstStyle/>
                    <a:p>
                      <a:r>
                        <a:rPr sz="1100">
                          <a:solidFill>
                            <a:srgbClr val="E8ECF1"/>
                          </a:solidFill>
                        </a:rPr>
                        <a:t>M1</a:t>
                      </a:r>
                    </a:p>
                  </a:txBody>
                  <a:tcPr>
                    <a:solidFill>
                      <a:srgbClr val="12161C"/>
                    </a:solidFill>
                  </a:tcPr>
                </a:tc>
              </a:tr>
              <a:tr h="292608">
                <a:tc>
                  <a:txBody>
                    <a:bodyPr/>
                    <a:lstStyle/>
                    <a:p>
                      <a:r>
                        <a:rPr sz="1100">
                          <a:solidFill>
                            <a:srgbClr val="E8ECF1"/>
                          </a:solidFill>
                        </a:rPr>
                        <a:t>1:00</a:t>
                      </a:r>
                    </a:p>
                  </a:txBody>
                  <a:tcPr>
                    <a:solidFill>
                      <a:srgbClr val="1B212A"/>
                    </a:solidFill>
                  </a:tcPr>
                </a:tc>
                <a:tc>
                  <a:txBody>
                    <a:bodyPr/>
                    <a:lstStyle/>
                    <a:p>
                      <a:r>
                        <a:rPr sz="1100">
                          <a:solidFill>
                            <a:srgbClr val="E8ECF1"/>
                          </a:solidFill>
                        </a:rPr>
                        <a:t>Create overlapping-path congestion; future conflicts light up</a:t>
                      </a:r>
                    </a:p>
                  </a:txBody>
                  <a:tcPr>
                    <a:solidFill>
                      <a:srgbClr val="1B212A"/>
                    </a:solidFill>
                  </a:tcPr>
                </a:tc>
                <a:tc>
                  <a:txBody>
                    <a:bodyPr/>
                    <a:lstStyle/>
                    <a:p>
                      <a:r>
                        <a:rPr sz="1100">
                          <a:solidFill>
                            <a:srgbClr val="E8ECF1"/>
                          </a:solidFill>
                        </a:rPr>
                        <a:t>M1</a:t>
                      </a:r>
                    </a:p>
                  </a:txBody>
                  <a:tcPr>
                    <a:solidFill>
                      <a:srgbClr val="1B212A"/>
                    </a:solidFill>
                  </a:tcPr>
                </a:tc>
              </a:tr>
              <a:tr h="292608">
                <a:tc>
                  <a:txBody>
                    <a:bodyPr/>
                    <a:lstStyle/>
                    <a:p>
                      <a:r>
                        <a:rPr sz="1100">
                          <a:solidFill>
                            <a:srgbClr val="E8ECF1"/>
                          </a:solidFill>
                        </a:rPr>
                        <a:t>2:00</a:t>
                      </a:r>
                    </a:p>
                  </a:txBody>
                  <a:tcPr>
                    <a:solidFill>
                      <a:srgbClr val="12161C"/>
                    </a:solidFill>
                  </a:tcPr>
                </a:tc>
                <a:tc>
                  <a:txBody>
                    <a:bodyPr/>
                    <a:lstStyle/>
                    <a:p>
                      <a:r>
                        <a:rPr sz="1100">
                          <a:solidFill>
                            <a:srgbClr val="E8ECF1"/>
                          </a:solidFill>
                        </a:rPr>
                        <a:t>Open the auction: utility breakdown, winner, reservation</a:t>
                      </a:r>
                    </a:p>
                  </a:txBody>
                  <a:tcPr>
                    <a:solidFill>
                      <a:srgbClr val="12161C"/>
                    </a:solidFill>
                  </a:tcPr>
                </a:tc>
                <a:tc>
                  <a:txBody>
                    <a:bodyPr/>
                    <a:lstStyle/>
                    <a:p>
                      <a:r>
                        <a:rPr sz="1100">
                          <a:solidFill>
                            <a:srgbClr val="E8ECF1"/>
                          </a:solidFill>
                        </a:rPr>
                        <a:t>M4</a:t>
                      </a:r>
                    </a:p>
                  </a:txBody>
                  <a:tcPr>
                    <a:solidFill>
                      <a:srgbClr val="12161C"/>
                    </a:solidFill>
                  </a:tcPr>
                </a:tc>
              </a:tr>
              <a:tr h="292608">
                <a:tc>
                  <a:txBody>
                    <a:bodyPr/>
                    <a:lstStyle/>
                    <a:p>
                      <a:r>
                        <a:rPr sz="1100">
                          <a:solidFill>
                            <a:srgbClr val="E8ECF1"/>
                          </a:solidFill>
                        </a:rPr>
                        <a:t>3:00</a:t>
                      </a:r>
                    </a:p>
                  </a:txBody>
                  <a:tcPr>
                    <a:solidFill>
                      <a:srgbClr val="1B212A"/>
                    </a:solidFill>
                  </a:tcPr>
                </a:tc>
                <a:tc>
                  <a:txBody>
                    <a:bodyPr/>
                    <a:lstStyle/>
                    <a:p>
                      <a:r>
                        <a:rPr sz="1100">
                          <a:solidFill>
                            <a:srgbClr val="E8ECF1"/>
                          </a:solidFill>
                        </a:rPr>
                        <a:t>Winner proceeds, loser waits/yields/reroutes - live on the map</a:t>
                      </a:r>
                    </a:p>
                  </a:txBody>
                  <a:tcPr>
                    <a:solidFill>
                      <a:srgbClr val="1B212A"/>
                    </a:solidFill>
                  </a:tcPr>
                </a:tc>
                <a:tc>
                  <a:txBody>
                    <a:bodyPr/>
                    <a:lstStyle/>
                    <a:p>
                      <a:r>
                        <a:rPr sz="1100">
                          <a:solidFill>
                            <a:srgbClr val="E8ECF1"/>
                          </a:solidFill>
                        </a:rPr>
                        <a:t>M4</a:t>
                      </a:r>
                    </a:p>
                  </a:txBody>
                  <a:tcPr>
                    <a:solidFill>
                      <a:srgbClr val="1B212A"/>
                    </a:solidFill>
                  </a:tcPr>
                </a:tc>
              </a:tr>
              <a:tr h="292608">
                <a:tc>
                  <a:txBody>
                    <a:bodyPr/>
                    <a:lstStyle/>
                    <a:p>
                      <a:r>
                        <a:rPr sz="1100">
                          <a:solidFill>
                            <a:srgbClr val="E8ECF1"/>
                          </a:solidFill>
                        </a:rPr>
                        <a:t>3:45</a:t>
                      </a:r>
                    </a:p>
                  </a:txBody>
                  <a:tcPr>
                    <a:solidFill>
                      <a:srgbClr val="12161C"/>
                    </a:solidFill>
                  </a:tcPr>
                </a:tc>
                <a:tc>
                  <a:txBody>
                    <a:bodyPr/>
                    <a:lstStyle/>
                    <a:p>
                      <a:r>
                        <a:rPr sz="1100">
                          <a:solidFill>
                            <a:srgbClr val="E8ECF1"/>
                          </a:solidFill>
                        </a:rPr>
                        <a:t>Decision Inspector counterfactual: why R12 lost, by how much</a:t>
                      </a:r>
                    </a:p>
                  </a:txBody>
                  <a:tcPr>
                    <a:solidFill>
                      <a:srgbClr val="12161C"/>
                    </a:solidFill>
                  </a:tcPr>
                </a:tc>
                <a:tc>
                  <a:txBody>
                    <a:bodyPr/>
                    <a:lstStyle/>
                    <a:p>
                      <a:r>
                        <a:rPr sz="1100">
                          <a:solidFill>
                            <a:srgbClr val="E8ECF1"/>
                          </a:solidFill>
                        </a:rPr>
                        <a:t>M1</a:t>
                      </a:r>
                    </a:p>
                  </a:txBody>
                  <a:tcPr>
                    <a:solidFill>
                      <a:srgbClr val="12161C"/>
                    </a:solidFill>
                  </a:tcPr>
                </a:tc>
              </a:tr>
              <a:tr h="292608">
                <a:tc>
                  <a:txBody>
                    <a:bodyPr/>
                    <a:lstStyle/>
                    <a:p>
                      <a:r>
                        <a:rPr sz="1100">
                          <a:solidFill>
                            <a:srgbClr val="E8ECF1"/>
                          </a:solidFill>
                        </a:rPr>
                        <a:t>4:30</a:t>
                      </a:r>
                    </a:p>
                  </a:txBody>
                  <a:tcPr>
                    <a:solidFill>
                      <a:srgbClr val="1B212A"/>
                    </a:solidFill>
                  </a:tcPr>
                </a:tc>
                <a:tc>
                  <a:txBody>
                    <a:bodyPr/>
                    <a:lstStyle/>
                    <a:p>
                      <a:r>
                        <a:rPr sz="1100">
                          <a:solidFill>
                            <a:srgbClr val="E8ECF1"/>
                          </a:solidFill>
                        </a:rPr>
                        <a:t>Block an aisle: affected robots invalidate paths and reroute</a:t>
                      </a:r>
                    </a:p>
                  </a:txBody>
                  <a:tcPr>
                    <a:solidFill>
                      <a:srgbClr val="1B212A"/>
                    </a:solidFill>
                  </a:tcPr>
                </a:tc>
                <a:tc>
                  <a:txBody>
                    <a:bodyPr/>
                    <a:lstStyle/>
                    <a:p>
                      <a:r>
                        <a:rPr sz="1100">
                          <a:solidFill>
                            <a:srgbClr val="E8ECF1"/>
                          </a:solidFill>
                        </a:rPr>
                        <a:t>M5</a:t>
                      </a:r>
                    </a:p>
                  </a:txBody>
                  <a:tcPr>
                    <a:solidFill>
                      <a:srgbClr val="1B212A"/>
                    </a:solidFill>
                  </a:tcPr>
                </a:tc>
              </a:tr>
              <a:tr h="292608">
                <a:tc>
                  <a:txBody>
                    <a:bodyPr/>
                    <a:lstStyle/>
                    <a:p>
                      <a:r>
                        <a:rPr sz="1100">
                          <a:solidFill>
                            <a:srgbClr val="E8ECF1"/>
                          </a:solidFill>
                        </a:rPr>
                        <a:t>5:15</a:t>
                      </a:r>
                    </a:p>
                  </a:txBody>
                  <a:tcPr>
                    <a:solidFill>
                      <a:srgbClr val="12161C"/>
                    </a:solidFill>
                  </a:tcPr>
                </a:tc>
                <a:tc>
                  <a:txBody>
                    <a:bodyPr/>
                    <a:lstStyle/>
                    <a:p>
                      <a:r>
                        <a:rPr sz="1100">
                          <a:solidFill>
                            <a:srgbClr val="E8ECF1"/>
                          </a:solidFill>
                        </a:rPr>
                        <a:t>Kill R27: heartbeat timeout, reservations invalidated, task recovered</a:t>
                      </a:r>
                    </a:p>
                  </a:txBody>
                  <a:tcPr>
                    <a:solidFill>
                      <a:srgbClr val="12161C"/>
                    </a:solidFill>
                  </a:tcPr>
                </a:tc>
                <a:tc>
                  <a:txBody>
                    <a:bodyPr/>
                    <a:lstStyle/>
                    <a:p>
                      <a:r>
                        <a:rPr sz="1100">
                          <a:solidFill>
                            <a:srgbClr val="E8ECF1"/>
                          </a:solidFill>
                        </a:rPr>
                        <a:t>M4</a:t>
                      </a:r>
                    </a:p>
                  </a:txBody>
                  <a:tcPr>
                    <a:solidFill>
                      <a:srgbClr val="12161C"/>
                    </a:solidFill>
                  </a:tcPr>
                </a:tc>
              </a:tr>
              <a:tr h="292608">
                <a:tc>
                  <a:txBody>
                    <a:bodyPr/>
                    <a:lstStyle/>
                    <a:p>
                      <a:r>
                        <a:rPr sz="1100">
                          <a:solidFill>
                            <a:srgbClr val="E8ECF1"/>
                          </a:solidFill>
                        </a:rPr>
                        <a:t>6:00</a:t>
                      </a:r>
                    </a:p>
                  </a:txBody>
                  <a:tcPr>
                    <a:solidFill>
                      <a:srgbClr val="1B212A"/>
                    </a:solidFill>
                  </a:tcPr>
                </a:tc>
                <a:tc>
                  <a:txBody>
                    <a:bodyPr/>
                    <a:lstStyle/>
                    <a:p>
                      <a:r>
                        <a:rPr sz="1100">
                          <a:solidFill>
                            <a:srgbClr val="E8ECF1"/>
                          </a:solidFill>
                        </a:rPr>
                        <a:t>Make a robot LIE about its battery: bid rejected, trust drops</a:t>
                      </a:r>
                    </a:p>
                  </a:txBody>
                  <a:tcPr>
                    <a:solidFill>
                      <a:srgbClr val="1B212A"/>
                    </a:solidFill>
                  </a:tcPr>
                </a:tc>
                <a:tc>
                  <a:txBody>
                    <a:bodyPr/>
                    <a:lstStyle/>
                    <a:p>
                      <a:r>
                        <a:rPr sz="1100">
                          <a:solidFill>
                            <a:srgbClr val="E8ECF1"/>
                          </a:solidFill>
                        </a:rPr>
                        <a:t>M4</a:t>
                      </a:r>
                    </a:p>
                  </a:txBody>
                  <a:tcPr>
                    <a:solidFill>
                      <a:srgbClr val="1B212A"/>
                    </a:solidFill>
                  </a:tcPr>
                </a:tc>
              </a:tr>
              <a:tr h="292608">
                <a:tc>
                  <a:txBody>
                    <a:bodyPr/>
                    <a:lstStyle/>
                    <a:p>
                      <a:r>
                        <a:rPr sz="1100">
                          <a:solidFill>
                            <a:srgbClr val="E8ECF1"/>
                          </a:solidFill>
                        </a:rPr>
                        <a:t>6:45</a:t>
                      </a:r>
                    </a:p>
                  </a:txBody>
                  <a:tcPr>
                    <a:solidFill>
                      <a:srgbClr val="12161C"/>
                    </a:solidFill>
                  </a:tcPr>
                </a:tc>
                <a:tc>
                  <a:txBody>
                    <a:bodyPr/>
                    <a:lstStyle/>
                    <a:p>
                      <a:r>
                        <a:rPr sz="1100">
                          <a:solidFill>
                            <a:srgbClr val="E8ECF1"/>
                          </a:solidFill>
                        </a:rPr>
                        <a:t>Kill the central RMS: local coordination continues</a:t>
                      </a:r>
                    </a:p>
                  </a:txBody>
                  <a:tcPr>
                    <a:solidFill>
                      <a:srgbClr val="12161C"/>
                    </a:solidFill>
                  </a:tcPr>
                </a:tc>
                <a:tc>
                  <a:txBody>
                    <a:bodyPr/>
                    <a:lstStyle/>
                    <a:p>
                      <a:r>
                        <a:rPr sz="1100">
                          <a:solidFill>
                            <a:srgbClr val="E8ECF1"/>
                          </a:solidFill>
                        </a:rPr>
                        <a:t>M2</a:t>
                      </a:r>
                    </a:p>
                  </a:txBody>
                  <a:tcPr>
                    <a:solidFill>
                      <a:srgbClr val="12161C"/>
                    </a:solidFill>
                  </a:tcPr>
                </a:tc>
              </a:tr>
              <a:tr h="292608">
                <a:tc>
                  <a:txBody>
                    <a:bodyPr/>
                    <a:lstStyle/>
                    <a:p>
                      <a:r>
                        <a:rPr sz="1100">
                          <a:solidFill>
                            <a:srgbClr val="E8ECF1"/>
                          </a:solidFill>
                        </a:rPr>
                        <a:t>7:15</a:t>
                      </a:r>
                    </a:p>
                  </a:txBody>
                  <a:tcPr>
                    <a:solidFill>
                      <a:srgbClr val="1B212A"/>
                    </a:solidFill>
                  </a:tcPr>
                </a:tc>
                <a:tc>
                  <a:txBody>
                    <a:bodyPr/>
                    <a:lstStyle/>
                    <a:p>
                      <a:r>
                        <a:rPr sz="1100">
                          <a:solidFill>
                            <a:srgbClr val="E8ECF1"/>
                          </a:solidFill>
                        </a:rPr>
                        <a:t>Benchmark Center: measured comparison vs stop-and-wait</a:t>
                      </a:r>
                    </a:p>
                  </a:txBody>
                  <a:tcPr>
                    <a:solidFill>
                      <a:srgbClr val="1B212A"/>
                    </a:solidFill>
                  </a:tcPr>
                </a:tc>
                <a:tc>
                  <a:txBody>
                    <a:bodyPr/>
                    <a:lstStyle/>
                    <a:p>
                      <a:r>
                        <a:rPr sz="1100">
                          <a:solidFill>
                            <a:srgbClr val="E8ECF1"/>
                          </a:solidFill>
                        </a:rPr>
                        <a:t>M6</a:t>
                      </a:r>
                    </a:p>
                  </a:txBody>
                  <a:tcPr>
                    <a:solidFill>
                      <a:srgbClr val="1B212A"/>
                    </a:solidFill>
                  </a:tcPr>
                </a:tc>
              </a:tr>
              <a:tr h="292608">
                <a:tc>
                  <a:txBody>
                    <a:bodyPr/>
                    <a:lstStyle/>
                    <a:p>
                      <a:r>
                        <a:rPr sz="1100">
                          <a:solidFill>
                            <a:srgbClr val="E8ECF1"/>
                          </a:solidFill>
                        </a:rPr>
                        <a:t>7:45</a:t>
                      </a:r>
                    </a:p>
                  </a:txBody>
                  <a:tcPr>
                    <a:solidFill>
                      <a:srgbClr val="12161C"/>
                    </a:solidFill>
                  </a:tcPr>
                </a:tc>
                <a:tc>
                  <a:txBody>
                    <a:bodyPr/>
                    <a:lstStyle/>
                    <a:p>
                      <a:r>
                        <a:rPr sz="1100">
                          <a:solidFill>
                            <a:srgbClr val="E8ECF1"/>
                          </a:solidFill>
                        </a:rPr>
                        <a:t>Replay the same seed: identical decision hash</a:t>
                      </a:r>
                    </a:p>
                  </a:txBody>
                  <a:tcPr>
                    <a:solidFill>
                      <a:srgbClr val="12161C"/>
                    </a:solidFill>
                  </a:tcPr>
                </a:tc>
                <a:tc>
                  <a:txBody>
                    <a:bodyPr/>
                    <a:lstStyle/>
                    <a:p>
                      <a:r>
                        <a:rPr sz="1100">
                          <a:solidFill>
                            <a:srgbClr val="E8ECF1"/>
                          </a:solidFill>
                        </a:rPr>
                        <a:t>M6</a:t>
                      </a:r>
                    </a:p>
                  </a:txBody>
                  <a:tcPr>
                    <a:solidFill>
                      <a:srgbClr val="12161C"/>
                    </a:solidFill>
                  </a:tcPr>
                </a:tc>
              </a:tr>
            </a:tbl>
          </a:graphicData>
        </a:graphic>
      </p:graphicFrame>
      <p:sp>
        <p:nvSpPr>
          <p:cNvPr id="5" name="Rounded Rectangle 4"/>
          <p:cNvSpPr/>
          <p:nvPr/>
        </p:nvSpPr>
        <p:spPr>
          <a:xfrm>
            <a:off x="502920" y="5577840"/>
            <a:ext cx="11155680" cy="566928"/>
          </a:xfrm>
          <a:prstGeom prst="roundRect">
            <a:avLst/>
          </a:prstGeom>
          <a:solidFill>
            <a:srgbClr val="1B212A"/>
          </a:solidFill>
          <a:ln w="15875">
            <a:solidFill>
              <a:srgbClr val="E55B5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a:lstStyle/>
          <a:p>
            <a:pPr algn="ctr">
              <a:spcAft>
                <a:spcPts val="400"/>
              </a:spcAft>
            </a:pPr>
            <a:r>
              <a:rPr sz="1200" b="1">
                <a:solidFill>
                  <a:srgbClr val="E8ECF1"/>
                </a:solidFill>
                <a:latin typeface="Calibri"/>
              </a:rPr>
              <a:t>FALLBACK, non-negotiable: a pre-recorded video AND a seeded replay file on a USB stick. Venue Wi-Fi and live demos fail. Never present without a fallback.</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E55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Engineering Charter</a:t>
            </a:r>
          </a:p>
          <a:p>
            <a:pPr>
              <a:spcAft>
                <a:spcPts val="400"/>
              </a:spcAft>
            </a:pPr>
            <a:r>
              <a:rPr sz="1300" b="0">
                <a:solidFill>
                  <a:srgbClr val="93A1B2"/>
                </a:solidFill>
                <a:latin typeface="Calibri"/>
              </a:rPr>
              <a:t>The rules we hold each other to</a:t>
            </a:r>
          </a:p>
        </p:txBody>
      </p:sp>
      <p:sp>
        <p:nvSpPr>
          <p:cNvPr id="4" name="TextBox 3"/>
          <p:cNvSpPr txBox="1"/>
          <p:nvPr/>
        </p:nvSpPr>
        <p:spPr>
          <a:xfrm>
            <a:off x="502920" y="1234440"/>
            <a:ext cx="11155680" cy="5120640"/>
          </a:xfrm>
          <a:prstGeom prst="rect">
            <a:avLst/>
          </a:prstGeom>
          <a:noFill/>
        </p:spPr>
        <p:txBody>
          <a:bodyPr wrap="square">
            <a:spAutoFit/>
          </a:bodyPr>
          <a:lstStyle/>
          <a:p>
            <a:pPr>
              <a:spcAft>
                <a:spcPts val="500"/>
              </a:spcAft>
            </a:pPr>
            <a:r>
              <a:rPr sz="1300" b="0">
                <a:solidFill>
                  <a:srgbClr val="E8ECF1"/>
                </a:solidFill>
                <a:latin typeface="Calibri"/>
              </a:rPr>
              <a:t>NO fake AI, fake metrics, fake distributed behaviour or decorative features.</a:t>
            </a:r>
          </a:p>
          <a:p>
            <a:pPr>
              <a:spcAft>
                <a:spcPts val="500"/>
              </a:spcAft>
            </a:pPr>
            <a:r>
              <a:rPr sz="1300" b="0">
                <a:solidFill>
                  <a:srgbClr val="E8ECF1"/>
                </a:solidFill>
                <a:latin typeface="Calibri"/>
              </a:rPr>
              <a:t>NO hard-coded benchmark results. The number comes from the harness or it does not exist.</a:t>
            </a:r>
          </a:p>
          <a:p>
            <a:pPr>
              <a:spcAft>
                <a:spcPts val="500"/>
              </a:spcAft>
            </a:pPr>
            <a:r>
              <a:rPr sz="1300" b="0">
                <a:solidFill>
                  <a:srgbClr val="E8ECF1"/>
                </a:solidFill>
                <a:latin typeface="Calibri"/>
              </a:rPr>
              <a:t>NO unsupported claims: no formal safety certification, no proven optimality, no guaranteed deadlock freedom. We say 'in all tested scenarios'.</a:t>
            </a:r>
          </a:p>
          <a:p>
            <a:pPr>
              <a:spcAft>
                <a:spcPts val="500"/>
              </a:spcAft>
            </a:pPr>
            <a:r>
              <a:rPr sz="1300" b="0">
                <a:solidFill>
                  <a:srgbClr val="E8ECF1"/>
                </a:solidFill>
                <a:latin typeface="Calibri"/>
              </a:rPr>
              <a:t>NO secrets in source, docs, commits, logs or screenshots.</a:t>
            </a:r>
          </a:p>
          <a:p>
            <a:pPr>
              <a:spcAft>
                <a:spcPts val="500"/>
              </a:spcAft>
            </a:pPr>
            <a:r>
              <a:rPr sz="1300" b="0">
                <a:solidFill>
                  <a:srgbClr val="E8ECF1"/>
                </a:solidFill>
                <a:latin typeface="Calibri"/>
              </a:rPr>
              <a:t>NO giant files without a strong reason. No technology soup.</a:t>
            </a:r>
          </a:p>
          <a:p>
            <a:pPr>
              <a:spcAft>
                <a:spcPts val="500"/>
              </a:spcAft>
            </a:pPr>
            <a:r>
              <a:rPr sz="1300" b="0">
                <a:solidFill>
                  <a:srgbClr val="E8ECF1"/>
                </a:solidFill>
                <a:latin typeface="Calibri"/>
              </a:rPr>
              <a:t>Do not randomly rewrite another member's working module.</a:t>
            </a:r>
          </a:p>
          <a:p>
            <a:pPr>
              <a:spcAft>
                <a:spcPts val="500"/>
              </a:spcAft>
            </a:pPr>
            <a:r>
              <a:rPr sz="1300" b="0">
                <a:solidFill>
                  <a:srgbClr val="E8ECF1"/>
                </a:solidFill>
                <a:latin typeface="Calibri"/>
              </a:rPr>
              <a:t>Do not break a contract without a migration note and updated tests.</a:t>
            </a:r>
          </a:p>
          <a:p>
            <a:pPr>
              <a:spcAft>
                <a:spcPts val="500"/>
              </a:spcAft>
            </a:pPr>
            <a:r>
              <a:rPr sz="1300" b="0">
                <a:solidFill>
                  <a:srgbClr val="E8ECF1"/>
                </a:solidFill>
                <a:latin typeface="Calibri"/>
              </a:rPr>
              <a:t>Run the tests after every change. Inspect the diff before committing.</a:t>
            </a:r>
          </a:p>
          <a:p>
            <a:pPr>
              <a:spcAft>
                <a:spcPts val="500"/>
              </a:spcAft>
            </a:pPr>
          </a:p>
          <a:p>
            <a:pPr>
              <a:spcAft>
                <a:spcPts val="500"/>
              </a:spcAft>
            </a:pPr>
            <a:r>
              <a:rPr sz="1300" b="0">
                <a:solidFill>
                  <a:srgbClr val="E8ECF1"/>
                </a:solidFill>
                <a:latin typeface="Calibri"/>
              </a:rPr>
              <a:t>Acknowledged limitations we will state OPENLY to judges:</a:t>
            </a:r>
          </a:p>
          <a:p>
            <a:pPr lvl="1">
              <a:spcAft>
                <a:spcPts val="500"/>
              </a:spcAft>
            </a:pPr>
            <a:r>
              <a:rPr sz="1200" b="0">
                <a:solidFill>
                  <a:srgbClr val="F2B137"/>
                </a:solidFill>
                <a:latin typeface="Calibri"/>
              </a:rPr>
              <a:t>Reservation authority is currently a shared instance - a hidden centralised component.</a:t>
            </a:r>
          </a:p>
          <a:p>
            <a:pPr lvl="1">
              <a:spcAft>
                <a:spcPts val="500"/>
              </a:spcAft>
            </a:pPr>
            <a:r>
              <a:rPr sz="1200" b="0">
                <a:solidFill>
                  <a:srgbClr val="F2B137"/>
                </a:solidFill>
                <a:latin typeface="Calibri"/>
              </a:rPr>
              <a:t>Utility weights are empirically tuned, not proven optimal.</a:t>
            </a:r>
          </a:p>
          <a:p>
            <a:pPr lvl="1">
              <a:spcAft>
                <a:spcPts val="500"/>
              </a:spcAft>
            </a:pPr>
            <a:r>
              <a:rPr sz="1200" b="0">
                <a:solidFill>
                  <a:srgbClr val="F2B137"/>
                </a:solidFill>
                <a:latin typeface="Calibri"/>
              </a:rPr>
              <a:t>Simulation is kinematic, not full dynamics or sensor simulation.</a:t>
            </a:r>
          </a:p>
          <a:p>
            <a:pPr lvl="1">
              <a:spcAft>
                <a:spcPts val="500"/>
              </a:spcAft>
            </a:pPr>
            <a:r>
              <a:rPr sz="1200" b="0">
                <a:solidFill>
                  <a:srgbClr val="F2B137"/>
                </a:solidFill>
                <a:latin typeface="Calibri"/>
              </a:rPr>
              <a:t>No formal deadlock-freedom proof.</a:t>
            </a:r>
          </a:p>
        </p:txBody>
      </p:sp>
      <p:sp>
        <p:nvSpPr>
          <p:cNvPr id="5" name="Rounded Rectangle 4"/>
          <p:cNvSpPr/>
          <p:nvPr/>
        </p:nvSpPr>
        <p:spPr>
          <a:xfrm>
            <a:off x="502920" y="6080760"/>
            <a:ext cx="11155680" cy="566928"/>
          </a:xfrm>
          <a:prstGeom prst="roundRect">
            <a:avLst/>
          </a:prstGeom>
          <a:solidFill>
            <a:srgbClr val="1B212A"/>
          </a:solidFill>
          <a:ln w="15875">
            <a:solidFill>
              <a:srgbClr val="35C78A"/>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a:lstStyle/>
          <a:p>
            <a:pPr algn="ctr">
              <a:spcAft>
                <a:spcPts val="400"/>
              </a:spcAft>
            </a:pPr>
            <a:r>
              <a:rPr sz="1200" b="1">
                <a:solidFill>
                  <a:srgbClr val="E8ECF1"/>
                </a:solidFill>
                <a:latin typeface="Calibri"/>
              </a:rPr>
              <a:t>Judges reward acknowledged limitations. They punish limitations they discover themselves.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B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What I Need From You This Week</a:t>
            </a:r>
          </a:p>
          <a:p>
            <a:pPr>
              <a:spcAft>
                <a:spcPts val="400"/>
              </a:spcAft>
            </a:pPr>
            <a:r>
              <a:rPr sz="1300" b="0">
                <a:solidFill>
                  <a:srgbClr val="93A1B2"/>
                </a:solidFill>
                <a:latin typeface="Calibri"/>
              </a:rPr>
              <a:t>Then we lock the architecture and build</a:t>
            </a:r>
          </a:p>
        </p:txBody>
      </p:sp>
      <p:sp>
        <p:nvSpPr>
          <p:cNvPr id="4" name="TextBox 3"/>
          <p:cNvSpPr txBox="1"/>
          <p:nvPr/>
        </p:nvSpPr>
        <p:spPr>
          <a:xfrm>
            <a:off x="502920" y="1234440"/>
            <a:ext cx="11155680" cy="5120640"/>
          </a:xfrm>
          <a:prstGeom prst="rect">
            <a:avLst/>
          </a:prstGeom>
          <a:noFill/>
        </p:spPr>
        <p:txBody>
          <a:bodyPr wrap="square">
            <a:spAutoFit/>
          </a:bodyPr>
          <a:lstStyle/>
          <a:p>
            <a:pPr>
              <a:spcAft>
                <a:spcPts val="600"/>
              </a:spcAft>
            </a:pPr>
            <a:r>
              <a:rPr sz="1400" b="0">
                <a:solidFill>
                  <a:srgbClr val="E8ECF1"/>
                </a:solidFill>
                <a:latin typeface="Calibri"/>
              </a:rPr>
              <a:t>1. Read this deck and push back hard. If your section is wrong, say so.</a:t>
            </a:r>
          </a:p>
          <a:p>
            <a:pPr>
              <a:spcAft>
                <a:spcPts val="600"/>
              </a:spcAft>
            </a:pPr>
            <a:r>
              <a:rPr sz="1400" b="0">
                <a:solidFill>
                  <a:srgbClr val="E8ECF1"/>
                </a:solidFill>
                <a:latin typeface="Calibri"/>
              </a:rPr>
              <a:t>2. Send me your status document using the prompt in docs/TEAM_MEMBER_STATUS_PROMPT.md</a:t>
            </a:r>
          </a:p>
          <a:p>
            <a:pPr lvl="1">
              <a:spcAft>
                <a:spcPts val="600"/>
              </a:spcAft>
            </a:pPr>
            <a:r>
              <a:rPr sz="1300" b="0">
                <a:solidFill>
                  <a:srgbClr val="93A1B2"/>
                </a:solidFill>
                <a:latin typeface="Calibri"/>
              </a:rPr>
              <a:t>Be honest about what is NOT built. Guessing is worse than 'not started'.</a:t>
            </a:r>
          </a:p>
          <a:p>
            <a:pPr lvl="1">
              <a:spcAft>
                <a:spcPts val="600"/>
              </a:spcAft>
            </a:pPr>
            <a:r>
              <a:rPr sz="1300" b="0">
                <a:solidFill>
                  <a:srgbClr val="93A1B2"/>
                </a:solidFill>
                <a:latin typeface="Calibri"/>
              </a:rPr>
              <a:t>Section 5 (data contracts) matters most - it is where integration breaks.</a:t>
            </a:r>
          </a:p>
          <a:p>
            <a:pPr lvl="1">
              <a:spcAft>
                <a:spcPts val="600"/>
              </a:spcAft>
            </a:pPr>
            <a:r>
              <a:rPr sz="1300" b="0">
                <a:solidFill>
                  <a:srgbClr val="93A1B2"/>
                </a:solidFill>
                <a:latin typeface="Calibri"/>
              </a:rPr>
              <a:t>Do NOT paste any tokens, keys or passwords into the output.</a:t>
            </a:r>
          </a:p>
          <a:p>
            <a:pPr>
              <a:spcAft>
                <a:spcPts val="600"/>
              </a:spcAft>
            </a:pPr>
            <a:r>
              <a:rPr sz="1400" b="0">
                <a:solidFill>
                  <a:srgbClr val="E8ECF1"/>
                </a:solidFill>
                <a:latin typeface="Calibri"/>
              </a:rPr>
              <a:t>3. First team call agenda - we must decide these together:</a:t>
            </a:r>
          </a:p>
          <a:p>
            <a:pPr lvl="1">
              <a:spcAft>
                <a:spcPts val="600"/>
              </a:spcAft>
            </a:pPr>
            <a:r>
              <a:rPr sz="1300" b="0">
                <a:solidFill>
                  <a:srgbClr val="93A1B2"/>
                </a:solidFill>
                <a:latin typeface="Calibri"/>
              </a:rPr>
              <a:t>Coordinate system: continuous metres vs grid cells, and who converts</a:t>
            </a:r>
          </a:p>
          <a:p>
            <a:pPr lvl="1">
              <a:spcAft>
                <a:spcPts val="600"/>
              </a:spcAft>
            </a:pPr>
            <a:r>
              <a:rPr sz="1300" b="0">
                <a:solidFill>
                  <a:srgbClr val="93A1B2"/>
                </a:solidFill>
                <a:latin typeface="Calibri"/>
              </a:rPr>
              <a:t>Robot ID and task ID naming format</a:t>
            </a:r>
          </a:p>
          <a:p>
            <a:pPr lvl="1">
              <a:spcAft>
                <a:spcPts val="600"/>
              </a:spcAft>
            </a:pPr>
            <a:r>
              <a:rPr sz="1300" b="0">
                <a:solidFill>
                  <a:srgbClr val="93A1B2"/>
                </a:solidFill>
                <a:latin typeface="Calibri"/>
              </a:rPr>
              <a:t>Who is authoritative for robot state (proposal: M5's simulator)</a:t>
            </a:r>
          </a:p>
          <a:p>
            <a:pPr lvl="1">
              <a:spcAft>
                <a:spcPts val="600"/>
              </a:spcAft>
            </a:pPr>
            <a:r>
              <a:rPr sz="1300" b="0">
                <a:solidFill>
                  <a:srgbClr val="93A1B2"/>
                </a:solidFill>
                <a:latin typeface="Calibri"/>
              </a:rPr>
              <a:t>Tick rate, and who drives the loop</a:t>
            </a:r>
          </a:p>
          <a:p>
            <a:pPr lvl="1">
              <a:spcAft>
                <a:spcPts val="600"/>
              </a:spcAft>
            </a:pPr>
            <a:r>
              <a:rPr sz="1300" b="0">
                <a:solidFill>
                  <a:srgbClr val="93A1B2"/>
                </a:solidFill>
                <a:latin typeface="Calibri"/>
              </a:rPr>
              <a:t>Confirmation that ML is ADVISORY, never in the safety path</a:t>
            </a:r>
          </a:p>
          <a:p>
            <a:pPr>
              <a:spcAft>
                <a:spcPts val="600"/>
              </a:spcAft>
            </a:pPr>
            <a:r>
              <a:rPr sz="1400" b="0">
                <a:solidFill>
                  <a:srgbClr val="E8ECF1"/>
                </a:solidFill>
                <a:latin typeface="Calibri"/>
              </a:rPr>
              <a:t>4. Then: I finish Step 4B, M5 gets 3 robots moving, and we do the vertical slice together.</a:t>
            </a:r>
          </a:p>
        </p:txBody>
      </p:sp>
      <p:sp>
        <p:nvSpPr>
          <p:cNvPr id="5" name="Rounded Rectangle 4"/>
          <p:cNvSpPr/>
          <p:nvPr/>
        </p:nvSpPr>
        <p:spPr>
          <a:xfrm>
            <a:off x="502920" y="6035040"/>
            <a:ext cx="11155680" cy="566928"/>
          </a:xfrm>
          <a:prstGeom prst="roundRect">
            <a:avLst/>
          </a:prstGeom>
          <a:solidFill>
            <a:srgbClr val="1B212A"/>
          </a:solidFill>
          <a:ln w="15875">
            <a:solidFill>
              <a:srgbClr val="3B9EF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a:lstStyle/>
          <a:p>
            <a:pPr algn="ctr">
              <a:spcAft>
                <a:spcPts val="400"/>
              </a:spcAft>
            </a:pPr>
            <a:r>
              <a:rPr sz="1200" b="1">
                <a:solidFill>
                  <a:srgbClr val="E8ECF1"/>
                </a:solidFill>
                <a:latin typeface="Calibri"/>
              </a:rPr>
              <a:t>Deck version v1. It becomes v2 once your real status documents are in - this version contains my assumptions about your modules.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