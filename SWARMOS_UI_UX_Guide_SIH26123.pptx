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4FB3A6"/>
                </a:solidFill>
                <a:latin typeface="Calibri"/>
              </a:rPr>
              <a:t>ROBONEX</a:t>
            </a:r>
          </a:p>
          <a:p>
            <a:pPr>
              <a:spcAft>
                <a:spcPts val="800"/>
              </a:spcAft>
            </a:pPr>
            <a:r>
              <a:rPr sz="4400" b="1">
                <a:solidFill>
                  <a:srgbClr val="E8ECF1"/>
                </a:solidFill>
                <a:latin typeface="Calibri"/>
              </a:rPr>
              <a:t>SWARMOS UI / UX Guide</a:t>
            </a:r>
          </a:p>
          <a:p>
            <a:pPr>
              <a:spcAft>
                <a:spcPts val="1800"/>
              </a:spcAft>
            </a:pPr>
            <a:r>
              <a:rPr sz="1700" b="0">
                <a:solidFill>
                  <a:srgbClr val="93A1B2"/>
                </a:solidFill>
                <a:latin typeface="Calibri"/>
              </a:rPr>
              <a:t>How to read the console: every screen, panel, control, colour and shortcut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SIH26123  -  Edge-AI Based Distributed Fleet Coordination for AMRs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Bharat Electronics Limited  -  Member 4,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93A1B2"/>
                </a:solidFill>
                <a:latin typeface="Calibri"/>
              </a:rPr>
              <a:t>Source of truth: web/landing.html, web/index.html, web/js/**, web/styles/tokens.css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What this deck is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Read it once before you touch the console, or use it as a reference at the keyboard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50" b="1">
                <a:solidFill>
                  <a:srgbClr val="E8ECF1"/>
                </a:solidFill>
                <a:latin typeface="Calibri"/>
              </a:rPr>
              <a:t>THE PRODUCT HAS EXACTLY TWO SCREENS</a:t>
            </a:r>
          </a:p>
          <a:p>
            <a:pPr lvl="1">
              <a:spcAft>
                <a:spcPts val="300"/>
              </a:spcAft>
            </a:pPr>
            <a:r>
              <a:rPr sz="1250" b="0">
                <a:solidFill>
                  <a:srgbClr val="93A1B2"/>
                </a:solidFill>
                <a:latin typeface="Calibri"/>
              </a:rPr>
              <a:t>Landing page  -  web/landing.html  -  the poster / entry screen. One button.</a:t>
            </a:r>
          </a:p>
          <a:p>
            <a:pPr lvl="1">
              <a:spcAft>
                <a:spcPts val="300"/>
              </a:spcAft>
            </a:pPr>
            <a:r>
              <a:rPr sz="1250" b="0">
                <a:solidFill>
                  <a:srgbClr val="93A1B2"/>
                </a:solidFill>
                <a:latin typeface="Calibri"/>
              </a:rPr>
              <a:t>Operator console  -  web/index.html  -  everything else. Map + 5 panels + telemetry.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50" b="1">
                <a:solidFill>
                  <a:srgbClr val="E8ECF1"/>
                </a:solidFill>
                <a:latin typeface="Calibri"/>
              </a:rPr>
              <a:t>HOW TO START IT</a:t>
            </a:r>
          </a:p>
          <a:p>
            <a:pPr lvl="1">
              <a:spcAft>
                <a:spcPts val="300"/>
              </a:spcAft>
            </a:pPr>
            <a:r>
              <a:rPr sz="1250" b="0">
                <a:solidFill>
                  <a:srgbClr val="93A1B2"/>
                </a:solidFill>
                <a:latin typeface="Calibri"/>
              </a:rPr>
              <a:t>./run.sh --demo          starts the server, waits for /api/health, opens a browser,</a:t>
            </a:r>
          </a:p>
          <a:p>
            <a:pPr lvl="1">
              <a:spcAft>
                <a:spcPts val="300"/>
              </a:spcAft>
            </a:pPr>
            <a:r>
              <a:rPr sz="1250" b="0">
                <a:solidFill>
                  <a:srgbClr val="93A1B2"/>
                </a:solidFill>
                <a:latin typeface="Calibri"/>
              </a:rPr>
              <a:t>                         and starts the reference run so the map is already moving.</a:t>
            </a:r>
          </a:p>
          <a:p>
            <a:pPr lvl="1">
              <a:spcAft>
                <a:spcPts val="300"/>
              </a:spcAft>
            </a:pPr>
            <a:r>
              <a:rPr sz="1250" b="0">
                <a:solidFill>
                  <a:srgbClr val="93A1B2"/>
                </a:solidFill>
                <a:latin typeface="Calibri"/>
              </a:rPr>
              <a:t>./run.sh                 server only, on http://127.0.0.1:8770</a:t>
            </a:r>
          </a:p>
          <a:p>
            <a:pPr lvl="1">
              <a:spcAft>
                <a:spcPts val="300"/>
              </a:spcAft>
            </a:pPr>
            <a:r>
              <a:rPr sz="1250" b="0">
                <a:solidFill>
                  <a:srgbClr val="93A1B2"/>
                </a:solidFill>
                <a:latin typeface="Calibri"/>
              </a:rPr>
              <a:t>./run.sh 8080            a different port</a:t>
            </a:r>
          </a:p>
          <a:p>
            <a:pPr lvl="1">
              <a:spcAft>
                <a:spcPts val="300"/>
              </a:spcAft>
            </a:pPr>
            <a:r>
              <a:rPr sz="1250" b="0">
                <a:solidFill>
                  <a:srgbClr val="93A1B2"/>
                </a:solidFill>
                <a:latin typeface="Calibri"/>
              </a:rPr>
              <a:t>./run.sh --test          run the test suite instead of serving</a:t>
            </a:r>
          </a:p>
          <a:p>
            <a:pPr lvl="1">
              <a:spcAft>
                <a:spcPts val="300"/>
              </a:spcAft>
            </a:pPr>
            <a:r>
              <a:rPr sz="1250" b="0">
                <a:solidFill>
                  <a:srgbClr val="93A1B2"/>
                </a:solidFill>
                <a:latin typeface="Calibri"/>
              </a:rPr>
              <a:t>./run.sh --check         engine self-check (20 ticks + trace hash), then exit</a:t>
            </a:r>
          </a:p>
          <a:p>
            <a:pPr lvl="1">
              <a:spcAft>
                <a:spcPts val="300"/>
              </a:spcAft>
            </a:pPr>
            <a:r>
              <a:rPr sz="1250" b="0">
                <a:solidFill>
                  <a:srgbClr val="93A1B2"/>
                </a:solidFill>
                <a:latin typeface="Calibri"/>
              </a:rPr>
              <a:t>Remote host? ssh -L 8770:127.0.0.1:8770 &lt;host&gt; first, then open the URL locally.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50" b="1">
                <a:solidFill>
                  <a:srgbClr val="E8ECF1"/>
                </a:solidFill>
                <a:latin typeface="Calibri"/>
              </a:rPr>
              <a:t>THE READING RULE THAT EXPLAINS THE WHOLE UI</a:t>
            </a:r>
          </a:p>
          <a:p>
            <a:pPr lvl="1">
              <a:spcAft>
                <a:spcPts val="300"/>
              </a:spcAft>
            </a:pPr>
            <a:r>
              <a:rPr sz="1250" b="0">
                <a:solidFill>
                  <a:srgbClr val="93A1B2"/>
                </a:solidFill>
                <a:latin typeface="Calibri"/>
              </a:rPr>
              <a:t>Every empty state names a CAUSE and an ACTION. If a panel is blank it tells you why</a:t>
            </a:r>
          </a:p>
          <a:p>
            <a:pPr lvl="1">
              <a:spcAft>
                <a:spcPts val="300"/>
              </a:spcAft>
            </a:pPr>
            <a:r>
              <a:rPr sz="1250" b="0">
                <a:solidFill>
                  <a:srgbClr val="93A1B2"/>
                </a:solidFill>
                <a:latin typeface="Calibri"/>
              </a:rPr>
              <a:t>it is blank and what to press. You are never expected to guess.</a:t>
            </a:r>
          </a:p>
          <a:p>
            <a:pPr lvl="1">
              <a:spcAft>
                <a:spcPts val="300"/>
              </a:spcAft>
            </a:pPr>
            <a:r>
              <a:rPr sz="1250" b="0">
                <a:solidFill>
                  <a:srgbClr val="93A1B2"/>
                </a:solidFill>
                <a:latin typeface="Calibri"/>
              </a:rPr>
              <a:t>A missing value always renders as  --  , never as 0. A zero on this screen is a real</a:t>
            </a:r>
          </a:p>
          <a:p>
            <a:pPr lvl="1">
              <a:spcAft>
                <a:spcPts val="300"/>
              </a:spcAft>
            </a:pPr>
            <a:r>
              <a:rPr sz="1250" b="0">
                <a:solidFill>
                  <a:srgbClr val="93A1B2"/>
                </a:solidFill>
                <a:latin typeface="Calibri"/>
              </a:rPr>
              <a:t>measured zero. "A zero that means 'no data' is a lie the operator cannot detect."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6053328"/>
            <a:ext cx="11155680" cy="56692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93A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Dark theme only. There is no theme toggle, no login, no settings page. The console is the product.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Screen 1  -  ROBONEX landing page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web/landing.html  -  a single-viewport poster. It does not scroll.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78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136"/>
                <a:gridCol w="7241406"/>
                <a:gridCol w="1957136"/>
              </a:tblGrid>
              <a:tr h="2926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B9E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B9EFF"/>
                          </a:solidFill>
                        </a:rPr>
                        <a:t>What it shows (exact text)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B9EFF"/>
                          </a:solidFill>
                        </a:rPr>
                        <a:t>Interactive?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Header left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ROBONEX  (wordmark)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Header right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SIH / SMART INDIA HACKATHON   -   SWARMOS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Hero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ROBONEX  /  "Distributed intelligence for autonomous warehouse fleets."</a:t>
                      </a:r>
                    </a:p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"Every robot decides locally. The fleet stays coordinated."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robot-hero.svg  -  an AMR mobile base, front three-quarter view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Capability card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SWARMOS  /  DECENTRALIZED MULTI-AMR COORDINATION</a:t>
                      </a:r>
                    </a:p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Decentralized coordination - Real-time conflict resolution -</a:t>
                      </a:r>
                    </a:p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Dynamic task allocation - Spatio-temporal coordination -</a:t>
                      </a:r>
                    </a:p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Failure recovery - Edge intelligence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About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AUTONOMOUS - DISTRIBUTED - RESILIENT - MULTI-AMR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System status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FLEET STATUS - &lt;value&gt;      AMR NETWORK - &lt;value&gt;</a:t>
                      </a:r>
                    </a:p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Live, polled from the server. Shows -- until it answers.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No (live)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Call to action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ENTER SWARMOS  -&gt;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YES - the only control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6016752"/>
            <a:ext cx="11155680" cy="56692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4FB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There is NO nav bar, NO feature grid, NO stats counter, NO footer and NO scroll animation on this page. One button: ENTER SWARMOS (#lp-enter) -&gt; the console.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Landing page  -  the two status rows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These are live probes, not decoration. Read them before you present.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>
                <a:solidFill>
                  <a:srgbClr val="E8ECF1"/>
                </a:solidFill>
                <a:latin typeface="Calibri"/>
              </a:rPr>
              <a:t>FLEET STATUS</a:t>
            </a:r>
          </a:p>
          <a:p>
            <a:pPr lvl="1">
              <a:spcAft>
                <a:spcPts val="400"/>
              </a:spcAft>
            </a:pPr>
            <a:r>
              <a:rPr sz="1250" b="0">
                <a:solidFill>
                  <a:srgbClr val="93A1B2"/>
                </a:solidFill>
                <a:latin typeface="Calibri"/>
              </a:rPr>
              <a:t>Answers 'is a simulation running right now?'. Populated from the server's state.</a:t>
            </a:r>
          </a:p>
          <a:p>
            <a:pPr lvl="1">
              <a:spcAft>
                <a:spcPts val="400"/>
              </a:spcAft>
            </a:pPr>
            <a:r>
              <a:rPr sz="1250" b="0">
                <a:solidFill>
                  <a:srgbClr val="93A1B2"/>
                </a:solidFill>
                <a:latin typeface="Calibri"/>
              </a:rPr>
              <a:t>Shows  --  with an unknown dot before the first successful poll.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50" b="1">
                <a:solidFill>
                  <a:srgbClr val="E8ECF1"/>
                </a:solidFill>
                <a:latin typeface="Calibri"/>
              </a:rPr>
              <a:t>AMR NETWORK</a:t>
            </a:r>
          </a:p>
          <a:p>
            <a:pPr lvl="1">
              <a:spcAft>
                <a:spcPts val="400"/>
              </a:spcAft>
            </a:pPr>
            <a:r>
              <a:rPr sz="1250" b="0">
                <a:solidFill>
                  <a:srgbClr val="93A1B2"/>
                </a:solidFill>
                <a:latin typeface="Calibri"/>
              </a:rPr>
              <a:t>Answers 'can this page reach the SWARMOS backend at all?'.</a:t>
            </a:r>
          </a:p>
          <a:p>
            <a:pPr lvl="1">
              <a:spcAft>
                <a:spcPts val="400"/>
              </a:spcAft>
            </a:pPr>
            <a:r>
              <a:rPr sz="1250" b="0">
                <a:solidFill>
                  <a:srgbClr val="93A1B2"/>
                </a:solidFill>
                <a:latin typeface="Calibri"/>
              </a:rPr>
              <a:t>If this stays down, the console will also be Offline - fix the server first.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E8ECF1"/>
                </a:solidFill>
                <a:latin typeface="Calibri"/>
              </a:rPr>
              <a:t>ENTER SWARMOS  (button id lp-enter)</a:t>
            </a:r>
          </a:p>
          <a:p>
            <a:pPr lvl="1">
              <a:spcAft>
                <a:spcPts val="400"/>
              </a:spcAft>
            </a:pPr>
            <a:r>
              <a:rPr sz="1250" b="0">
                <a:solidFill>
                  <a:srgbClr val="93A1B2"/>
                </a:solidFill>
                <a:latin typeface="Calibri"/>
              </a:rPr>
              <a:t>Plays the lp-transition wipe, then navigates to the operator console (index.html).</a:t>
            </a:r>
          </a:p>
          <a:p>
            <a:pPr lvl="1">
              <a:spcAft>
                <a:spcPts val="400"/>
              </a:spcAft>
            </a:pPr>
            <a:r>
              <a:rPr sz="1250" b="0">
                <a:solidFill>
                  <a:srgbClr val="93A1B2"/>
                </a:solidFill>
                <a:latin typeface="Calibri"/>
              </a:rPr>
              <a:t>The note line under it (#lp-cta-note) is a live region: if entry cannot proceed it</a:t>
            </a:r>
          </a:p>
          <a:p>
            <a:pPr lvl="1">
              <a:spcAft>
                <a:spcPts val="400"/>
              </a:spcAft>
            </a:pPr>
            <a:r>
              <a:rPr sz="1250" b="0">
                <a:solidFill>
                  <a:srgbClr val="93A1B2"/>
                </a:solidFill>
                <a:latin typeface="Calibri"/>
              </a:rPr>
              <a:t>says so in words rather than failing silently.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852160"/>
            <a:ext cx="11155680" cy="56692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F2B1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If the dots never leave 'unknown', the page loaded from the filesystem instead of the server. Always open the console via http://127.0.0.1:8770, never by double-clicking the HTML 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Screen 2  -  the operator console, at a glance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web/index.html  -  a frozen 68 / 22 / 10 layout. Geometry never moves.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2617470" cy="1234440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3B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3B9EFF"/>
                </a:solidFill>
                <a:latin typeface="Calibri"/>
              </a:rPr>
              <a:t>48 px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93A1B2"/>
                </a:solidFill>
                <a:latin typeface="Calibri"/>
              </a:rPr>
              <a:t>Top bar: identity + run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8989" y="1371600"/>
            <a:ext cx="2617470" cy="1234440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4FB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FB3A6"/>
                </a:solidFill>
                <a:latin typeface="Calibri"/>
              </a:rPr>
              <a:t>68 %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93A1B2"/>
                </a:solidFill>
                <a:latin typeface="Calibri"/>
              </a:rPr>
              <a:t>Map: the live warehouse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5059" y="1371600"/>
            <a:ext cx="2617470" cy="1234440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A9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A97BFF"/>
                </a:solidFill>
                <a:latin typeface="Calibri"/>
              </a:rPr>
              <a:t>22 %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93A1B2"/>
                </a:solidFill>
                <a:latin typeface="Calibri"/>
              </a:rPr>
              <a:t>Right rail: 5 inspector panels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41130" y="1371600"/>
            <a:ext cx="2617470" cy="1234440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35C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35C78A"/>
                </a:solidFill>
                <a:latin typeface="Calibri"/>
              </a:rPr>
              <a:t>10 %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93A1B2"/>
                </a:solidFill>
                <a:latin typeface="Calibri"/>
              </a:rPr>
              <a:t>Telemetry strip: 7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11155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E8ECF1"/>
                </a:solidFill>
                <a:latin typeface="Calibri"/>
              </a:rPr>
              <a:t>WHY THE GEOMETRY IS FIXED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The map is the product, so it keeps two thirds of the screen at all times. Panels never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steal space from it and never cover it. The rail has a 320 px minimum width; below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1280 px it becomes an overlay drawer opened by the 'Panels' button.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8ECF1"/>
                </a:solidFill>
                <a:latin typeface="Calibri"/>
              </a:rPr>
              <a:t>THE DEGRADATION BANNER  (id banner)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Sits ABOVE the shell in normal flow, so it can only ever push content down - it can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never cover the map. It states a CAUSE and an ACTION, and it is not a toast: an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operator who looked away can still read it. Dismiss with the x on its right.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E8ECF1"/>
                </a:solidFill>
                <a:latin typeface="Calibri"/>
              </a:rPr>
              <a:t>PANELS ARE CLOSED ON ENTRY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By design. You land on the map, not on a wall of text. Open the rail when you want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detail; the Fleet tab is pre-selected behind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Top bar  -  identity, commands, run status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Left to right, exactly as rendered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98448"/>
          <a:ext cx="11155679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1634884"/>
                <a:gridCol w="6731875"/>
              </a:tblGrid>
              <a:tr h="2926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B9EFF"/>
                          </a:solidFill>
                        </a:rPr>
                        <a:t>Control / readout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B9E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B9EFF"/>
                          </a:solidFill>
                        </a:rPr>
                        <a:t>What it means / does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SWARMOS  +  Fleet Coordination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brand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Product identity. Not clickable.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Commands   Ctrl K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btn-palette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Opens the command palette dialog. Same as pressing Ctrl+K / Cmd+K.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Panels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btn-rail-toggle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Only rendered below 1280 px width. Opens/closes the rail as an overlay drawer.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Link  +  dot  +  Offline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link-dot / link-text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Live transport health. Offline = the browser is not receiving state frames. THIS IS THE FIRST THING TO CHECK.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hdr-scenario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Which scenario the running sim was started with. -- before a run.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Seed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hdr-seed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The RNG seed. Same scenario + same seed + same fleet = byte-identical run. This is what makes the demo reproducible.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Tick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hdr-tick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Discrete sim steps elapsed. The loop runs at 10 Hz, so 1 tick = 100 ms of sim time.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Sim clock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hdr-clock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Sim time in seconds. = tick / 10. Not wall-clock time.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5943600"/>
            <a:ext cx="11155680" cy="56692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F2B1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Link Offline while Tick is frozen means the server died or the socket dropped. Press  r  to force an immediate reconnect attempt.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The map  -  what is actually drawn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Four stacked canvases. Only the robot layer repaints per frame; the static floor is painted once per viewport change.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98448"/>
          <a:ext cx="1115567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2544"/>
                <a:gridCol w="1923393"/>
                <a:gridCol w="7789742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9E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9E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9EFF"/>
                          </a:solidFill>
                        </a:rPr>
                        <a:t>Contents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Static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layer-static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Warehouse floor: grid, aisles, racks, charging docks, zone boundaries. Repainted only on resize / zoom / pan.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Paths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layer-paths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Planned routes and waypoints of robots that have published a movement intent.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Robots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layer-robots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Every robot, drawn in its state colour. Repaints every frame.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Hit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layer-hit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Transparent interaction surface. Owns all mouse and keyboard input. Focusable (tabindex 0).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977639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E8ECF1"/>
                </a:solidFill>
                <a:latin typeface="Calibri"/>
              </a:rPr>
              <a:t>LEVEL OF DETAIL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Below 6 screen-pixels per metre, robots degrade to plain dots. This is not a bug: at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fleet-wide zoom you are reading the pattern of colour, not individual chassis. Zoom in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to get the full glyph with heading, payload and comm 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074920"/>
            <a:ext cx="11155680" cy="56692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93A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Overlay corners: top-left = state legend with live counts. top-right = zoom controls. bottom-left = Zoom / Cursor / Render fps readout.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Map controls  -  mouse and keyboard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The hit canvas owns all of these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40680" cy="4480560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3B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28016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3B9EFF"/>
                </a:solidFill>
                <a:latin typeface="Calibri"/>
              </a:rPr>
              <a:t>Mouse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Hover a robot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Cursor becomes a pointer and a tooltip identifies it. Hovering is free - it does not change selection.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Click a robot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SELECTS it. This is the single most important interaction in the whole UI: it drives the Decision inspector.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Click empty floor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Clears the selection.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Drag (mousedown + move)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Pans the view. Cursor becomes 'grabbing'. Default cursor over floor is a crosshair.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Scroll wheel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Zooms about the cursor position.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440680" cy="4480560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4FB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28016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4FB3A6"/>
                </a:solidFill>
                <a:latin typeface="Calibri"/>
              </a:rPr>
              <a:t>Keyboard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+   /   -    (buttons btn-zoom-in / btn-zoom-out)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Zoom in / out a step.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Fit   (button btn-zoom-fit)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Fit the whole warehouse to the viewport.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0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Same as Fit. Reset zoom and pan. Use this whenever you get lost.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Arrow keys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Pan the map (the hit canvas must have focus).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Esc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Clear the selected robot.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r  /  R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Force an immediate transport reconnect.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Ctrl K  /  Cmd K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Open the command palette.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961888"/>
            <a:ext cx="11155680" cy="56692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93A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Single-key shortcuts are suppressed while you are typing in a field, while a modifier is held, and while the palette is open. Typing 'r' in the Seed box will never reconnect the socket.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A9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The state colour language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Eight robot states. Learn these and the map reads itself.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84048" cy="402336"/>
          </a:xfrm>
          <a:prstGeom prst="roundRect">
            <a:avLst/>
          </a:prstGeom>
          <a:solidFill>
            <a:srgbClr val="C8D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3271" y="1353312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C8D2DC"/>
                </a:solidFill>
                <a:latin typeface="Calibri"/>
              </a:rPr>
              <a:t>MOVING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353312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Nominal: driving its route. Deliberately the quietest colour on screen - normal is not news.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9384"/>
            <a:ext cx="384048" cy="402336"/>
          </a:xfrm>
          <a:prstGeom prst="round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1911095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E5484D"/>
                </a:solidFill>
                <a:latin typeface="Calibri"/>
              </a:rPr>
              <a:t>BLOCKED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911095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The safety kernel VETOED motion. Red. A rising BLOCKED count is the deadlock signature.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87168"/>
            <a:ext cx="384048" cy="402336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468879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F5A623"/>
                </a:solidFill>
                <a:latin typeface="Calibri"/>
              </a:rPr>
              <a:t>WAITING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468879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Yielded to a peer and will resume. Amber. This is healthy coordination, not a fault.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44952"/>
            <a:ext cx="384048" cy="402336"/>
          </a:xfrm>
          <a:prstGeom prst="roundRect">
            <a:avLst/>
          </a:prstGeom>
          <a:solidFill>
            <a:srgbClr val="3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026664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3E9BFF"/>
                </a:solidFill>
                <a:latin typeface="Calibri"/>
              </a:rPr>
              <a:t>CHARGING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026664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At a dock, taking charge. Out of the task pool for now.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02736"/>
            <a:ext cx="384048" cy="402336"/>
          </a:xfrm>
          <a:prstGeom prst="roundRect">
            <a:avLst/>
          </a:prstGeom>
          <a:solidFill>
            <a:srgbClr val="2F6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3584448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2F6F4E"/>
                </a:solidFill>
                <a:latin typeface="Calibri"/>
              </a:rPr>
              <a:t>AVAILABLE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584448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Idle, awaiting assignment. Drawn as an OUTLINE only, never filled - idle should not draw the eye.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60520"/>
            <a:ext cx="384048" cy="402336"/>
          </a:xfrm>
          <a:prstGeom prst="roundRect">
            <a:avLst/>
          </a:prstGeom>
          <a:solidFill>
            <a:srgbClr val="6E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4142232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6E3A3C"/>
                </a:solidFill>
                <a:latin typeface="Calibri"/>
              </a:rPr>
              <a:t>FAILED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142232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Dead robot. Desaturated on purpose: it is a fact to route around, not an alarm to panic at.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718304"/>
            <a:ext cx="384048" cy="402336"/>
          </a:xfrm>
          <a:prstGeom prst="roundRect">
            <a:avLst/>
          </a:prstGeom>
          <a:solidFill>
            <a:srgbClr val="A855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1" y="4700016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A855C4"/>
                </a:solidFill>
                <a:latin typeface="Calibri"/>
              </a:rPr>
              <a:t>QUARANTINED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700016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A rogue agent the fleet has contained (X-10). Peers have collectively stopped trusting 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276088"/>
            <a:ext cx="384048" cy="402336"/>
          </a:xfrm>
          <a:prstGeom prst="roundRect">
            <a:avLst/>
          </a:prstGeom>
          <a:solidFill>
            <a:srgbClr val="4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1" y="5257800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4FB3A6"/>
                </a:solidFill>
                <a:latin typeface="Calibri"/>
              </a:rPr>
              <a:t>SOVEREIGN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5257800"/>
            <a:ext cx="79552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Radio lost, still working alone (X-01). The headline resilience behaviour - it did not stop.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897880"/>
            <a:ext cx="11155680" cy="56692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93A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Order is fixed everywhere (legend, roster, composition bars): MOVING, BLOCKED, WAITING, CHARGING, AVAILABLE, FAILED, QUARANTINED, SOVEREIGN.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5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Telemetry strip  -  the seven numbers along the bottom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Exactly ONE hero metric, because throughput is the question the product answers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98448"/>
          <a:ext cx="11155678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1259"/>
                <a:gridCol w="1154035"/>
                <a:gridCol w="7020384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9E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9EFF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9EFF"/>
                          </a:solidFill>
                        </a:rPr>
                        <a:t>How to read it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Tasks per minute  (HERO)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/min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Throughput. The headline. Higher is better. Rendered larger than everything else on purpose.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Total tasks finished this run. Monotonic - it only goes up.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Collisions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MUST STAY 0. Any non-zero value is a safety-kernel failure and invalidates the run.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Tick budget p95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ms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95th-percentile compute per tick. The budget is 100 ms (10 Hz). Above 100 means the edge deadline was missed.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Avg completion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Mean task cycle time. Lower is better.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Verdicts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Safety-kernel rulings issued. Evidence the kernel is actually arbitrating, not idle.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Replans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Route recomputations. Some is healthy adaptation; a spike means the floor got congested.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5897880"/>
            <a:ext cx="11155680" cy="56692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93A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All seven read  --  before the first state frame. That is 'no data', not zero.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A9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The right rail  -  five panels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Tabs, left to right. Arrow Left / Right moves between them when a tab has focus.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55678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19"/>
                <a:gridCol w="2468880"/>
                <a:gridCol w="7040879"/>
              </a:tblGrid>
              <a:tr h="2926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B9EFF"/>
                          </a:solidFill>
                        </a:rPr>
                        <a:t>Tab label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B9EFF"/>
                          </a:solidFill>
                        </a:rPr>
                        <a:t>Panel heading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B9EFF"/>
                          </a:solidFill>
                        </a:rPr>
                        <a:t>The one question it answers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CF1"/>
                          </a:solidFill>
                        </a:rPr>
                        <a:t>Fleet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CF1"/>
                          </a:solidFill>
                        </a:rPr>
                        <a:t>Fleet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CF1"/>
                          </a:solidFill>
                        </a:rPr>
                        <a:t>WHAT is the fleet doing right now, robot by robot?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CF1"/>
                          </a:solidFill>
                        </a:rPr>
                        <a:t>Decision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CF1"/>
                          </a:solidFill>
                        </a:rPr>
                        <a:t>Decision inspector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CF1"/>
                          </a:solidFill>
                        </a:rPr>
                        <a:t>WHY did this specific robot do that, this tick?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CF1"/>
                          </a:solidFill>
                        </a:rPr>
                        <a:t>Lab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CF1"/>
                          </a:solidFill>
                        </a:rPr>
                        <a:t>Lab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CF1"/>
                          </a:solidFill>
                        </a:rPr>
                        <a:t>Drive the simulation: start, pause, step, stop, inject faults.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CF1"/>
                          </a:solidFill>
                        </a:rPr>
                        <a:t>Compare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CF1"/>
                          </a:solidFill>
                        </a:rPr>
                        <a:t>Compare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CF1"/>
                          </a:solidFill>
                        </a:rPr>
                        <a:t>Is SWARMOS actually better than the baseline policy?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CF1"/>
                          </a:solidFill>
                        </a:rPr>
                        <a:t>Analytics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CF1"/>
                          </a:solidFill>
                        </a:rPr>
                        <a:t>Analytics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8ECF1"/>
                          </a:solidFill>
                        </a:rPr>
                        <a:t>How are the four key metrics trending over the run?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023360"/>
            <a:ext cx="111556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E8ECF1"/>
                </a:solidFill>
                <a:latin typeface="Calibri"/>
              </a:rPr>
              <a:t>TWO THINGS WORTH KNOWING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The tab says 'Decision' but the panel heading says 'Decision inspector'. Same panel.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Only the VISIBLE panel re-renders. Hidden panels cost nothing per frame - which is why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the map holds its frame rate with a full fleet and the rail open.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120640"/>
            <a:ext cx="11155680" cy="56692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93A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The rail starts CLOSED. Nothing is broken - open it from 'Panels', or let a palette command switch you to a tab.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Panel 1  -  Fleet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Three stacked sections: composition, resilience, roster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E8ECF1"/>
                </a:solidFill>
                <a:latin typeface="Calibri"/>
              </a:rPr>
              <a:t>FLEET COMPOSITION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A count per state, in the fixed state order. This is your instant health read: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mostly MOVING = healthy. A growing BLOCKED column = investigate now.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E8ECF1"/>
                </a:solidFill>
                <a:latin typeface="Calibri"/>
              </a:rPr>
              <a:t>RESILIENCE  -  the three rows that prove the differentiators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Sovereign (radio lost)   robots that lost comms and kept working alone (X-01)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Contained (rogue)        robots the fleet quarantined as adversarial (X-10)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Failed                   robots that are dead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These are the rows to point at after you inject a fault. They are the demo.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E8ECF1"/>
                </a:solidFill>
                <a:latin typeface="Calibri"/>
              </a:rPr>
              <a:t>ROSTER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One row per robot. Sort control offers: Sort by id / Sort by state / Sort by battery.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'Sort by state' groups the problems together; 'Sort by battery' finds the robot about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to drop out. Click a row to select that robot - it drives the Decision inspector,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exactly like clicking it on the map.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943600"/>
            <a:ext cx="11155680" cy="56692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93A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Cold start: "No robots are reporting." / "Start a scenario in the Lab tab to populate the fleet."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55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Panel 2  -  Decision inspector: the decision chain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The single most important explanatory screen in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E8ECF1"/>
                </a:solidFill>
                <a:latin typeface="Calibri"/>
              </a:rPr>
              <a:t>HEADING:  &lt;robot_id&gt;  -  tick &lt;n&gt;      then a VERDICT block: the kind, and its reason.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E8ECF1"/>
                </a:solidFill>
                <a:latin typeface="Calibri"/>
              </a:rPr>
              <a:t>THEN THREE STAGES, TOP TO BOTTOM  -  this is the safety argument made visible: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286000"/>
          <a:ext cx="111556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7040880"/>
              </a:tblGrid>
              <a:tr h="29260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9E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9EFF"/>
                          </a:solidFill>
                        </a:rPr>
                        <a:t>Shows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9EFF"/>
                          </a:solidFill>
                        </a:rPr>
                        <a:t>Read it as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Advisory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The ML layer's proposed action, or 'none'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A SUGGESTION. If it made no proposal you see: "ML layer made no proposal this tick. It is never required to." The ML is optional by construction.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Binding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Safety kernel: &lt;verdict kind&gt;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THE DECISION. Either "Kernel concurred with the proposal. It still had the final word." or "Kernel OVERRODE the advisory &lt;kind&gt;. The kernel verdict is final."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Applied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speed scale &lt;0.00 - 1.00&gt;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WHAT THE WHEELS DID. "Scale 0 means a full stop was commanded for this tick."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5394960"/>
            <a:ext cx="11155680" cy="56692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E5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This is the answer to 'can you trust an ML-driven fleet?'. The learned layer only ever advises; a deterministic safety kernel is always binding; and when the two disagree the override is shown to you in plain words.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E55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Panel 2  -  Decision inspector: the rest of the panel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State, Integrity and Movement intent sections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5440680" cy="4526280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3B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28016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3B9EFF"/>
                </a:solidFill>
                <a:latin typeface="Calibri"/>
              </a:rPr>
              <a:t>State  /  Movement intent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Status        state chip, in its state colour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Position      x, y in metres (2 dp)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Velocity      m/s (2 dp)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Battery       % (0 dp)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Task          current task id, or --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Sim time      seconds (1 dp)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Target        destination x, y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Waypoints     how many points remain in the route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ETA           seconds to arrival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Path version  increments on every replan. A fast-rising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93A1B2"/>
                </a:solidFill>
                <a:latin typeface="Calibri"/>
              </a:rPr>
              <a:t>              version means this robot keeps being forced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93A1B2"/>
                </a:solidFill>
                <a:latin typeface="Calibri"/>
              </a:rPr>
              <a:t>              to re-route - congestion or a live obstacle.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If idle: "No movement intent published." /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93A1B2"/>
                </a:solidFill>
                <a:latin typeface="Calibri"/>
              </a:rPr>
              <a:t>"The robot is idle or awaiting a task assignment."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98448"/>
            <a:ext cx="5440680" cy="4526280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A85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28016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A855C4"/>
                </a:solidFill>
                <a:latin typeface="Calibri"/>
              </a:rPr>
              <a:t>Integrity  (the rogue-containment evidence)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Ruling      the fleet's collective judgement on this robot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Reason      why it was accused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Witnesses   WHICH PEERS corroborated it. Containment is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93A1B2"/>
                </a:solidFill>
                <a:latin typeface="Calibri"/>
              </a:rPr>
              <a:t>            never one robot's word - it is a quorum.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At tick     when the ruling landed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Three possible states: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93A1B2"/>
                </a:solidFill>
                <a:latin typeface="Calibri"/>
              </a:rPr>
              <a:t>Contained, with reason + witnesses + tick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93A1B2"/>
                </a:solidFill>
                <a:latin typeface="Calibri"/>
              </a:rPr>
              <a:t>"Under suspicion, not contained"  - flagged, still trusted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93A1B2"/>
                </a:solidFill>
                <a:latin typeface="Calibri"/>
              </a:rPr>
              <a:t>"No accusation"                   - clean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E8ECF1"/>
                </a:solidFill>
                <a:latin typeface="Calibri"/>
              </a:rPr>
              <a:t>When a robot is lying about itself you also get: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93A1B2"/>
                </a:solidFill>
                <a:latin typeface="Calibri"/>
              </a:rPr>
              <a:t>Claimed   the position it BROADCAST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93A1B2"/>
                </a:solidFill>
                <a:latin typeface="Calibri"/>
              </a:rPr>
              <a:t>Actual    the position it IS at</a:t>
            </a:r>
          </a:p>
          <a:p>
            <a:pPr>
              <a:spcAft>
                <a:spcPts val="500"/>
              </a:spcAft>
            </a:pPr>
            <a:r>
              <a:rPr sz="1000" b="0">
                <a:solidFill>
                  <a:srgbClr val="93A1B2"/>
                </a:solidFill>
                <a:latin typeface="Calibri"/>
              </a:rPr>
              <a:t>Seeing those two disagree is the rogue, caught.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989320"/>
            <a:ext cx="11155680" cy="56692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93A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Empty states: "No robot selected." / "Click a robot on the map, or pick one from the Fleet roster."  -  and if it vanishes mid-run, it says so instead of showing stale numbers.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2B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Panel 3  -  Lab  (this is the driver's seat)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Configure a run, drive the tick loop, inject faults, prove determinism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097280"/>
                <a:gridCol w="6858000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B9EFF"/>
                          </a:solidFill>
                        </a:rPr>
                        <a:t>Control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B9E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B9EFF"/>
                          </a:solidFill>
                        </a:rPr>
                        <a:t>Default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B9EFF"/>
                          </a:solidFill>
                        </a:rPr>
                        <a:t>What it does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lab-scenario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from server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Which warehouse scenario. Built-in fallbacks: rush_50, narrow_aisle_deadlock, blocked_aisle. The hint line tells you whether the list came from the server or is the built-in fallback.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Fleet size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lab-fleet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Number of robots, 1 - 50.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Seed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lab-seed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RNG seed. Same scenario + seed + fleet = identical run, every time.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Message integrity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lab-integrity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Off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Off, or 'Signed messages and sentinel council' - turns on cryptographic message signing and the peer council that judges rogues.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Start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lab-start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Begin the run with the settings above.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Pause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lab-pause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Freeze the 10 Hz tick loop. The map stays; time stops.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lab-step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Advance exactly ONE tick = 100 ms. The move for explaining a single decision.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Stop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lab-stop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E8ECF1"/>
                          </a:solidFill>
                        </a:rPr>
                        <a:t>Halt the run and release the fleet.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5760720"/>
            <a:ext cx="11155680" cy="56692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F2B1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Pause, then Step, then open the Decision inspector. That is how you show a judge exactly why one robot yielded, frame by frame.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2B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Panel 3  -  Lab: fault injection and determinism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The differentiation is not the task count. It is what happens after you break something.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E8ECF1"/>
                </a:solidFill>
                <a:latin typeface="Calibri"/>
              </a:rPr>
              <a:t>FAULT  (select lab-fault, then press Inject)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55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138160"/>
              </a:tblGrid>
              <a:tr h="29260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B9EFF"/>
                          </a:solidFill>
                        </a:rPr>
                        <a:t>Fault (exact label)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3B9EFF"/>
                          </a:solidFill>
                        </a:rPr>
                        <a:t>What to watch after you inject it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Robot failure (kill one robot)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Its state goes FAILED (desaturated). Peers re-route around it and its task is picked up. Fleet -&gt; Resilience -&gt; Failed increments.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Comm blackout (cut one robot's radio 6 s)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It turns SOVEREIGN (teal) and KEEPS WORKING. This is X-01, the headline resilience claim. Watch Resilience -&gt; Sovereign (radio lost).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Link impairment (drops and latency, fleet-wide)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The degradation banner appears naming cause and action. Throughput degrades gracefully instead of the fleet stalling.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Block an aisle (static obstacle)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Robots facing it go BLOCKED (red) then WAITING (amber) and replan. Path version climbs in the inspector.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Rogue agent (adversarial robot)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E8ECF1"/>
                          </a:solidFill>
                        </a:rPr>
                        <a:t>It starts lying. The council accuses it, witnesses corroborate, and it turns QUARANTINED (purple). This is X-10. Open Integrity to see Claimed vs Actual.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434840"/>
            <a:ext cx="11155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 b="0">
                <a:solidFill>
                  <a:srgbClr val="E8ECF1"/>
                </a:solidFill>
                <a:latin typeface="Calibri"/>
              </a:rPr>
              <a:t>DETERMINISM PROOF  -  Capture hash  /  Compare now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Capture hash takes the trace hash of the run so far. Run the same scenario, seed and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fleet again, capture again, then Compare now. Identical hashes = the run is bit-for-bit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reproducible. That is how a distributed system is made auditable.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5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Panel 4  -  Compare  (the co-simulation)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Two policies, the SAME tasks, side by side. The honest-benchmark screen.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E8ECF1"/>
                </a:solidFill>
                <a:latin typeface="Calibri"/>
              </a:rPr>
              <a:t>CONTROLS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Horizon (ticks)   id cosim-ticks   -  how far to simulate both arms.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Run comparison    starts both arms over the same task stream.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Stop              halts the comparison.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Inject into both arms  -  a row of fault buttons. The point is FAIRNESS: the same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                         shock is delivered to SWARMOS and to the baseline.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E8ECF1"/>
                </a:solidFill>
                <a:latin typeface="Calibri"/>
              </a:rPr>
              <a:t>WHAT IT SHOWS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Diverged at   the tick where the two arms first stopped being identical. Before that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              tick the comparison is exact, not approximate.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State / Tick  where the comparison currently is.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Delta rows    per-KPI difference. A row only appears once that KPI actually differs.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Replay        two labelled tracks: SwarmOS and Baseline.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E8ECF1"/>
                </a:solidFill>
                <a:latin typeface="Calibri"/>
              </a:rPr>
              <a:t>EMPTY STATES ARE HONEST HERE, AND THAT MATTERS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"No comparison has been run." / "Press Run comparison to simulate both policies over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the same tasks."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"No metric has separated the two arms yet." / "Both arms are still warming up; rows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appear as soon as a KPI differs."  -  it refuses to show a win that has not happened.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A9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Panel 5  -  Analytics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Four charts. Four questions. Nothing else.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5567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822959"/>
                <a:gridCol w="2743199"/>
                <a:gridCol w="493776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9EFF"/>
                          </a:solidFill>
                        </a:rPr>
                        <a:t>Chart (exact title)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9EFF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9EFF"/>
                          </a:solidFill>
                        </a:rPr>
                        <a:t>The question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B9EFF"/>
                          </a:solidFill>
                        </a:rPr>
                        <a:t>Good / bad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Tasks per minute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Is it getting work done?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Higher is better. A flat line at zero means the fleet is stuck.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Robots blocked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Is it deadlocking?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Rising is BAD. A sustained climb is the deadlock signature.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Compute p95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ms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Does it hold the edge deadline?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Must stay under the dashed 100 ms tick budget line drawn on the chart.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Messages per robot per tick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Does comms scale?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8ECF1"/>
                          </a:solidFill>
                        </a:rPr>
                        <a:t>Must stay FLAT as fleet size grows. A rising line means O(n^2) chatter - the thing distributed coordination is supposed to avoid.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16052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 b="0">
                <a:solidFill>
                  <a:srgbClr val="E8ECF1"/>
                </a:solidFill>
                <a:latin typeface="Calibri"/>
              </a:rPr>
              <a:t>SERIES COLOURS:  Tasks/min blue #5B8FF9  -  Blocked green #61DDAA  -  Compute p95 amber #F6BD16  -  Messages violet #7262FD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The only dashed grey line (#63707D) is a reference, never data. On Compute p95 its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legend key reads '100 ms tick budget'. Comparison lines are always tertiary so you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never mistake a baseline for a measurement.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943600"/>
            <a:ext cx="11155680" cy="56692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93A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Cold start: "No samples recorded." / "Start a run in the Lab tab; charts fill as ticks arrive."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The command palette  -  Ctrl K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Built so a demo never depends on finding a small button under pressure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155678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8128"/>
                <a:gridCol w="7171508"/>
                <a:gridCol w="996042"/>
              </a:tblGrid>
              <a:tr h="29260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9EFF"/>
                          </a:solidFill>
                        </a:rPr>
                        <a:t>Command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9EFF"/>
                          </a:solidFill>
                        </a:rPr>
                        <a:t>Description (as shown)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3B9EFF"/>
                          </a:solidFill>
                        </a:rPr>
                        <a:t>Key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Start run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Start the configured scenario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Pause / resume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Toggle the 10 Hz tick loop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Step one tick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Advance exactly 100 ms of sim time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Stop run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Halt the run and release the fleet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Fit map to warehouse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Reset zoom and pan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Clear selection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Deselect the inspected robot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Esc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Open decision inspector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Show the advisory / binding / applied chain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Open analytics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Throughput, blocking, compute budget, message load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E8ECF1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1B21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526280"/>
            <a:ext cx="11155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 b="0">
                <a:solidFill>
                  <a:srgbClr val="E8ECF1"/>
                </a:solidFill>
                <a:latin typeface="Calibri"/>
              </a:rPr>
              <a:t>HOW TO DRIVE IT:  Ctrl K (or Cmd K) opens  -  type to filter  -  Up / Down to move  -  Enter to run  -  Esc to close.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The hint row at the bottom of the dialog states exactly that, so you never have to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remember it. Placeholder text: "Type a command..."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5C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Reading the numbers correctly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Formatting rules that change what a value MEANS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440680" cy="4480560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35C7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28016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35C78A"/>
                </a:solidFill>
                <a:latin typeface="Calibri"/>
              </a:rPr>
              <a:t>Formatting contract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--            no data. NOT zero. Never zero-as-unknown.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0             a real, measured zero.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Integers      thousands separators, en-US.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Metres        2 decimal places.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Seconds       1 decimal place.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Percent       0 decimal places.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Long hashes   first8...last8, so a trace hash fits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              in a panel without lying about its value.</a:t>
            </a:r>
          </a:p>
          <a:p>
            <a:pPr>
              <a:spcAft>
                <a:spcPts val="500"/>
              </a:spcAft>
            </a:pP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Tick vs clock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1 tick = 100 ms of SIM time. Sim clock = tick / 10.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Neither is wall-clock time. A paused run has a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frozen clock and a live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440680" cy="4480560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F2B1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28016"/>
          <a:lstStyle/>
          <a:p>
            <a:pPr algn="ctr">
              <a:spcAft>
                <a:spcPts val="800"/>
              </a:spcAft>
            </a:pPr>
            <a:r>
              <a:rPr sz="1400" b="1">
                <a:solidFill>
                  <a:srgbClr val="F2B137"/>
                </a:solidFill>
                <a:latin typeface="Calibri"/>
              </a:rPr>
              <a:t>Order of checks when something looks wrong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1. Top bar -&gt; Link. Offline? press r to reconnect.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2. Top bar -&gt; Tick. Frozen? the run is paused or dead.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3. Banner. It names the cause AND the action. Read it.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4. Strip -&gt; Collisions. Non-zero invalidates the run.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5. Strip -&gt; Tick budget p95. Over 100 ms = deadline miss.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6. Analytics -&gt; Robots blocked. Climbing = deadlock.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7. Fleet -&gt; Resilience. Sovereign / Contained / Failed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   tells you which fault is currently in play.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E8ECF1"/>
                </a:solidFill>
                <a:latin typeface="Calibri"/>
              </a:rPr>
              <a:t>8. Select the robot, open Decision inspector, and read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   the Advisory / Binding / Applied chain. That always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   explains the individual behaviour.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961888"/>
            <a:ext cx="11155680" cy="56692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93A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If a panel is blank, read its two lines before doing anything else. Every empty state in this UI names a cause and an action.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The demo click-path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The reference run is rush_50, seed 11, fleet 8  -  a MEASURED parity point, not a flattering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384048" cy="38404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3B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3B9E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1" y="126187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./run.sh --demo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Server starts, /api/health is polled (never a blind sleep), browser opens, reference run already ticking.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384048" cy="38404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3B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3B9E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174650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Landing page: press ENTER SWARMOS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Check FLEET STATUS and AMR NETWORK are live before you go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67712"/>
            <a:ext cx="384048" cy="38404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3B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3B9E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23113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Console opens on the map, panels closed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Top bar: Link online, Scenario rush_50, Seed 11, Tick climbing. Strip: Tasks per minute rising, Collisions 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52344"/>
            <a:ext cx="384048" cy="38404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3B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3B9E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71576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Press 0 to fit the warehouse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Read the colour pattern: mostly quiet MOVING, occasional amber WAITING. Amber is healthy yielding.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36976"/>
            <a:ext cx="384048" cy="38404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3B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3B9E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32004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Click any robot, open the Decision tab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Advisory / Binding / Applied. Say out loud: the ML only advises, the kernel is always binding.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21608"/>
            <a:ext cx="384048" cy="38404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3B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3B9EFF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368503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Lab tab: inject 'Comm blackout (cut one robot's radio 6 s)'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The robot turns teal SOVEREIGN and KEEPS WORKING. Fleet -&gt; Resilience -&gt; Sovereign increments. This is X-01.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06240"/>
            <a:ext cx="384048" cy="38404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3B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3B9EFF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1" y="4169663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Lab tab: inject 'Rogue agent (adversarial robot)'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It turns purple QUARANTINED. Open Integrity: Ruling, Reason, Witnesses, and Claimed vs Actual position. This is X-10.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690872"/>
            <a:ext cx="384048" cy="38404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3B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3B9EFF"/>
                </a:solidFill>
                <a:latin typeface="Calibr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465429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Compare tab: Run comparison, then inject into both arms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Same shock, both policies. Point at 'Diverged at' and the delta rows, not at raw task count.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175504"/>
            <a:ext cx="384048" cy="38404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3B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3B9EFF"/>
                </a:solidFill>
                <a:latin typeface="Calibri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51389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Analytics tab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Messages per robot per tick stays FLAT, Compute p95 stays under the 100 ms budget 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660136"/>
            <a:ext cx="384048" cy="38404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3B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18288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3B9EFF"/>
                </a:solidFill>
                <a:latin typeface="Calibri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1" y="56235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Lab tab: Capture hash, re-run, Capture hash, Compare now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93A1B2"/>
                </a:solidFill>
                <a:latin typeface="Calibri"/>
              </a:rPr>
              <a:t>Identical trace hashes. The run is reproducible and auditable.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2B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Honest limitations  -  say these before you are asked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Credibility is a feature. So is knowing what the UI does not claim.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 b="1">
                <a:solidFill>
                  <a:srgbClr val="E8ECF1"/>
                </a:solidFill>
                <a:latin typeface="Calibri"/>
              </a:rPr>
              <a:t>THROUGHPUT IS AT PARITY, NOT AHEAD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At fleet 8 on rush_50 over 1800 ticks the measured result is 20 completions against the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baseline's 22. That is deliberately the demo default. The claim is NOT 'more tasks per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minute in the nominal case' - it is what survives a fault. Show the fault, not the count.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E8ECF1"/>
                </a:solidFill>
                <a:latin typeface="Calibri"/>
              </a:rPr>
              <a:t>THIS IS A SIMULATION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Robot dynamics, radio behaviour and task arrival are modelled, not measured on hardware.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The map draws an AMR mobile base because that is what the simulation actually models.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E8ECF1"/>
                </a:solidFill>
                <a:latin typeface="Calibri"/>
              </a:rPr>
              <a:t>SCOPE OF THE UI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Dark theme only, no theme switch. No authentication, no multi-user, no persistence of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past runs beyond the live session. Desktop-first: below 1280 px the rail becomes an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overlay drawer rather than re-flowing.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50" b="1">
                <a:solidFill>
                  <a:srgbClr val="E8ECF1"/>
                </a:solidFill>
                <a:latin typeface="Calibri"/>
              </a:rPr>
              <a:t>NO BUILD STEP, BY CHOICE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Native ES modules, no bundler. Open the source and what you read is what runs - which is</a:t>
            </a:r>
          </a:p>
          <a:p>
            <a:pPr lvl="1">
              <a:spcAft>
                <a:spcPts val="300"/>
              </a:spcAft>
            </a:pPr>
            <a:r>
              <a:rPr sz="1150" b="0">
                <a:solidFill>
                  <a:srgbClr val="93A1B2"/>
                </a:solidFill>
                <a:latin typeface="Calibri"/>
              </a:rPr>
              <a:t>also why it must be served over HTTP, not opened as a 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6035040"/>
            <a:ext cx="11155680" cy="56692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4FB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Every number on these screens comes from the running engine. Nothing in this UI is mocked, and nothing is rendered as 0 when it is unknown.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F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E8ECF1"/>
                </a:solidFill>
                <a:latin typeface="Calibri"/>
              </a:rPr>
              <a:t>One-page recap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93A1B2"/>
                </a:solidFill>
                <a:latin typeface="Calibri"/>
              </a:rPr>
              <a:t>If you remember five things, remember these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2617470" cy="1188720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3B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3B9EFF"/>
                </a:solidFill>
                <a:latin typeface="Calibri"/>
              </a:rPr>
              <a:t>Ctrl K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93A1B2"/>
                </a:solidFill>
                <a:latin typeface="Calibri"/>
              </a:rPr>
              <a:t>Every action, without hunting for a button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8989" y="1371600"/>
            <a:ext cx="2617470" cy="1188720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4FB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4FB3A6"/>
                </a:solidFill>
                <a:latin typeface="Calibri"/>
              </a:rPr>
              <a:t>0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93A1B2"/>
                </a:solidFill>
                <a:latin typeface="Calibri"/>
              </a:rPr>
              <a:t>Fit the map when you get lost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5059" y="1371600"/>
            <a:ext cx="2617470" cy="1188720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A9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A97BFF"/>
                </a:solidFill>
                <a:latin typeface="Calibri"/>
              </a:rPr>
              <a:t>Esc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93A1B2"/>
                </a:solidFill>
                <a:latin typeface="Calibri"/>
              </a:rPr>
              <a:t>Clear the selected robot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41130" y="1371600"/>
            <a:ext cx="2617470" cy="1188720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F2B1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F2B137"/>
                </a:solidFill>
                <a:latin typeface="Calibri"/>
              </a:rPr>
              <a:t>r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93A1B2"/>
                </a:solidFill>
                <a:latin typeface="Calibri"/>
              </a:rPr>
              <a:t>Force a transport reconnect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8036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E8ECF1"/>
                </a:solidFill>
                <a:latin typeface="Calibri"/>
              </a:rPr>
              <a:t>1.  CLICK A ROBOT. Nothing in the Decision inspector works until you do. Map click or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    Fleet roster row - both select.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E8ECF1"/>
                </a:solidFill>
                <a:latin typeface="Calibri"/>
              </a:rPr>
              <a:t>2.  --  MEANS NO DATA.  0 means a measured zero. The UI will not blur that distinction.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E8ECF1"/>
                </a:solidFill>
                <a:latin typeface="Calibri"/>
              </a:rPr>
              <a:t>3.  RED IS A VETO, AMBER IS A YIELD. BLOCKED means the safety kernel stopped the robot;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    WAITING means it politely gave way and will resume. Amber is the system working.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E8ECF1"/>
                </a:solidFill>
                <a:latin typeface="Calibri"/>
              </a:rPr>
              <a:t>4.  TEAL AND PURPLE ARE THE DIFFERENTIATORS. Teal SOVEREIGN = lost its radio and kept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    working (X-01). Purple QUARANTINED = the fleet contained a rogue (X-10).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E8ECF1"/>
                </a:solidFill>
                <a:latin typeface="Calibri"/>
              </a:rPr>
              <a:t>5.  THE KERNEL IS ALWAYS BINDING. Advisory proposes, Binding decides, Applied acts. The</a:t>
            </a:r>
          </a:p>
          <a:p>
            <a:pPr lvl="1">
              <a:spcAft>
                <a:spcPts val="500"/>
              </a:spcAft>
            </a:pPr>
            <a:r>
              <a:rPr sz="1200" b="0">
                <a:solidFill>
                  <a:srgbClr val="93A1B2"/>
                </a:solidFill>
                <a:latin typeface="Calibri"/>
              </a:rPr>
              <a:t>    ML layer is never required and never final. That is the whole trust argument.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989320"/>
            <a:ext cx="11155680" cy="566928"/>
          </a:xfrm>
          <a:prstGeom prst="roundRect">
            <a:avLst/>
          </a:prstGeom>
          <a:solidFill>
            <a:srgbClr val="1B212A"/>
          </a:solidFill>
          <a:ln w="15875">
            <a:solidFill>
              <a:srgbClr val="4FB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ECF1"/>
                </a:solidFill>
                <a:latin typeface="Calibri"/>
              </a:rPr>
              <a:t>Start: ./run.sh --demo     Console: http://127.0.0.1:8770     Reference run: rush_50, seed 11, fleet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